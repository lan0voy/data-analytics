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67" r:id="rId4"/>
  </p:sldMasterIdLst>
  <p:notesMasterIdLst>
    <p:notesMasterId r:id="rId29"/>
  </p:notesMasterIdLst>
  <p:sldIdLst>
    <p:sldId id="280" r:id="rId5"/>
    <p:sldId id="281" r:id="rId6"/>
    <p:sldId id="282" r:id="rId7"/>
    <p:sldId id="283" r:id="rId8"/>
    <p:sldId id="284" r:id="rId9"/>
    <p:sldId id="285" r:id="rId10"/>
    <p:sldId id="286" r:id="rId11"/>
    <p:sldId id="287" r:id="rId12"/>
    <p:sldId id="288" r:id="rId13"/>
    <p:sldId id="289" r:id="rId14"/>
    <p:sldId id="290" r:id="rId15"/>
    <p:sldId id="291" r:id="rId16"/>
    <p:sldId id="292" r:id="rId17"/>
    <p:sldId id="293" r:id="rId18"/>
    <p:sldId id="294" r:id="rId19"/>
    <p:sldId id="295" r:id="rId20"/>
    <p:sldId id="296" r:id="rId21"/>
    <p:sldId id="297" r:id="rId22"/>
    <p:sldId id="298" r:id="rId23"/>
    <p:sldId id="299" r:id="rId24"/>
    <p:sldId id="300" r:id="rId25"/>
    <p:sldId id="301" r:id="rId26"/>
    <p:sldId id="303" r:id="rId27"/>
    <p:sldId id="302" r:id="rId28"/>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3447" autoAdjust="0"/>
  </p:normalViewPr>
  <p:slideViewPr>
    <p:cSldViewPr snapToGrid="0">
      <p:cViewPr varScale="1">
        <p:scale>
          <a:sx n="63" d="100"/>
          <a:sy n="63" d="100"/>
        </p:scale>
        <p:origin x="780" y="5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diagrams/_rels/data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00DE73-92F4-4550-B582-46E6680AA9BF}" type="doc">
      <dgm:prSet loTypeId="urn:microsoft.com/office/officeart/2005/8/layout/default" loCatId="list" qsTypeId="urn:microsoft.com/office/officeart/2005/8/quickstyle/simple1" qsCatId="simple" csTypeId="urn:microsoft.com/office/officeart/2005/8/colors/colorful2" csCatId="colorful"/>
      <dgm:spPr/>
      <dgm:t>
        <a:bodyPr/>
        <a:lstStyle/>
        <a:p>
          <a:endParaRPr lang="en-US"/>
        </a:p>
      </dgm:t>
    </dgm:pt>
    <dgm:pt modelId="{8B49BA37-D5FA-4F55-B82E-DD88D00FE125}">
      <dgm:prSet/>
      <dgm:spPr/>
      <dgm:t>
        <a:bodyPr/>
        <a:lstStyle/>
        <a:p>
          <a:r>
            <a:rPr lang="ru-RU"/>
            <a:t>искусственные нейронные сети, </a:t>
          </a:r>
          <a:endParaRPr lang="en-US"/>
        </a:p>
      </dgm:t>
    </dgm:pt>
    <dgm:pt modelId="{2AFE723E-F201-4206-A915-250FB9A0FB16}" type="parTrans" cxnId="{A2DA2573-937D-4442-82BE-17D6E3004A3D}">
      <dgm:prSet/>
      <dgm:spPr/>
      <dgm:t>
        <a:bodyPr/>
        <a:lstStyle/>
        <a:p>
          <a:endParaRPr lang="en-US"/>
        </a:p>
      </dgm:t>
    </dgm:pt>
    <dgm:pt modelId="{C6ED15CC-F326-4143-AEDF-430EBACC366C}" type="sibTrans" cxnId="{A2DA2573-937D-4442-82BE-17D6E3004A3D}">
      <dgm:prSet/>
      <dgm:spPr/>
      <dgm:t>
        <a:bodyPr/>
        <a:lstStyle/>
        <a:p>
          <a:endParaRPr lang="en-US"/>
        </a:p>
      </dgm:t>
    </dgm:pt>
    <dgm:pt modelId="{A3D8A6F3-71D2-43D4-87C0-B4878843A69B}">
      <dgm:prSet/>
      <dgm:spPr/>
      <dgm:t>
        <a:bodyPr/>
        <a:lstStyle/>
        <a:p>
          <a:r>
            <a:rPr lang="ru-RU"/>
            <a:t>деревья решений, </a:t>
          </a:r>
          <a:endParaRPr lang="en-US"/>
        </a:p>
      </dgm:t>
    </dgm:pt>
    <dgm:pt modelId="{F45D76EF-61BE-4338-8571-0711A33C375B}" type="parTrans" cxnId="{DA56D074-1A6C-467B-B511-729E408418D1}">
      <dgm:prSet/>
      <dgm:spPr/>
      <dgm:t>
        <a:bodyPr/>
        <a:lstStyle/>
        <a:p>
          <a:endParaRPr lang="en-US"/>
        </a:p>
      </dgm:t>
    </dgm:pt>
    <dgm:pt modelId="{82981A7A-7603-430B-89D4-05DCD7F6203C}" type="sibTrans" cxnId="{DA56D074-1A6C-467B-B511-729E408418D1}">
      <dgm:prSet/>
      <dgm:spPr/>
      <dgm:t>
        <a:bodyPr/>
        <a:lstStyle/>
        <a:p>
          <a:endParaRPr lang="en-US"/>
        </a:p>
      </dgm:t>
    </dgm:pt>
    <dgm:pt modelId="{98397FA9-BA8E-4F28-B48B-C75AC73960E8}">
      <dgm:prSet/>
      <dgm:spPr/>
      <dgm:t>
        <a:bodyPr/>
        <a:lstStyle/>
        <a:p>
          <a:r>
            <a:rPr lang="ru-RU"/>
            <a:t>символьные правила, </a:t>
          </a:r>
          <a:endParaRPr lang="en-US"/>
        </a:p>
      </dgm:t>
    </dgm:pt>
    <dgm:pt modelId="{D91D8CA4-8BE2-41C4-A119-8B67BBC167D8}" type="parTrans" cxnId="{4E05C79E-06D4-424A-B4DE-91B809A750B3}">
      <dgm:prSet/>
      <dgm:spPr/>
      <dgm:t>
        <a:bodyPr/>
        <a:lstStyle/>
        <a:p>
          <a:endParaRPr lang="en-US"/>
        </a:p>
      </dgm:t>
    </dgm:pt>
    <dgm:pt modelId="{289BC73C-1152-429A-94E3-5B4FDC5B734C}" type="sibTrans" cxnId="{4E05C79E-06D4-424A-B4DE-91B809A750B3}">
      <dgm:prSet/>
      <dgm:spPr/>
      <dgm:t>
        <a:bodyPr/>
        <a:lstStyle/>
        <a:p>
          <a:endParaRPr lang="en-US"/>
        </a:p>
      </dgm:t>
    </dgm:pt>
    <dgm:pt modelId="{0D21D972-15B9-4066-95A0-207EFD7D22ED}">
      <dgm:prSet/>
      <dgm:spPr/>
      <dgm:t>
        <a:bodyPr/>
        <a:lstStyle/>
        <a:p>
          <a:r>
            <a:rPr lang="ru-RU" i="1"/>
            <a:t>методы</a:t>
          </a:r>
          <a:r>
            <a:rPr lang="ru-RU"/>
            <a:t> ближайшего соседа и k-ближайшего соседа, </a:t>
          </a:r>
          <a:endParaRPr lang="en-US"/>
        </a:p>
      </dgm:t>
    </dgm:pt>
    <dgm:pt modelId="{58B42DA2-FA62-4151-A159-5776647840FB}" type="parTrans" cxnId="{AD9A9238-EDE1-48B3-9C80-884AE3B80C0C}">
      <dgm:prSet/>
      <dgm:spPr/>
      <dgm:t>
        <a:bodyPr/>
        <a:lstStyle/>
        <a:p>
          <a:endParaRPr lang="en-US"/>
        </a:p>
      </dgm:t>
    </dgm:pt>
    <dgm:pt modelId="{6B23D432-33D0-44EA-9661-3F3DAA3F4A92}" type="sibTrans" cxnId="{AD9A9238-EDE1-48B3-9C80-884AE3B80C0C}">
      <dgm:prSet/>
      <dgm:spPr/>
      <dgm:t>
        <a:bodyPr/>
        <a:lstStyle/>
        <a:p>
          <a:endParaRPr lang="en-US"/>
        </a:p>
      </dgm:t>
    </dgm:pt>
    <dgm:pt modelId="{150EFC8B-9A84-4FE5-AEC5-314650989E21}">
      <dgm:prSet/>
      <dgm:spPr/>
      <dgm:t>
        <a:bodyPr/>
        <a:lstStyle/>
        <a:p>
          <a:r>
            <a:rPr lang="ru-RU" i="1"/>
            <a:t>метод</a:t>
          </a:r>
          <a:r>
            <a:rPr lang="ru-RU"/>
            <a:t> опорных векторов, </a:t>
          </a:r>
          <a:endParaRPr lang="en-US"/>
        </a:p>
      </dgm:t>
    </dgm:pt>
    <dgm:pt modelId="{E4CD1210-22AD-478B-827D-8BFF751C1C8E}" type="parTrans" cxnId="{C7993A6A-4790-4F89-9391-915BFBEB14E4}">
      <dgm:prSet/>
      <dgm:spPr/>
      <dgm:t>
        <a:bodyPr/>
        <a:lstStyle/>
        <a:p>
          <a:endParaRPr lang="en-US"/>
        </a:p>
      </dgm:t>
    </dgm:pt>
    <dgm:pt modelId="{D0FDE6C6-A32A-4066-9602-DBD1A21530E6}" type="sibTrans" cxnId="{C7993A6A-4790-4F89-9391-915BFBEB14E4}">
      <dgm:prSet/>
      <dgm:spPr/>
      <dgm:t>
        <a:bodyPr/>
        <a:lstStyle/>
        <a:p>
          <a:endParaRPr lang="en-US"/>
        </a:p>
      </dgm:t>
    </dgm:pt>
    <dgm:pt modelId="{FB0A0E22-03D1-4E93-B146-A3BAE41783A2}">
      <dgm:prSet/>
      <dgm:spPr/>
      <dgm:t>
        <a:bodyPr/>
        <a:lstStyle/>
        <a:p>
          <a:r>
            <a:rPr lang="ru-RU"/>
            <a:t>байесовские сети, </a:t>
          </a:r>
          <a:endParaRPr lang="en-US"/>
        </a:p>
      </dgm:t>
    </dgm:pt>
    <dgm:pt modelId="{F0C517DF-26CC-4318-9CAB-4AF9DCFF10D5}" type="parTrans" cxnId="{547DFB5B-F764-4BB6-92DE-A2BAEC2B19D2}">
      <dgm:prSet/>
      <dgm:spPr/>
      <dgm:t>
        <a:bodyPr/>
        <a:lstStyle/>
        <a:p>
          <a:endParaRPr lang="en-US"/>
        </a:p>
      </dgm:t>
    </dgm:pt>
    <dgm:pt modelId="{4517DE17-5092-4EC0-B421-CEB6D3008CF5}" type="sibTrans" cxnId="{547DFB5B-F764-4BB6-92DE-A2BAEC2B19D2}">
      <dgm:prSet/>
      <dgm:spPr/>
      <dgm:t>
        <a:bodyPr/>
        <a:lstStyle/>
        <a:p>
          <a:endParaRPr lang="en-US"/>
        </a:p>
      </dgm:t>
    </dgm:pt>
    <dgm:pt modelId="{76A99C35-DEEC-4B0F-87CD-9DA113D7CF59}">
      <dgm:prSet/>
      <dgm:spPr/>
      <dgm:t>
        <a:bodyPr/>
        <a:lstStyle/>
        <a:p>
          <a:r>
            <a:rPr lang="ru-RU"/>
            <a:t>линейная регрессия, </a:t>
          </a:r>
          <a:endParaRPr lang="en-US"/>
        </a:p>
      </dgm:t>
    </dgm:pt>
    <dgm:pt modelId="{439179B1-C6C9-4AAA-A376-C81E514EF879}" type="parTrans" cxnId="{17F714CD-24B0-4CC5-B41E-859848745C45}">
      <dgm:prSet/>
      <dgm:spPr/>
      <dgm:t>
        <a:bodyPr/>
        <a:lstStyle/>
        <a:p>
          <a:endParaRPr lang="en-US"/>
        </a:p>
      </dgm:t>
    </dgm:pt>
    <dgm:pt modelId="{B0213824-783C-4C6A-83C4-2FC3C34ABE72}" type="sibTrans" cxnId="{17F714CD-24B0-4CC5-B41E-859848745C45}">
      <dgm:prSet/>
      <dgm:spPr/>
      <dgm:t>
        <a:bodyPr/>
        <a:lstStyle/>
        <a:p>
          <a:endParaRPr lang="en-US"/>
        </a:p>
      </dgm:t>
    </dgm:pt>
    <dgm:pt modelId="{EE197E9C-DA4F-4287-9E4F-1F4D0634C458}">
      <dgm:prSet/>
      <dgm:spPr/>
      <dgm:t>
        <a:bodyPr/>
        <a:lstStyle/>
        <a:p>
          <a:r>
            <a:rPr lang="ru-RU"/>
            <a:t>корреляционно-регрессионный анализ; </a:t>
          </a:r>
          <a:endParaRPr lang="en-US"/>
        </a:p>
      </dgm:t>
    </dgm:pt>
    <dgm:pt modelId="{D966CB79-D247-47FB-BE3C-BE4F4DE29E9B}" type="parTrans" cxnId="{E2B78259-F470-4D43-9C1E-23BFA7E5798F}">
      <dgm:prSet/>
      <dgm:spPr/>
      <dgm:t>
        <a:bodyPr/>
        <a:lstStyle/>
        <a:p>
          <a:endParaRPr lang="en-US"/>
        </a:p>
      </dgm:t>
    </dgm:pt>
    <dgm:pt modelId="{C1501138-6951-42C5-B53F-575A4E6C5A2E}" type="sibTrans" cxnId="{E2B78259-F470-4D43-9C1E-23BFA7E5798F}">
      <dgm:prSet/>
      <dgm:spPr/>
      <dgm:t>
        <a:bodyPr/>
        <a:lstStyle/>
        <a:p>
          <a:endParaRPr lang="en-US"/>
        </a:p>
      </dgm:t>
    </dgm:pt>
    <dgm:pt modelId="{B987CE33-C064-421B-B6A9-18CACB3CCC45}">
      <dgm:prSet/>
      <dgm:spPr/>
      <dgm:t>
        <a:bodyPr/>
        <a:lstStyle/>
        <a:p>
          <a:r>
            <a:rPr lang="ru-RU"/>
            <a:t>иерархические </a:t>
          </a:r>
          <a:r>
            <a:rPr lang="ru-RU" i="1"/>
            <a:t>методы</a:t>
          </a:r>
          <a:r>
            <a:rPr lang="ru-RU"/>
            <a:t> кластерного анализа, </a:t>
          </a:r>
          <a:endParaRPr lang="en-US"/>
        </a:p>
      </dgm:t>
    </dgm:pt>
    <dgm:pt modelId="{7C44FD2C-4C43-4C54-8EAD-EB6A3C41ADCE}" type="parTrans" cxnId="{7AC1D430-BADB-421F-B2A7-B6FB565BE2A6}">
      <dgm:prSet/>
      <dgm:spPr/>
      <dgm:t>
        <a:bodyPr/>
        <a:lstStyle/>
        <a:p>
          <a:endParaRPr lang="en-US"/>
        </a:p>
      </dgm:t>
    </dgm:pt>
    <dgm:pt modelId="{8E0640A7-E1BF-4C50-92EB-A52D108CC9E7}" type="sibTrans" cxnId="{7AC1D430-BADB-421F-B2A7-B6FB565BE2A6}">
      <dgm:prSet/>
      <dgm:spPr/>
      <dgm:t>
        <a:bodyPr/>
        <a:lstStyle/>
        <a:p>
          <a:endParaRPr lang="en-US"/>
        </a:p>
      </dgm:t>
    </dgm:pt>
    <dgm:pt modelId="{C78E321D-857D-42BA-BAE6-9D07CB4299E9}" type="pres">
      <dgm:prSet presAssocID="{AF00DE73-92F4-4550-B582-46E6680AA9BF}" presName="diagram" presStyleCnt="0">
        <dgm:presLayoutVars>
          <dgm:dir/>
          <dgm:resizeHandles val="exact"/>
        </dgm:presLayoutVars>
      </dgm:prSet>
      <dgm:spPr/>
    </dgm:pt>
    <dgm:pt modelId="{DFF340F1-585A-4FBD-9ED1-AFF2F9FE9A7A}" type="pres">
      <dgm:prSet presAssocID="{8B49BA37-D5FA-4F55-B82E-DD88D00FE125}" presName="node" presStyleLbl="node1" presStyleIdx="0" presStyleCnt="9">
        <dgm:presLayoutVars>
          <dgm:bulletEnabled val="1"/>
        </dgm:presLayoutVars>
      </dgm:prSet>
      <dgm:spPr/>
    </dgm:pt>
    <dgm:pt modelId="{B3B1D607-E0E8-4120-B2C8-BE37E477D453}" type="pres">
      <dgm:prSet presAssocID="{C6ED15CC-F326-4143-AEDF-430EBACC366C}" presName="sibTrans" presStyleCnt="0"/>
      <dgm:spPr/>
    </dgm:pt>
    <dgm:pt modelId="{FEC4F7DC-CB2A-4C41-A8D5-9BC723E42B6D}" type="pres">
      <dgm:prSet presAssocID="{A3D8A6F3-71D2-43D4-87C0-B4878843A69B}" presName="node" presStyleLbl="node1" presStyleIdx="1" presStyleCnt="9">
        <dgm:presLayoutVars>
          <dgm:bulletEnabled val="1"/>
        </dgm:presLayoutVars>
      </dgm:prSet>
      <dgm:spPr/>
    </dgm:pt>
    <dgm:pt modelId="{6FBD51A3-83B3-4DEA-9A41-3215E31E3169}" type="pres">
      <dgm:prSet presAssocID="{82981A7A-7603-430B-89D4-05DCD7F6203C}" presName="sibTrans" presStyleCnt="0"/>
      <dgm:spPr/>
    </dgm:pt>
    <dgm:pt modelId="{3548B322-E6E8-404D-B310-90E79A278A70}" type="pres">
      <dgm:prSet presAssocID="{98397FA9-BA8E-4F28-B48B-C75AC73960E8}" presName="node" presStyleLbl="node1" presStyleIdx="2" presStyleCnt="9">
        <dgm:presLayoutVars>
          <dgm:bulletEnabled val="1"/>
        </dgm:presLayoutVars>
      </dgm:prSet>
      <dgm:spPr/>
    </dgm:pt>
    <dgm:pt modelId="{4C1AD170-5962-440A-BA7E-532FC59AE4B8}" type="pres">
      <dgm:prSet presAssocID="{289BC73C-1152-429A-94E3-5B4FDC5B734C}" presName="sibTrans" presStyleCnt="0"/>
      <dgm:spPr/>
    </dgm:pt>
    <dgm:pt modelId="{4B3653A7-D4CD-42FE-BEBB-8F54E891644D}" type="pres">
      <dgm:prSet presAssocID="{0D21D972-15B9-4066-95A0-207EFD7D22ED}" presName="node" presStyleLbl="node1" presStyleIdx="3" presStyleCnt="9">
        <dgm:presLayoutVars>
          <dgm:bulletEnabled val="1"/>
        </dgm:presLayoutVars>
      </dgm:prSet>
      <dgm:spPr/>
    </dgm:pt>
    <dgm:pt modelId="{FBBA98CF-F672-43B5-A75A-D386FA1D947F}" type="pres">
      <dgm:prSet presAssocID="{6B23D432-33D0-44EA-9661-3F3DAA3F4A92}" presName="sibTrans" presStyleCnt="0"/>
      <dgm:spPr/>
    </dgm:pt>
    <dgm:pt modelId="{593D808C-F5BD-4285-8FE9-7F4F3C80EAAB}" type="pres">
      <dgm:prSet presAssocID="{150EFC8B-9A84-4FE5-AEC5-314650989E21}" presName="node" presStyleLbl="node1" presStyleIdx="4" presStyleCnt="9">
        <dgm:presLayoutVars>
          <dgm:bulletEnabled val="1"/>
        </dgm:presLayoutVars>
      </dgm:prSet>
      <dgm:spPr/>
    </dgm:pt>
    <dgm:pt modelId="{288C902A-DE8F-4EEC-A40A-B26A5624AB03}" type="pres">
      <dgm:prSet presAssocID="{D0FDE6C6-A32A-4066-9602-DBD1A21530E6}" presName="sibTrans" presStyleCnt="0"/>
      <dgm:spPr/>
    </dgm:pt>
    <dgm:pt modelId="{424189CD-EC64-4195-8C10-71A3C3BFA660}" type="pres">
      <dgm:prSet presAssocID="{FB0A0E22-03D1-4E93-B146-A3BAE41783A2}" presName="node" presStyleLbl="node1" presStyleIdx="5" presStyleCnt="9">
        <dgm:presLayoutVars>
          <dgm:bulletEnabled val="1"/>
        </dgm:presLayoutVars>
      </dgm:prSet>
      <dgm:spPr/>
    </dgm:pt>
    <dgm:pt modelId="{CF202563-A84E-43E3-84FB-00683CA52C9C}" type="pres">
      <dgm:prSet presAssocID="{4517DE17-5092-4EC0-B421-CEB6D3008CF5}" presName="sibTrans" presStyleCnt="0"/>
      <dgm:spPr/>
    </dgm:pt>
    <dgm:pt modelId="{541F2D66-65E8-4D7E-AB88-B258E0BD195D}" type="pres">
      <dgm:prSet presAssocID="{76A99C35-DEEC-4B0F-87CD-9DA113D7CF59}" presName="node" presStyleLbl="node1" presStyleIdx="6" presStyleCnt="9">
        <dgm:presLayoutVars>
          <dgm:bulletEnabled val="1"/>
        </dgm:presLayoutVars>
      </dgm:prSet>
      <dgm:spPr/>
    </dgm:pt>
    <dgm:pt modelId="{8CFE0E81-FAEC-47CD-8256-8BF2F1213807}" type="pres">
      <dgm:prSet presAssocID="{B0213824-783C-4C6A-83C4-2FC3C34ABE72}" presName="sibTrans" presStyleCnt="0"/>
      <dgm:spPr/>
    </dgm:pt>
    <dgm:pt modelId="{0701E2D3-6A18-41AE-A1BD-F336EB5857AC}" type="pres">
      <dgm:prSet presAssocID="{EE197E9C-DA4F-4287-9E4F-1F4D0634C458}" presName="node" presStyleLbl="node1" presStyleIdx="7" presStyleCnt="9">
        <dgm:presLayoutVars>
          <dgm:bulletEnabled val="1"/>
        </dgm:presLayoutVars>
      </dgm:prSet>
      <dgm:spPr/>
    </dgm:pt>
    <dgm:pt modelId="{EFFA646E-C760-4D9B-BC65-8ECA4F3F63E4}" type="pres">
      <dgm:prSet presAssocID="{C1501138-6951-42C5-B53F-575A4E6C5A2E}" presName="sibTrans" presStyleCnt="0"/>
      <dgm:spPr/>
    </dgm:pt>
    <dgm:pt modelId="{7199B43C-A18C-43D7-8161-CFFA83158A10}" type="pres">
      <dgm:prSet presAssocID="{B987CE33-C064-421B-B6A9-18CACB3CCC45}" presName="node" presStyleLbl="node1" presStyleIdx="8" presStyleCnt="9">
        <dgm:presLayoutVars>
          <dgm:bulletEnabled val="1"/>
        </dgm:presLayoutVars>
      </dgm:prSet>
      <dgm:spPr/>
    </dgm:pt>
  </dgm:ptLst>
  <dgm:cxnLst>
    <dgm:cxn modelId="{7A45D508-0A6E-43D9-899F-8A4CFA4A779B}" type="presOf" srcId="{76A99C35-DEEC-4B0F-87CD-9DA113D7CF59}" destId="{541F2D66-65E8-4D7E-AB88-B258E0BD195D}" srcOrd="0" destOrd="0" presId="urn:microsoft.com/office/officeart/2005/8/layout/default"/>
    <dgm:cxn modelId="{ACE05C16-9BBE-4E69-84C8-4DC28E65E846}" type="presOf" srcId="{98397FA9-BA8E-4F28-B48B-C75AC73960E8}" destId="{3548B322-E6E8-404D-B310-90E79A278A70}" srcOrd="0" destOrd="0" presId="urn:microsoft.com/office/officeart/2005/8/layout/default"/>
    <dgm:cxn modelId="{4276281C-9611-4C4E-8755-DAB550E68C28}" type="presOf" srcId="{8B49BA37-D5FA-4F55-B82E-DD88D00FE125}" destId="{DFF340F1-585A-4FBD-9ED1-AFF2F9FE9A7A}" srcOrd="0" destOrd="0" presId="urn:microsoft.com/office/officeart/2005/8/layout/default"/>
    <dgm:cxn modelId="{7AC1D430-BADB-421F-B2A7-B6FB565BE2A6}" srcId="{AF00DE73-92F4-4550-B582-46E6680AA9BF}" destId="{B987CE33-C064-421B-B6A9-18CACB3CCC45}" srcOrd="8" destOrd="0" parTransId="{7C44FD2C-4C43-4C54-8EAD-EB6A3C41ADCE}" sibTransId="{8E0640A7-E1BF-4C50-92EB-A52D108CC9E7}"/>
    <dgm:cxn modelId="{AD9A9238-EDE1-48B3-9C80-884AE3B80C0C}" srcId="{AF00DE73-92F4-4550-B582-46E6680AA9BF}" destId="{0D21D972-15B9-4066-95A0-207EFD7D22ED}" srcOrd="3" destOrd="0" parTransId="{58B42DA2-FA62-4151-A159-5776647840FB}" sibTransId="{6B23D432-33D0-44EA-9661-3F3DAA3F4A92}"/>
    <dgm:cxn modelId="{547DFB5B-F764-4BB6-92DE-A2BAEC2B19D2}" srcId="{AF00DE73-92F4-4550-B582-46E6680AA9BF}" destId="{FB0A0E22-03D1-4E93-B146-A3BAE41783A2}" srcOrd="5" destOrd="0" parTransId="{F0C517DF-26CC-4318-9CAB-4AF9DCFF10D5}" sibTransId="{4517DE17-5092-4EC0-B421-CEB6D3008CF5}"/>
    <dgm:cxn modelId="{82F28942-9394-409E-90FD-F6F7CF488957}" type="presOf" srcId="{A3D8A6F3-71D2-43D4-87C0-B4878843A69B}" destId="{FEC4F7DC-CB2A-4C41-A8D5-9BC723E42B6D}" srcOrd="0" destOrd="0" presId="urn:microsoft.com/office/officeart/2005/8/layout/default"/>
    <dgm:cxn modelId="{90699E68-A850-4019-AF9B-02683454C07D}" type="presOf" srcId="{AF00DE73-92F4-4550-B582-46E6680AA9BF}" destId="{C78E321D-857D-42BA-BAE6-9D07CB4299E9}" srcOrd="0" destOrd="0" presId="urn:microsoft.com/office/officeart/2005/8/layout/default"/>
    <dgm:cxn modelId="{C7993A6A-4790-4F89-9391-915BFBEB14E4}" srcId="{AF00DE73-92F4-4550-B582-46E6680AA9BF}" destId="{150EFC8B-9A84-4FE5-AEC5-314650989E21}" srcOrd="4" destOrd="0" parTransId="{E4CD1210-22AD-478B-827D-8BFF751C1C8E}" sibTransId="{D0FDE6C6-A32A-4066-9602-DBD1A21530E6}"/>
    <dgm:cxn modelId="{A2DA2573-937D-4442-82BE-17D6E3004A3D}" srcId="{AF00DE73-92F4-4550-B582-46E6680AA9BF}" destId="{8B49BA37-D5FA-4F55-B82E-DD88D00FE125}" srcOrd="0" destOrd="0" parTransId="{2AFE723E-F201-4206-A915-250FB9A0FB16}" sibTransId="{C6ED15CC-F326-4143-AEDF-430EBACC366C}"/>
    <dgm:cxn modelId="{DA56D074-1A6C-467B-B511-729E408418D1}" srcId="{AF00DE73-92F4-4550-B582-46E6680AA9BF}" destId="{A3D8A6F3-71D2-43D4-87C0-B4878843A69B}" srcOrd="1" destOrd="0" parTransId="{F45D76EF-61BE-4338-8571-0711A33C375B}" sibTransId="{82981A7A-7603-430B-89D4-05DCD7F6203C}"/>
    <dgm:cxn modelId="{E2B78259-F470-4D43-9C1E-23BFA7E5798F}" srcId="{AF00DE73-92F4-4550-B582-46E6680AA9BF}" destId="{EE197E9C-DA4F-4287-9E4F-1F4D0634C458}" srcOrd="7" destOrd="0" parTransId="{D966CB79-D247-47FB-BE3C-BE4F4DE29E9B}" sibTransId="{C1501138-6951-42C5-B53F-575A4E6C5A2E}"/>
    <dgm:cxn modelId="{AC7B2C9B-CE05-4E38-B010-B4DEDF0C9288}" type="presOf" srcId="{150EFC8B-9A84-4FE5-AEC5-314650989E21}" destId="{593D808C-F5BD-4285-8FE9-7F4F3C80EAAB}" srcOrd="0" destOrd="0" presId="urn:microsoft.com/office/officeart/2005/8/layout/default"/>
    <dgm:cxn modelId="{4E05C79E-06D4-424A-B4DE-91B809A750B3}" srcId="{AF00DE73-92F4-4550-B582-46E6680AA9BF}" destId="{98397FA9-BA8E-4F28-B48B-C75AC73960E8}" srcOrd="2" destOrd="0" parTransId="{D91D8CA4-8BE2-41C4-A119-8B67BBC167D8}" sibTransId="{289BC73C-1152-429A-94E3-5B4FDC5B734C}"/>
    <dgm:cxn modelId="{BA6D8FB6-27C3-403E-B4BC-D50419C596E6}" type="presOf" srcId="{0D21D972-15B9-4066-95A0-207EFD7D22ED}" destId="{4B3653A7-D4CD-42FE-BEBB-8F54E891644D}" srcOrd="0" destOrd="0" presId="urn:microsoft.com/office/officeart/2005/8/layout/default"/>
    <dgm:cxn modelId="{1915F9C7-7886-447E-A722-E82A0FCF8168}" type="presOf" srcId="{B987CE33-C064-421B-B6A9-18CACB3CCC45}" destId="{7199B43C-A18C-43D7-8161-CFFA83158A10}" srcOrd="0" destOrd="0" presId="urn:microsoft.com/office/officeart/2005/8/layout/default"/>
    <dgm:cxn modelId="{17F714CD-24B0-4CC5-B41E-859848745C45}" srcId="{AF00DE73-92F4-4550-B582-46E6680AA9BF}" destId="{76A99C35-DEEC-4B0F-87CD-9DA113D7CF59}" srcOrd="6" destOrd="0" parTransId="{439179B1-C6C9-4AAA-A376-C81E514EF879}" sibTransId="{B0213824-783C-4C6A-83C4-2FC3C34ABE72}"/>
    <dgm:cxn modelId="{8EAF6CD9-BA41-4E44-8652-6ADE557D0602}" type="presOf" srcId="{EE197E9C-DA4F-4287-9E4F-1F4D0634C458}" destId="{0701E2D3-6A18-41AE-A1BD-F336EB5857AC}" srcOrd="0" destOrd="0" presId="urn:microsoft.com/office/officeart/2005/8/layout/default"/>
    <dgm:cxn modelId="{59185CE7-988F-40EC-9B23-AC56BFDA4434}" type="presOf" srcId="{FB0A0E22-03D1-4E93-B146-A3BAE41783A2}" destId="{424189CD-EC64-4195-8C10-71A3C3BFA660}" srcOrd="0" destOrd="0" presId="urn:microsoft.com/office/officeart/2005/8/layout/default"/>
    <dgm:cxn modelId="{65758962-7840-4764-9C8D-30F2BD57E23C}" type="presParOf" srcId="{C78E321D-857D-42BA-BAE6-9D07CB4299E9}" destId="{DFF340F1-585A-4FBD-9ED1-AFF2F9FE9A7A}" srcOrd="0" destOrd="0" presId="urn:microsoft.com/office/officeart/2005/8/layout/default"/>
    <dgm:cxn modelId="{EB02648A-E194-4F5F-AD61-90C2106B9489}" type="presParOf" srcId="{C78E321D-857D-42BA-BAE6-9D07CB4299E9}" destId="{B3B1D607-E0E8-4120-B2C8-BE37E477D453}" srcOrd="1" destOrd="0" presId="urn:microsoft.com/office/officeart/2005/8/layout/default"/>
    <dgm:cxn modelId="{6BC705E6-601D-4871-AE8D-B9328DE87919}" type="presParOf" srcId="{C78E321D-857D-42BA-BAE6-9D07CB4299E9}" destId="{FEC4F7DC-CB2A-4C41-A8D5-9BC723E42B6D}" srcOrd="2" destOrd="0" presId="urn:microsoft.com/office/officeart/2005/8/layout/default"/>
    <dgm:cxn modelId="{28A1BE18-A3C9-4720-9F0E-931DFB62A764}" type="presParOf" srcId="{C78E321D-857D-42BA-BAE6-9D07CB4299E9}" destId="{6FBD51A3-83B3-4DEA-9A41-3215E31E3169}" srcOrd="3" destOrd="0" presId="urn:microsoft.com/office/officeart/2005/8/layout/default"/>
    <dgm:cxn modelId="{4ABE25B9-EFB0-41FC-B4ED-782A9C9CC46F}" type="presParOf" srcId="{C78E321D-857D-42BA-BAE6-9D07CB4299E9}" destId="{3548B322-E6E8-404D-B310-90E79A278A70}" srcOrd="4" destOrd="0" presId="urn:microsoft.com/office/officeart/2005/8/layout/default"/>
    <dgm:cxn modelId="{042142D3-1912-4C95-AAFC-92EBD330FF20}" type="presParOf" srcId="{C78E321D-857D-42BA-BAE6-9D07CB4299E9}" destId="{4C1AD170-5962-440A-BA7E-532FC59AE4B8}" srcOrd="5" destOrd="0" presId="urn:microsoft.com/office/officeart/2005/8/layout/default"/>
    <dgm:cxn modelId="{57C95A30-6267-4C90-81EB-8DA9A9DF6546}" type="presParOf" srcId="{C78E321D-857D-42BA-BAE6-9D07CB4299E9}" destId="{4B3653A7-D4CD-42FE-BEBB-8F54E891644D}" srcOrd="6" destOrd="0" presId="urn:microsoft.com/office/officeart/2005/8/layout/default"/>
    <dgm:cxn modelId="{8D2E3A99-D6AC-4A5C-BDA3-B3E1B6662A5D}" type="presParOf" srcId="{C78E321D-857D-42BA-BAE6-9D07CB4299E9}" destId="{FBBA98CF-F672-43B5-A75A-D386FA1D947F}" srcOrd="7" destOrd="0" presId="urn:microsoft.com/office/officeart/2005/8/layout/default"/>
    <dgm:cxn modelId="{AE88F700-F55E-4C9F-AC35-FE0CCAEE75BC}" type="presParOf" srcId="{C78E321D-857D-42BA-BAE6-9D07CB4299E9}" destId="{593D808C-F5BD-4285-8FE9-7F4F3C80EAAB}" srcOrd="8" destOrd="0" presId="urn:microsoft.com/office/officeart/2005/8/layout/default"/>
    <dgm:cxn modelId="{86170EC9-9D35-4895-9DEE-21BDF4CAD179}" type="presParOf" srcId="{C78E321D-857D-42BA-BAE6-9D07CB4299E9}" destId="{288C902A-DE8F-4EEC-A40A-B26A5624AB03}" srcOrd="9" destOrd="0" presId="urn:microsoft.com/office/officeart/2005/8/layout/default"/>
    <dgm:cxn modelId="{542D62F5-8953-4408-9ADD-23E6C7491033}" type="presParOf" srcId="{C78E321D-857D-42BA-BAE6-9D07CB4299E9}" destId="{424189CD-EC64-4195-8C10-71A3C3BFA660}" srcOrd="10" destOrd="0" presId="urn:microsoft.com/office/officeart/2005/8/layout/default"/>
    <dgm:cxn modelId="{5177578A-3953-4CC8-9EF8-FECE3899D9F5}" type="presParOf" srcId="{C78E321D-857D-42BA-BAE6-9D07CB4299E9}" destId="{CF202563-A84E-43E3-84FB-00683CA52C9C}" srcOrd="11" destOrd="0" presId="urn:microsoft.com/office/officeart/2005/8/layout/default"/>
    <dgm:cxn modelId="{95F481EC-6D77-4EAA-B92B-AA791FC7BECB}" type="presParOf" srcId="{C78E321D-857D-42BA-BAE6-9D07CB4299E9}" destId="{541F2D66-65E8-4D7E-AB88-B258E0BD195D}" srcOrd="12" destOrd="0" presId="urn:microsoft.com/office/officeart/2005/8/layout/default"/>
    <dgm:cxn modelId="{C2AAFE02-A0F0-4EA8-A186-FC14829CA032}" type="presParOf" srcId="{C78E321D-857D-42BA-BAE6-9D07CB4299E9}" destId="{8CFE0E81-FAEC-47CD-8256-8BF2F1213807}" srcOrd="13" destOrd="0" presId="urn:microsoft.com/office/officeart/2005/8/layout/default"/>
    <dgm:cxn modelId="{893663CB-DD0E-4915-8229-E86578D675F3}" type="presParOf" srcId="{C78E321D-857D-42BA-BAE6-9D07CB4299E9}" destId="{0701E2D3-6A18-41AE-A1BD-F336EB5857AC}" srcOrd="14" destOrd="0" presId="urn:microsoft.com/office/officeart/2005/8/layout/default"/>
    <dgm:cxn modelId="{F687AE41-4E0D-44DE-962F-EE8E2F057CCA}" type="presParOf" srcId="{C78E321D-857D-42BA-BAE6-9D07CB4299E9}" destId="{EFFA646E-C760-4D9B-BC65-8ECA4F3F63E4}" srcOrd="15" destOrd="0" presId="urn:microsoft.com/office/officeart/2005/8/layout/default"/>
    <dgm:cxn modelId="{CC31A724-F30F-494E-9DC0-50C93C465469}" type="presParOf" srcId="{C78E321D-857D-42BA-BAE6-9D07CB4299E9}" destId="{7199B43C-A18C-43D7-8161-CFFA83158A10}" srcOrd="1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2F1F8F2-3484-4E3C-B621-38198B9B5653}"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6777803C-BEF5-464A-9DBE-636BD45CC18C}">
      <dgm:prSet/>
      <dgm:spPr/>
      <dgm:t>
        <a:bodyPr/>
        <a:lstStyle/>
        <a:p>
          <a:r>
            <a:rPr lang="ru-RU"/>
            <a:t>неиерархические </a:t>
          </a:r>
          <a:r>
            <a:rPr lang="ru-RU" i="1"/>
            <a:t>методы</a:t>
          </a:r>
          <a:r>
            <a:rPr lang="ru-RU"/>
            <a:t> кластерного анализа (в том числе </a:t>
          </a:r>
          <a:r>
            <a:rPr lang="ru-RU" i="1"/>
            <a:t>алгоритмы</a:t>
          </a:r>
          <a:r>
            <a:rPr lang="ru-RU"/>
            <a:t> k-средних и k-медианы)</a:t>
          </a:r>
          <a:endParaRPr lang="en-US"/>
        </a:p>
      </dgm:t>
    </dgm:pt>
    <dgm:pt modelId="{88369CAE-29F9-4CA9-B3EB-FD8918B3F14E}" type="parTrans" cxnId="{3AE0A858-9BA6-47F2-9473-7439F6936D56}">
      <dgm:prSet/>
      <dgm:spPr/>
      <dgm:t>
        <a:bodyPr/>
        <a:lstStyle/>
        <a:p>
          <a:endParaRPr lang="en-US"/>
        </a:p>
      </dgm:t>
    </dgm:pt>
    <dgm:pt modelId="{339BF408-CFD7-4681-9EA1-E534D755E356}" type="sibTrans" cxnId="{3AE0A858-9BA6-47F2-9473-7439F6936D56}">
      <dgm:prSet/>
      <dgm:spPr/>
      <dgm:t>
        <a:bodyPr/>
        <a:lstStyle/>
        <a:p>
          <a:endParaRPr lang="en-US"/>
        </a:p>
      </dgm:t>
    </dgm:pt>
    <dgm:pt modelId="{FB8EC700-9AD9-4DF6-A9C8-82170BF0839F}">
      <dgm:prSet/>
      <dgm:spPr/>
      <dgm:t>
        <a:bodyPr/>
        <a:lstStyle/>
        <a:p>
          <a:r>
            <a:rPr lang="ru-RU" i="1"/>
            <a:t>методы</a:t>
          </a:r>
          <a:r>
            <a:rPr lang="ru-RU"/>
            <a:t> поиска ассоциативных правил (в том числе </a:t>
          </a:r>
          <a:r>
            <a:rPr lang="ru-RU" i="1"/>
            <a:t>алгоритм</a:t>
          </a:r>
          <a:r>
            <a:rPr lang="ru-RU"/>
            <a:t> Apriori);</a:t>
          </a:r>
          <a:endParaRPr lang="en-US"/>
        </a:p>
      </dgm:t>
    </dgm:pt>
    <dgm:pt modelId="{151B8A07-A508-452D-A085-B1E8DF673DD2}" type="parTrans" cxnId="{F0927A33-8038-4523-A287-EFFDD6B42B4D}">
      <dgm:prSet/>
      <dgm:spPr/>
      <dgm:t>
        <a:bodyPr/>
        <a:lstStyle/>
        <a:p>
          <a:endParaRPr lang="en-US"/>
        </a:p>
      </dgm:t>
    </dgm:pt>
    <dgm:pt modelId="{FC21FF7A-62CF-489D-87F0-DACC9E2C217C}" type="sibTrans" cxnId="{F0927A33-8038-4523-A287-EFFDD6B42B4D}">
      <dgm:prSet/>
      <dgm:spPr/>
      <dgm:t>
        <a:bodyPr/>
        <a:lstStyle/>
        <a:p>
          <a:endParaRPr lang="en-US"/>
        </a:p>
      </dgm:t>
    </dgm:pt>
    <dgm:pt modelId="{3B0D187A-2F12-4FA0-A812-28D2B8435CDA}">
      <dgm:prSet/>
      <dgm:spPr/>
      <dgm:t>
        <a:bodyPr/>
        <a:lstStyle/>
        <a:p>
          <a:r>
            <a:rPr lang="ru-RU"/>
            <a:t>метод ограниченного перебора, </a:t>
          </a:r>
          <a:endParaRPr lang="en-US"/>
        </a:p>
      </dgm:t>
    </dgm:pt>
    <dgm:pt modelId="{E77FD9CA-D5EE-40B4-B194-1B7B5072FEE5}" type="parTrans" cxnId="{0FE3F7A5-D968-43A7-A3A5-A0C740E7617B}">
      <dgm:prSet/>
      <dgm:spPr/>
      <dgm:t>
        <a:bodyPr/>
        <a:lstStyle/>
        <a:p>
          <a:endParaRPr lang="en-US"/>
        </a:p>
      </dgm:t>
    </dgm:pt>
    <dgm:pt modelId="{1D6ACED9-B6E2-4347-A451-D4ABE2ABCC18}" type="sibTrans" cxnId="{0FE3F7A5-D968-43A7-A3A5-A0C740E7617B}">
      <dgm:prSet/>
      <dgm:spPr/>
      <dgm:t>
        <a:bodyPr/>
        <a:lstStyle/>
        <a:p>
          <a:endParaRPr lang="en-US"/>
        </a:p>
      </dgm:t>
    </dgm:pt>
    <dgm:pt modelId="{5268ED1A-3B78-4953-8064-06385BB6B9FF}">
      <dgm:prSet/>
      <dgm:spPr/>
      <dgm:t>
        <a:bodyPr/>
        <a:lstStyle/>
        <a:p>
          <a:r>
            <a:rPr lang="ru-RU"/>
            <a:t>эволюционное программирование и генетические </a:t>
          </a:r>
          <a:r>
            <a:rPr lang="ru-RU" i="1"/>
            <a:t>алгоритмы</a:t>
          </a:r>
          <a:r>
            <a:rPr lang="ru-RU"/>
            <a:t>, </a:t>
          </a:r>
          <a:endParaRPr lang="en-US"/>
        </a:p>
      </dgm:t>
    </dgm:pt>
    <dgm:pt modelId="{71DEF247-B1DE-4F92-851B-012960E76201}" type="parTrans" cxnId="{B159BEE4-3F20-4DD4-88EF-C066DDE0F45A}">
      <dgm:prSet/>
      <dgm:spPr/>
      <dgm:t>
        <a:bodyPr/>
        <a:lstStyle/>
        <a:p>
          <a:endParaRPr lang="en-US"/>
        </a:p>
      </dgm:t>
    </dgm:pt>
    <dgm:pt modelId="{C498B3C8-C2AF-46F7-A360-469CD3F10E5B}" type="sibTrans" cxnId="{B159BEE4-3F20-4DD4-88EF-C066DDE0F45A}">
      <dgm:prSet/>
      <dgm:spPr/>
      <dgm:t>
        <a:bodyPr/>
        <a:lstStyle/>
        <a:p>
          <a:endParaRPr lang="en-US"/>
        </a:p>
      </dgm:t>
    </dgm:pt>
    <dgm:pt modelId="{0B1B3C5E-4183-4F0E-B14A-5DC46C0FC2C2}">
      <dgm:prSet/>
      <dgm:spPr/>
      <dgm:t>
        <a:bodyPr/>
        <a:lstStyle/>
        <a:p>
          <a:r>
            <a:rPr lang="ru-RU"/>
            <a:t>разнообразные </a:t>
          </a:r>
          <a:r>
            <a:rPr lang="ru-RU" i="1"/>
            <a:t>методы</a:t>
          </a:r>
          <a:r>
            <a:rPr lang="ru-RU"/>
            <a:t> визуализации данных и множество других </a:t>
          </a:r>
          <a:r>
            <a:rPr lang="ru-RU" i="1"/>
            <a:t>методов</a:t>
          </a:r>
          <a:endParaRPr lang="en-US"/>
        </a:p>
      </dgm:t>
    </dgm:pt>
    <dgm:pt modelId="{C2C68C3C-67D4-4657-B2FF-A6A995719012}" type="parTrans" cxnId="{7C1A8150-767C-4B2E-A4BD-452C68E13CBE}">
      <dgm:prSet/>
      <dgm:spPr/>
      <dgm:t>
        <a:bodyPr/>
        <a:lstStyle/>
        <a:p>
          <a:endParaRPr lang="en-US"/>
        </a:p>
      </dgm:t>
    </dgm:pt>
    <dgm:pt modelId="{A81BC42E-619B-445E-9430-BDFDF07A18AC}" type="sibTrans" cxnId="{7C1A8150-767C-4B2E-A4BD-452C68E13CBE}">
      <dgm:prSet/>
      <dgm:spPr/>
      <dgm:t>
        <a:bodyPr/>
        <a:lstStyle/>
        <a:p>
          <a:endParaRPr lang="en-US"/>
        </a:p>
      </dgm:t>
    </dgm:pt>
    <dgm:pt modelId="{8884A95E-CC4C-4C6A-A2BB-6C244AC19276}" type="pres">
      <dgm:prSet presAssocID="{C2F1F8F2-3484-4E3C-B621-38198B9B5653}" presName="diagram" presStyleCnt="0">
        <dgm:presLayoutVars>
          <dgm:dir/>
          <dgm:resizeHandles val="exact"/>
        </dgm:presLayoutVars>
      </dgm:prSet>
      <dgm:spPr/>
    </dgm:pt>
    <dgm:pt modelId="{72B208E0-1621-49B1-A403-E4E172E3B8A3}" type="pres">
      <dgm:prSet presAssocID="{6777803C-BEF5-464A-9DBE-636BD45CC18C}" presName="node" presStyleLbl="node1" presStyleIdx="0" presStyleCnt="5">
        <dgm:presLayoutVars>
          <dgm:bulletEnabled val="1"/>
        </dgm:presLayoutVars>
      </dgm:prSet>
      <dgm:spPr/>
    </dgm:pt>
    <dgm:pt modelId="{DD774CB3-3EE2-4440-A4B7-D5B206667B55}" type="pres">
      <dgm:prSet presAssocID="{339BF408-CFD7-4681-9EA1-E534D755E356}" presName="sibTrans" presStyleCnt="0"/>
      <dgm:spPr/>
    </dgm:pt>
    <dgm:pt modelId="{9CAED0DE-8200-4764-83E2-BAE7EEF454E2}" type="pres">
      <dgm:prSet presAssocID="{FB8EC700-9AD9-4DF6-A9C8-82170BF0839F}" presName="node" presStyleLbl="node1" presStyleIdx="1" presStyleCnt="5">
        <dgm:presLayoutVars>
          <dgm:bulletEnabled val="1"/>
        </dgm:presLayoutVars>
      </dgm:prSet>
      <dgm:spPr/>
    </dgm:pt>
    <dgm:pt modelId="{A29A8EAB-2F93-4137-AD2A-93978BE9375C}" type="pres">
      <dgm:prSet presAssocID="{FC21FF7A-62CF-489D-87F0-DACC9E2C217C}" presName="sibTrans" presStyleCnt="0"/>
      <dgm:spPr/>
    </dgm:pt>
    <dgm:pt modelId="{5E5F7B02-52B9-4637-A926-83FFCE94F1B7}" type="pres">
      <dgm:prSet presAssocID="{3B0D187A-2F12-4FA0-A812-28D2B8435CDA}" presName="node" presStyleLbl="node1" presStyleIdx="2" presStyleCnt="5">
        <dgm:presLayoutVars>
          <dgm:bulletEnabled val="1"/>
        </dgm:presLayoutVars>
      </dgm:prSet>
      <dgm:spPr/>
    </dgm:pt>
    <dgm:pt modelId="{88B46674-43CA-4785-88A5-5E5EEEDFF65A}" type="pres">
      <dgm:prSet presAssocID="{1D6ACED9-B6E2-4347-A451-D4ABE2ABCC18}" presName="sibTrans" presStyleCnt="0"/>
      <dgm:spPr/>
    </dgm:pt>
    <dgm:pt modelId="{3B6F22DA-4D23-4E9B-A335-B933C5594C1C}" type="pres">
      <dgm:prSet presAssocID="{5268ED1A-3B78-4953-8064-06385BB6B9FF}" presName="node" presStyleLbl="node1" presStyleIdx="3" presStyleCnt="5">
        <dgm:presLayoutVars>
          <dgm:bulletEnabled val="1"/>
        </dgm:presLayoutVars>
      </dgm:prSet>
      <dgm:spPr/>
    </dgm:pt>
    <dgm:pt modelId="{83285C2A-D705-403D-A282-B8C9B4882D15}" type="pres">
      <dgm:prSet presAssocID="{C498B3C8-C2AF-46F7-A360-469CD3F10E5B}" presName="sibTrans" presStyleCnt="0"/>
      <dgm:spPr/>
    </dgm:pt>
    <dgm:pt modelId="{9E46282A-DB75-48AA-A225-18B30C4E0FD6}" type="pres">
      <dgm:prSet presAssocID="{0B1B3C5E-4183-4F0E-B14A-5DC46C0FC2C2}" presName="node" presStyleLbl="node1" presStyleIdx="4" presStyleCnt="5">
        <dgm:presLayoutVars>
          <dgm:bulletEnabled val="1"/>
        </dgm:presLayoutVars>
      </dgm:prSet>
      <dgm:spPr/>
    </dgm:pt>
  </dgm:ptLst>
  <dgm:cxnLst>
    <dgm:cxn modelId="{F0927A33-8038-4523-A287-EFFDD6B42B4D}" srcId="{C2F1F8F2-3484-4E3C-B621-38198B9B5653}" destId="{FB8EC700-9AD9-4DF6-A9C8-82170BF0839F}" srcOrd="1" destOrd="0" parTransId="{151B8A07-A508-452D-A085-B1E8DF673DD2}" sibTransId="{FC21FF7A-62CF-489D-87F0-DACC9E2C217C}"/>
    <dgm:cxn modelId="{80E52766-31D3-4D83-9DAE-763FDD9512B2}" type="presOf" srcId="{6777803C-BEF5-464A-9DBE-636BD45CC18C}" destId="{72B208E0-1621-49B1-A403-E4E172E3B8A3}" srcOrd="0" destOrd="0" presId="urn:microsoft.com/office/officeart/2005/8/layout/default"/>
    <dgm:cxn modelId="{585E196A-09C8-443A-98F2-9F8FFAB8E75A}" type="presOf" srcId="{FB8EC700-9AD9-4DF6-A9C8-82170BF0839F}" destId="{9CAED0DE-8200-4764-83E2-BAE7EEF454E2}" srcOrd="0" destOrd="0" presId="urn:microsoft.com/office/officeart/2005/8/layout/default"/>
    <dgm:cxn modelId="{7C1A8150-767C-4B2E-A4BD-452C68E13CBE}" srcId="{C2F1F8F2-3484-4E3C-B621-38198B9B5653}" destId="{0B1B3C5E-4183-4F0E-B14A-5DC46C0FC2C2}" srcOrd="4" destOrd="0" parTransId="{C2C68C3C-67D4-4657-B2FF-A6A995719012}" sibTransId="{A81BC42E-619B-445E-9430-BDFDF07A18AC}"/>
    <dgm:cxn modelId="{8A598471-4F16-4944-950C-EA255299C0AD}" type="presOf" srcId="{3B0D187A-2F12-4FA0-A812-28D2B8435CDA}" destId="{5E5F7B02-52B9-4637-A926-83FFCE94F1B7}" srcOrd="0" destOrd="0" presId="urn:microsoft.com/office/officeart/2005/8/layout/default"/>
    <dgm:cxn modelId="{3AE0A858-9BA6-47F2-9473-7439F6936D56}" srcId="{C2F1F8F2-3484-4E3C-B621-38198B9B5653}" destId="{6777803C-BEF5-464A-9DBE-636BD45CC18C}" srcOrd="0" destOrd="0" parTransId="{88369CAE-29F9-4CA9-B3EB-FD8918B3F14E}" sibTransId="{339BF408-CFD7-4681-9EA1-E534D755E356}"/>
    <dgm:cxn modelId="{2ACED77C-19D9-494B-93FA-B134AF73AD93}" type="presOf" srcId="{C2F1F8F2-3484-4E3C-B621-38198B9B5653}" destId="{8884A95E-CC4C-4C6A-A2BB-6C244AC19276}" srcOrd="0" destOrd="0" presId="urn:microsoft.com/office/officeart/2005/8/layout/default"/>
    <dgm:cxn modelId="{0FE3F7A5-D968-43A7-A3A5-A0C740E7617B}" srcId="{C2F1F8F2-3484-4E3C-B621-38198B9B5653}" destId="{3B0D187A-2F12-4FA0-A812-28D2B8435CDA}" srcOrd="2" destOrd="0" parTransId="{E77FD9CA-D5EE-40B4-B194-1B7B5072FEE5}" sibTransId="{1D6ACED9-B6E2-4347-A451-D4ABE2ABCC18}"/>
    <dgm:cxn modelId="{70FA55C7-EDF3-43E4-B7A3-A6A9A9096030}" type="presOf" srcId="{5268ED1A-3B78-4953-8064-06385BB6B9FF}" destId="{3B6F22DA-4D23-4E9B-A335-B933C5594C1C}" srcOrd="0" destOrd="0" presId="urn:microsoft.com/office/officeart/2005/8/layout/default"/>
    <dgm:cxn modelId="{B159BEE4-3F20-4DD4-88EF-C066DDE0F45A}" srcId="{C2F1F8F2-3484-4E3C-B621-38198B9B5653}" destId="{5268ED1A-3B78-4953-8064-06385BB6B9FF}" srcOrd="3" destOrd="0" parTransId="{71DEF247-B1DE-4F92-851B-012960E76201}" sibTransId="{C498B3C8-C2AF-46F7-A360-469CD3F10E5B}"/>
    <dgm:cxn modelId="{070F38F9-09AD-4308-81E1-C145F497F8EB}" type="presOf" srcId="{0B1B3C5E-4183-4F0E-B14A-5DC46C0FC2C2}" destId="{9E46282A-DB75-48AA-A225-18B30C4E0FD6}" srcOrd="0" destOrd="0" presId="urn:microsoft.com/office/officeart/2005/8/layout/default"/>
    <dgm:cxn modelId="{D6DC32C4-4188-4E37-B854-B4FD6483DEE5}" type="presParOf" srcId="{8884A95E-CC4C-4C6A-A2BB-6C244AC19276}" destId="{72B208E0-1621-49B1-A403-E4E172E3B8A3}" srcOrd="0" destOrd="0" presId="urn:microsoft.com/office/officeart/2005/8/layout/default"/>
    <dgm:cxn modelId="{96D78074-E4EF-4391-B687-AA721EA7E5CF}" type="presParOf" srcId="{8884A95E-CC4C-4C6A-A2BB-6C244AC19276}" destId="{DD774CB3-3EE2-4440-A4B7-D5B206667B55}" srcOrd="1" destOrd="0" presId="urn:microsoft.com/office/officeart/2005/8/layout/default"/>
    <dgm:cxn modelId="{16F72542-D8E6-4DA1-AE7F-D8106A561DB3}" type="presParOf" srcId="{8884A95E-CC4C-4C6A-A2BB-6C244AC19276}" destId="{9CAED0DE-8200-4764-83E2-BAE7EEF454E2}" srcOrd="2" destOrd="0" presId="urn:microsoft.com/office/officeart/2005/8/layout/default"/>
    <dgm:cxn modelId="{FF42CE1F-7FA3-4008-ABF7-D551B12AA68F}" type="presParOf" srcId="{8884A95E-CC4C-4C6A-A2BB-6C244AC19276}" destId="{A29A8EAB-2F93-4137-AD2A-93978BE9375C}" srcOrd="3" destOrd="0" presId="urn:microsoft.com/office/officeart/2005/8/layout/default"/>
    <dgm:cxn modelId="{985ECE09-AFC5-4DCD-B274-7951E6B73359}" type="presParOf" srcId="{8884A95E-CC4C-4C6A-A2BB-6C244AC19276}" destId="{5E5F7B02-52B9-4637-A926-83FFCE94F1B7}" srcOrd="4" destOrd="0" presId="urn:microsoft.com/office/officeart/2005/8/layout/default"/>
    <dgm:cxn modelId="{20909B15-8931-450B-AF05-04C9C919D029}" type="presParOf" srcId="{8884A95E-CC4C-4C6A-A2BB-6C244AC19276}" destId="{88B46674-43CA-4785-88A5-5E5EEEDFF65A}" srcOrd="5" destOrd="0" presId="urn:microsoft.com/office/officeart/2005/8/layout/default"/>
    <dgm:cxn modelId="{9D549607-F2AD-4E96-8F21-A836605CE82C}" type="presParOf" srcId="{8884A95E-CC4C-4C6A-A2BB-6C244AC19276}" destId="{3B6F22DA-4D23-4E9B-A335-B933C5594C1C}" srcOrd="6" destOrd="0" presId="urn:microsoft.com/office/officeart/2005/8/layout/default"/>
    <dgm:cxn modelId="{F350E0EC-39E1-4C22-94EB-73ADEB59C2BD}" type="presParOf" srcId="{8884A95E-CC4C-4C6A-A2BB-6C244AC19276}" destId="{83285C2A-D705-403D-A282-B8C9B4882D15}" srcOrd="7" destOrd="0" presId="urn:microsoft.com/office/officeart/2005/8/layout/default"/>
    <dgm:cxn modelId="{92AF6F27-5F52-4818-9EB7-E913C68A9C3E}" type="presParOf" srcId="{8884A95E-CC4C-4C6A-A2BB-6C244AC19276}" destId="{9E46282A-DB75-48AA-A225-18B30C4E0FD6}"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53C865B-D5F3-4D94-9207-F8DB3203013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1971839-E0C3-46DD-BBB0-102AEC6652B8}">
      <dgm:prSet/>
      <dgm:spPr/>
      <dgm:t>
        <a:bodyPr/>
        <a:lstStyle/>
        <a:p>
          <a:pPr>
            <a:lnSpc>
              <a:spcPct val="100000"/>
            </a:lnSpc>
          </a:pPr>
          <a:r>
            <a:rPr lang="ru-RU" b="1"/>
            <a:t>Технологические методы Data Mining</a:t>
          </a:r>
          <a:endParaRPr lang="en-US"/>
        </a:p>
      </dgm:t>
    </dgm:pt>
    <dgm:pt modelId="{96EF582F-D885-4409-8705-628B43D891D9}" type="parTrans" cxnId="{9E90AA13-683D-44A9-8BD9-9EFCB80A8A0F}">
      <dgm:prSet/>
      <dgm:spPr/>
      <dgm:t>
        <a:bodyPr/>
        <a:lstStyle/>
        <a:p>
          <a:endParaRPr lang="en-US"/>
        </a:p>
      </dgm:t>
    </dgm:pt>
    <dgm:pt modelId="{0A548B47-B1A9-4324-A7CE-F23EE4A10AB8}" type="sibTrans" cxnId="{9E90AA13-683D-44A9-8BD9-9EFCB80A8A0F}">
      <dgm:prSet/>
      <dgm:spPr/>
      <dgm:t>
        <a:bodyPr/>
        <a:lstStyle/>
        <a:p>
          <a:endParaRPr lang="en-US"/>
        </a:p>
      </dgm:t>
    </dgm:pt>
    <dgm:pt modelId="{E0039374-06A3-4E4B-9515-AE78E524A23A}">
      <dgm:prSet/>
      <dgm:spPr/>
      <dgm:t>
        <a:bodyPr/>
        <a:lstStyle/>
        <a:p>
          <a:pPr>
            <a:lnSpc>
              <a:spcPct val="100000"/>
            </a:lnSpc>
          </a:pPr>
          <a:r>
            <a:rPr lang="ru-RU" b="1"/>
            <a:t>Статистические методы Data mining</a:t>
          </a:r>
          <a:endParaRPr lang="en-US"/>
        </a:p>
      </dgm:t>
    </dgm:pt>
    <dgm:pt modelId="{79A36445-332E-4328-B593-1A03949D0D54}" type="parTrans" cxnId="{641DD5B4-61FC-430F-88F3-32018A0B91CC}">
      <dgm:prSet/>
      <dgm:spPr/>
      <dgm:t>
        <a:bodyPr/>
        <a:lstStyle/>
        <a:p>
          <a:endParaRPr lang="en-US"/>
        </a:p>
      </dgm:t>
    </dgm:pt>
    <dgm:pt modelId="{CEF7965A-BEB8-47F9-B240-0AFF9DC44D3C}" type="sibTrans" cxnId="{641DD5B4-61FC-430F-88F3-32018A0B91CC}">
      <dgm:prSet/>
      <dgm:spPr/>
      <dgm:t>
        <a:bodyPr/>
        <a:lstStyle/>
        <a:p>
          <a:endParaRPr lang="en-US"/>
        </a:p>
      </dgm:t>
    </dgm:pt>
    <dgm:pt modelId="{D21D19BF-35E4-4187-90EC-CBF49DB0F9B6}">
      <dgm:prSet/>
      <dgm:spPr/>
      <dgm:t>
        <a:bodyPr/>
        <a:lstStyle/>
        <a:p>
          <a:pPr>
            <a:lnSpc>
              <a:spcPct val="100000"/>
            </a:lnSpc>
          </a:pPr>
          <a:r>
            <a:rPr lang="ru-RU" b="1"/>
            <a:t>Кибернетические методы Data Mining</a:t>
          </a:r>
          <a:endParaRPr lang="en-US"/>
        </a:p>
      </dgm:t>
    </dgm:pt>
    <dgm:pt modelId="{8CBC5FE5-E6F4-437F-BD0D-F62DF91F61F5}" type="parTrans" cxnId="{C8465940-B52B-4F44-BD46-2F5DA70D69E3}">
      <dgm:prSet/>
      <dgm:spPr/>
      <dgm:t>
        <a:bodyPr/>
        <a:lstStyle/>
        <a:p>
          <a:endParaRPr lang="en-US"/>
        </a:p>
      </dgm:t>
    </dgm:pt>
    <dgm:pt modelId="{606E7A3C-A2C1-459C-B7B1-59708C935BF2}" type="sibTrans" cxnId="{C8465940-B52B-4F44-BD46-2F5DA70D69E3}">
      <dgm:prSet/>
      <dgm:spPr/>
      <dgm:t>
        <a:bodyPr/>
        <a:lstStyle/>
        <a:p>
          <a:endParaRPr lang="en-US"/>
        </a:p>
      </dgm:t>
    </dgm:pt>
    <dgm:pt modelId="{F49CA0F9-EBE3-42CC-B280-9880D2CFBAB9}" type="pres">
      <dgm:prSet presAssocID="{D53C865B-D5F3-4D94-9207-F8DB3203013F}" presName="root" presStyleCnt="0">
        <dgm:presLayoutVars>
          <dgm:dir/>
          <dgm:resizeHandles val="exact"/>
        </dgm:presLayoutVars>
      </dgm:prSet>
      <dgm:spPr/>
    </dgm:pt>
    <dgm:pt modelId="{DC1642FF-F166-4F6D-9144-BD997D36C463}" type="pres">
      <dgm:prSet presAssocID="{51971839-E0C3-46DD-BBB0-102AEC6652B8}" presName="compNode" presStyleCnt="0"/>
      <dgm:spPr/>
    </dgm:pt>
    <dgm:pt modelId="{F626ABF3-AEBE-42CF-9421-90E76523E7BF}" type="pres">
      <dgm:prSet presAssocID="{51971839-E0C3-46DD-BBB0-102AEC6652B8}" presName="bgRect" presStyleLbl="bgShp" presStyleIdx="0" presStyleCnt="3"/>
      <dgm:spPr/>
    </dgm:pt>
    <dgm:pt modelId="{AE2C230F-AC49-476D-9415-AD51B0C349D5}" type="pres">
      <dgm:prSet presAssocID="{51971839-E0C3-46DD-BBB0-102AEC6652B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omputer"/>
        </a:ext>
      </dgm:extLst>
    </dgm:pt>
    <dgm:pt modelId="{3A1D8F22-4CE6-482E-955E-D31DB15E4FD8}" type="pres">
      <dgm:prSet presAssocID="{51971839-E0C3-46DD-BBB0-102AEC6652B8}" presName="spaceRect" presStyleCnt="0"/>
      <dgm:spPr/>
    </dgm:pt>
    <dgm:pt modelId="{EB2C3321-596A-4B7C-B047-7322199C07DD}" type="pres">
      <dgm:prSet presAssocID="{51971839-E0C3-46DD-BBB0-102AEC6652B8}" presName="parTx" presStyleLbl="revTx" presStyleIdx="0" presStyleCnt="3">
        <dgm:presLayoutVars>
          <dgm:chMax val="0"/>
          <dgm:chPref val="0"/>
        </dgm:presLayoutVars>
      </dgm:prSet>
      <dgm:spPr/>
    </dgm:pt>
    <dgm:pt modelId="{6A6134F5-9DA4-4162-B1AF-50C99F6B5025}" type="pres">
      <dgm:prSet presAssocID="{0A548B47-B1A9-4324-A7CE-F23EE4A10AB8}" presName="sibTrans" presStyleCnt="0"/>
      <dgm:spPr/>
    </dgm:pt>
    <dgm:pt modelId="{C23A1B9A-6145-4130-B74F-6091DE069D3C}" type="pres">
      <dgm:prSet presAssocID="{E0039374-06A3-4E4B-9515-AE78E524A23A}" presName="compNode" presStyleCnt="0"/>
      <dgm:spPr/>
    </dgm:pt>
    <dgm:pt modelId="{E1452368-5E05-4B26-BCB4-E589D4C2B5D7}" type="pres">
      <dgm:prSet presAssocID="{E0039374-06A3-4E4B-9515-AE78E524A23A}" presName="bgRect" presStyleLbl="bgShp" presStyleIdx="1" presStyleCnt="3"/>
      <dgm:spPr/>
    </dgm:pt>
    <dgm:pt modelId="{10492C3E-6E5B-43A6-8025-973C7863B3E3}" type="pres">
      <dgm:prSet presAssocID="{E0039374-06A3-4E4B-9515-AE78E524A23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ar chart"/>
        </a:ext>
      </dgm:extLst>
    </dgm:pt>
    <dgm:pt modelId="{BB5CABA4-60B5-49D9-A639-5C43F5D8299F}" type="pres">
      <dgm:prSet presAssocID="{E0039374-06A3-4E4B-9515-AE78E524A23A}" presName="spaceRect" presStyleCnt="0"/>
      <dgm:spPr/>
    </dgm:pt>
    <dgm:pt modelId="{A4FEE98A-749C-429C-BCA1-B055F425843D}" type="pres">
      <dgm:prSet presAssocID="{E0039374-06A3-4E4B-9515-AE78E524A23A}" presName="parTx" presStyleLbl="revTx" presStyleIdx="1" presStyleCnt="3">
        <dgm:presLayoutVars>
          <dgm:chMax val="0"/>
          <dgm:chPref val="0"/>
        </dgm:presLayoutVars>
      </dgm:prSet>
      <dgm:spPr/>
    </dgm:pt>
    <dgm:pt modelId="{51BB6B14-5648-4A9C-B4ED-6A0415B47EF5}" type="pres">
      <dgm:prSet presAssocID="{CEF7965A-BEB8-47F9-B240-0AFF9DC44D3C}" presName="sibTrans" presStyleCnt="0"/>
      <dgm:spPr/>
    </dgm:pt>
    <dgm:pt modelId="{80C25396-E02F-4A4A-A620-EEB3B97244F4}" type="pres">
      <dgm:prSet presAssocID="{D21D19BF-35E4-4187-90EC-CBF49DB0F9B6}" presName="compNode" presStyleCnt="0"/>
      <dgm:spPr/>
    </dgm:pt>
    <dgm:pt modelId="{F8F916AF-6307-409C-A07E-9968ECEE972A}" type="pres">
      <dgm:prSet presAssocID="{D21D19BF-35E4-4187-90EC-CBF49DB0F9B6}" presName="bgRect" presStyleLbl="bgShp" presStyleIdx="2" presStyleCnt="3"/>
      <dgm:spPr/>
    </dgm:pt>
    <dgm:pt modelId="{C11E87F1-2E39-445F-A075-D3A389035062}" type="pres">
      <dgm:prSet presAssocID="{D21D19BF-35E4-4187-90EC-CBF49DB0F9B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Gears"/>
        </a:ext>
      </dgm:extLst>
    </dgm:pt>
    <dgm:pt modelId="{BC4F55B7-5E3D-4B48-B0A4-5DEE75E17C03}" type="pres">
      <dgm:prSet presAssocID="{D21D19BF-35E4-4187-90EC-CBF49DB0F9B6}" presName="spaceRect" presStyleCnt="0"/>
      <dgm:spPr/>
    </dgm:pt>
    <dgm:pt modelId="{00E73FF0-C563-45EB-8F78-46458203B287}" type="pres">
      <dgm:prSet presAssocID="{D21D19BF-35E4-4187-90EC-CBF49DB0F9B6}" presName="parTx" presStyleLbl="revTx" presStyleIdx="2" presStyleCnt="3">
        <dgm:presLayoutVars>
          <dgm:chMax val="0"/>
          <dgm:chPref val="0"/>
        </dgm:presLayoutVars>
      </dgm:prSet>
      <dgm:spPr/>
    </dgm:pt>
  </dgm:ptLst>
  <dgm:cxnLst>
    <dgm:cxn modelId="{9E90AA13-683D-44A9-8BD9-9EFCB80A8A0F}" srcId="{D53C865B-D5F3-4D94-9207-F8DB3203013F}" destId="{51971839-E0C3-46DD-BBB0-102AEC6652B8}" srcOrd="0" destOrd="0" parTransId="{96EF582F-D885-4409-8705-628B43D891D9}" sibTransId="{0A548B47-B1A9-4324-A7CE-F23EE4A10AB8}"/>
    <dgm:cxn modelId="{07E92C1B-8B9E-46A1-8B34-1AA3C67DE24C}" type="presOf" srcId="{D21D19BF-35E4-4187-90EC-CBF49DB0F9B6}" destId="{00E73FF0-C563-45EB-8F78-46458203B287}" srcOrd="0" destOrd="0" presId="urn:microsoft.com/office/officeart/2018/2/layout/IconVerticalSolidList"/>
    <dgm:cxn modelId="{44FDD42B-D157-41BD-9D57-853A48C1C595}" type="presOf" srcId="{E0039374-06A3-4E4B-9515-AE78E524A23A}" destId="{A4FEE98A-749C-429C-BCA1-B055F425843D}" srcOrd="0" destOrd="0" presId="urn:microsoft.com/office/officeart/2018/2/layout/IconVerticalSolidList"/>
    <dgm:cxn modelId="{20AB5231-6B7A-421E-82CA-A50A76C101B0}" type="presOf" srcId="{D53C865B-D5F3-4D94-9207-F8DB3203013F}" destId="{F49CA0F9-EBE3-42CC-B280-9880D2CFBAB9}" srcOrd="0" destOrd="0" presId="urn:microsoft.com/office/officeart/2018/2/layout/IconVerticalSolidList"/>
    <dgm:cxn modelId="{C8465940-B52B-4F44-BD46-2F5DA70D69E3}" srcId="{D53C865B-D5F3-4D94-9207-F8DB3203013F}" destId="{D21D19BF-35E4-4187-90EC-CBF49DB0F9B6}" srcOrd="2" destOrd="0" parTransId="{8CBC5FE5-E6F4-437F-BD0D-F62DF91F61F5}" sibTransId="{606E7A3C-A2C1-459C-B7B1-59708C935BF2}"/>
    <dgm:cxn modelId="{9C445F47-9744-4586-A30D-DACAAD1EFB92}" type="presOf" srcId="{51971839-E0C3-46DD-BBB0-102AEC6652B8}" destId="{EB2C3321-596A-4B7C-B047-7322199C07DD}" srcOrd="0" destOrd="0" presId="urn:microsoft.com/office/officeart/2018/2/layout/IconVerticalSolidList"/>
    <dgm:cxn modelId="{641DD5B4-61FC-430F-88F3-32018A0B91CC}" srcId="{D53C865B-D5F3-4D94-9207-F8DB3203013F}" destId="{E0039374-06A3-4E4B-9515-AE78E524A23A}" srcOrd="1" destOrd="0" parTransId="{79A36445-332E-4328-B593-1A03949D0D54}" sibTransId="{CEF7965A-BEB8-47F9-B240-0AFF9DC44D3C}"/>
    <dgm:cxn modelId="{CD403A8F-4B60-4C00-9045-8DF99E9F2C4C}" type="presParOf" srcId="{F49CA0F9-EBE3-42CC-B280-9880D2CFBAB9}" destId="{DC1642FF-F166-4F6D-9144-BD997D36C463}" srcOrd="0" destOrd="0" presId="urn:microsoft.com/office/officeart/2018/2/layout/IconVerticalSolidList"/>
    <dgm:cxn modelId="{FE2970C0-ADAD-423D-86B0-0CDCD1A6EB96}" type="presParOf" srcId="{DC1642FF-F166-4F6D-9144-BD997D36C463}" destId="{F626ABF3-AEBE-42CF-9421-90E76523E7BF}" srcOrd="0" destOrd="0" presId="urn:microsoft.com/office/officeart/2018/2/layout/IconVerticalSolidList"/>
    <dgm:cxn modelId="{9B90F88C-ADA3-40CB-9684-AE98B1000A99}" type="presParOf" srcId="{DC1642FF-F166-4F6D-9144-BD997D36C463}" destId="{AE2C230F-AC49-476D-9415-AD51B0C349D5}" srcOrd="1" destOrd="0" presId="urn:microsoft.com/office/officeart/2018/2/layout/IconVerticalSolidList"/>
    <dgm:cxn modelId="{B2BA0EFC-9D33-40D4-ADE0-DF5C5866E3B2}" type="presParOf" srcId="{DC1642FF-F166-4F6D-9144-BD997D36C463}" destId="{3A1D8F22-4CE6-482E-955E-D31DB15E4FD8}" srcOrd="2" destOrd="0" presId="urn:microsoft.com/office/officeart/2018/2/layout/IconVerticalSolidList"/>
    <dgm:cxn modelId="{74856A63-850B-4F47-8AE8-566C7D29F53B}" type="presParOf" srcId="{DC1642FF-F166-4F6D-9144-BD997D36C463}" destId="{EB2C3321-596A-4B7C-B047-7322199C07DD}" srcOrd="3" destOrd="0" presId="urn:microsoft.com/office/officeart/2018/2/layout/IconVerticalSolidList"/>
    <dgm:cxn modelId="{8ADDE4D2-DF64-4093-A4E0-7B70B8FF7A4C}" type="presParOf" srcId="{F49CA0F9-EBE3-42CC-B280-9880D2CFBAB9}" destId="{6A6134F5-9DA4-4162-B1AF-50C99F6B5025}" srcOrd="1" destOrd="0" presId="urn:microsoft.com/office/officeart/2018/2/layout/IconVerticalSolidList"/>
    <dgm:cxn modelId="{35A8F5CB-B6AC-45B3-A8BA-79576BFC586E}" type="presParOf" srcId="{F49CA0F9-EBE3-42CC-B280-9880D2CFBAB9}" destId="{C23A1B9A-6145-4130-B74F-6091DE069D3C}" srcOrd="2" destOrd="0" presId="urn:microsoft.com/office/officeart/2018/2/layout/IconVerticalSolidList"/>
    <dgm:cxn modelId="{39D9A8C1-6294-4E7D-A3AA-FBB03A2D88DB}" type="presParOf" srcId="{C23A1B9A-6145-4130-B74F-6091DE069D3C}" destId="{E1452368-5E05-4B26-BCB4-E589D4C2B5D7}" srcOrd="0" destOrd="0" presId="urn:microsoft.com/office/officeart/2018/2/layout/IconVerticalSolidList"/>
    <dgm:cxn modelId="{A1C1400F-8DD8-48AC-AE8D-1D192EAAF24D}" type="presParOf" srcId="{C23A1B9A-6145-4130-B74F-6091DE069D3C}" destId="{10492C3E-6E5B-43A6-8025-973C7863B3E3}" srcOrd="1" destOrd="0" presId="urn:microsoft.com/office/officeart/2018/2/layout/IconVerticalSolidList"/>
    <dgm:cxn modelId="{11B384B3-1669-44AE-986B-607D0A05B803}" type="presParOf" srcId="{C23A1B9A-6145-4130-B74F-6091DE069D3C}" destId="{BB5CABA4-60B5-49D9-A639-5C43F5D8299F}" srcOrd="2" destOrd="0" presId="urn:microsoft.com/office/officeart/2018/2/layout/IconVerticalSolidList"/>
    <dgm:cxn modelId="{78F5210A-6A8C-4F94-88CF-193150EA75D4}" type="presParOf" srcId="{C23A1B9A-6145-4130-B74F-6091DE069D3C}" destId="{A4FEE98A-749C-429C-BCA1-B055F425843D}" srcOrd="3" destOrd="0" presId="urn:microsoft.com/office/officeart/2018/2/layout/IconVerticalSolidList"/>
    <dgm:cxn modelId="{2EFF58EF-F3C1-41F8-A615-F1682A07AB79}" type="presParOf" srcId="{F49CA0F9-EBE3-42CC-B280-9880D2CFBAB9}" destId="{51BB6B14-5648-4A9C-B4ED-6A0415B47EF5}" srcOrd="3" destOrd="0" presId="urn:microsoft.com/office/officeart/2018/2/layout/IconVerticalSolidList"/>
    <dgm:cxn modelId="{957E7897-AA93-49FE-A1CB-FBB1C5C8C4D8}" type="presParOf" srcId="{F49CA0F9-EBE3-42CC-B280-9880D2CFBAB9}" destId="{80C25396-E02F-4A4A-A620-EEB3B97244F4}" srcOrd="4" destOrd="0" presId="urn:microsoft.com/office/officeart/2018/2/layout/IconVerticalSolidList"/>
    <dgm:cxn modelId="{F0226B14-EA41-4574-9AF6-9B8CFC006521}" type="presParOf" srcId="{80C25396-E02F-4A4A-A620-EEB3B97244F4}" destId="{F8F916AF-6307-409C-A07E-9968ECEE972A}" srcOrd="0" destOrd="0" presId="urn:microsoft.com/office/officeart/2018/2/layout/IconVerticalSolidList"/>
    <dgm:cxn modelId="{2B996182-28D8-46C2-B49C-5EDD499FF7D6}" type="presParOf" srcId="{80C25396-E02F-4A4A-A620-EEB3B97244F4}" destId="{C11E87F1-2E39-445F-A075-D3A389035062}" srcOrd="1" destOrd="0" presId="urn:microsoft.com/office/officeart/2018/2/layout/IconVerticalSolidList"/>
    <dgm:cxn modelId="{B1B3AB65-0E7F-4443-AD50-0E0514165BE0}" type="presParOf" srcId="{80C25396-E02F-4A4A-A620-EEB3B97244F4}" destId="{BC4F55B7-5E3D-4B48-B0A4-5DEE75E17C03}" srcOrd="2" destOrd="0" presId="urn:microsoft.com/office/officeart/2018/2/layout/IconVerticalSolidList"/>
    <dgm:cxn modelId="{38121E57-403F-4B92-A9A0-2A47C96FBC2F}" type="presParOf" srcId="{80C25396-E02F-4A4A-A620-EEB3B97244F4}" destId="{00E73FF0-C563-45EB-8F78-46458203B28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F340F1-585A-4FBD-9ED1-AFF2F9FE9A7A}">
      <dsp:nvSpPr>
        <dsp:cNvPr id="0" name=""/>
        <dsp:cNvSpPr/>
      </dsp:nvSpPr>
      <dsp:spPr>
        <a:xfrm>
          <a:off x="961120" y="2079"/>
          <a:ext cx="2094322" cy="125659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ru-RU" sz="1800" kern="1200"/>
            <a:t>искусственные нейронные сети, </a:t>
          </a:r>
          <a:endParaRPr lang="en-US" sz="1800" kern="1200"/>
        </a:p>
      </dsp:txBody>
      <dsp:txXfrm>
        <a:off x="961120" y="2079"/>
        <a:ext cx="2094322" cy="1256593"/>
      </dsp:txXfrm>
    </dsp:sp>
    <dsp:sp modelId="{FEC4F7DC-CB2A-4C41-A8D5-9BC723E42B6D}">
      <dsp:nvSpPr>
        <dsp:cNvPr id="0" name=""/>
        <dsp:cNvSpPr/>
      </dsp:nvSpPr>
      <dsp:spPr>
        <a:xfrm>
          <a:off x="3264875" y="2079"/>
          <a:ext cx="2094322" cy="1256593"/>
        </a:xfrm>
        <a:prstGeom prst="rect">
          <a:avLst/>
        </a:prstGeom>
        <a:solidFill>
          <a:schemeClr val="accent2">
            <a:hueOff val="-181920"/>
            <a:satOff val="-10491"/>
            <a:lumOff val="107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ru-RU" sz="1800" kern="1200"/>
            <a:t>деревья решений, </a:t>
          </a:r>
          <a:endParaRPr lang="en-US" sz="1800" kern="1200"/>
        </a:p>
      </dsp:txBody>
      <dsp:txXfrm>
        <a:off x="3264875" y="2079"/>
        <a:ext cx="2094322" cy="1256593"/>
      </dsp:txXfrm>
    </dsp:sp>
    <dsp:sp modelId="{3548B322-E6E8-404D-B310-90E79A278A70}">
      <dsp:nvSpPr>
        <dsp:cNvPr id="0" name=""/>
        <dsp:cNvSpPr/>
      </dsp:nvSpPr>
      <dsp:spPr>
        <a:xfrm>
          <a:off x="5568630" y="2079"/>
          <a:ext cx="2094322" cy="1256593"/>
        </a:xfrm>
        <a:prstGeom prst="rect">
          <a:avLst/>
        </a:prstGeom>
        <a:solidFill>
          <a:schemeClr val="accent2">
            <a:hueOff val="-363841"/>
            <a:satOff val="-20982"/>
            <a:lumOff val="215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ru-RU" sz="1800" kern="1200"/>
            <a:t>символьные правила, </a:t>
          </a:r>
          <a:endParaRPr lang="en-US" sz="1800" kern="1200"/>
        </a:p>
      </dsp:txBody>
      <dsp:txXfrm>
        <a:off x="5568630" y="2079"/>
        <a:ext cx="2094322" cy="1256593"/>
      </dsp:txXfrm>
    </dsp:sp>
    <dsp:sp modelId="{4B3653A7-D4CD-42FE-BEBB-8F54E891644D}">
      <dsp:nvSpPr>
        <dsp:cNvPr id="0" name=""/>
        <dsp:cNvSpPr/>
      </dsp:nvSpPr>
      <dsp:spPr>
        <a:xfrm>
          <a:off x="7872385" y="2079"/>
          <a:ext cx="2094322" cy="1256593"/>
        </a:xfrm>
        <a:prstGeom prst="rect">
          <a:avLst/>
        </a:prstGeom>
        <a:solidFill>
          <a:schemeClr val="accent2">
            <a:hueOff val="-545761"/>
            <a:satOff val="-31473"/>
            <a:lumOff val="323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ru-RU" sz="1800" i="1" kern="1200"/>
            <a:t>методы</a:t>
          </a:r>
          <a:r>
            <a:rPr lang="ru-RU" sz="1800" kern="1200"/>
            <a:t> ближайшего соседа и k-ближайшего соседа, </a:t>
          </a:r>
          <a:endParaRPr lang="en-US" sz="1800" kern="1200"/>
        </a:p>
      </dsp:txBody>
      <dsp:txXfrm>
        <a:off x="7872385" y="2079"/>
        <a:ext cx="2094322" cy="1256593"/>
      </dsp:txXfrm>
    </dsp:sp>
    <dsp:sp modelId="{593D808C-F5BD-4285-8FE9-7F4F3C80EAAB}">
      <dsp:nvSpPr>
        <dsp:cNvPr id="0" name=""/>
        <dsp:cNvSpPr/>
      </dsp:nvSpPr>
      <dsp:spPr>
        <a:xfrm>
          <a:off x="961120" y="1468105"/>
          <a:ext cx="2094322" cy="1256593"/>
        </a:xfrm>
        <a:prstGeom prst="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ru-RU" sz="1800" i="1" kern="1200"/>
            <a:t>метод</a:t>
          </a:r>
          <a:r>
            <a:rPr lang="ru-RU" sz="1800" kern="1200"/>
            <a:t> опорных векторов, </a:t>
          </a:r>
          <a:endParaRPr lang="en-US" sz="1800" kern="1200"/>
        </a:p>
      </dsp:txBody>
      <dsp:txXfrm>
        <a:off x="961120" y="1468105"/>
        <a:ext cx="2094322" cy="1256593"/>
      </dsp:txXfrm>
    </dsp:sp>
    <dsp:sp modelId="{424189CD-EC64-4195-8C10-71A3C3BFA660}">
      <dsp:nvSpPr>
        <dsp:cNvPr id="0" name=""/>
        <dsp:cNvSpPr/>
      </dsp:nvSpPr>
      <dsp:spPr>
        <a:xfrm>
          <a:off x="3264875" y="1468105"/>
          <a:ext cx="2094322" cy="1256593"/>
        </a:xfrm>
        <a:prstGeom prst="rect">
          <a:avLst/>
        </a:prstGeom>
        <a:solidFill>
          <a:schemeClr val="accent2">
            <a:hueOff val="-909602"/>
            <a:satOff val="-52455"/>
            <a:lumOff val="539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ru-RU" sz="1800" kern="1200"/>
            <a:t>байесовские сети, </a:t>
          </a:r>
          <a:endParaRPr lang="en-US" sz="1800" kern="1200"/>
        </a:p>
      </dsp:txBody>
      <dsp:txXfrm>
        <a:off x="3264875" y="1468105"/>
        <a:ext cx="2094322" cy="1256593"/>
      </dsp:txXfrm>
    </dsp:sp>
    <dsp:sp modelId="{541F2D66-65E8-4D7E-AB88-B258E0BD195D}">
      <dsp:nvSpPr>
        <dsp:cNvPr id="0" name=""/>
        <dsp:cNvSpPr/>
      </dsp:nvSpPr>
      <dsp:spPr>
        <a:xfrm>
          <a:off x="5568630" y="1468105"/>
          <a:ext cx="2094322" cy="1256593"/>
        </a:xfrm>
        <a:prstGeom prst="rect">
          <a:avLst/>
        </a:prstGeom>
        <a:solidFill>
          <a:schemeClr val="accent2">
            <a:hueOff val="-1091522"/>
            <a:satOff val="-62946"/>
            <a:lumOff val="64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ru-RU" sz="1800" kern="1200"/>
            <a:t>линейная регрессия, </a:t>
          </a:r>
          <a:endParaRPr lang="en-US" sz="1800" kern="1200"/>
        </a:p>
      </dsp:txBody>
      <dsp:txXfrm>
        <a:off x="5568630" y="1468105"/>
        <a:ext cx="2094322" cy="1256593"/>
      </dsp:txXfrm>
    </dsp:sp>
    <dsp:sp modelId="{0701E2D3-6A18-41AE-A1BD-F336EB5857AC}">
      <dsp:nvSpPr>
        <dsp:cNvPr id="0" name=""/>
        <dsp:cNvSpPr/>
      </dsp:nvSpPr>
      <dsp:spPr>
        <a:xfrm>
          <a:off x="7872385" y="1468105"/>
          <a:ext cx="2094322" cy="1256593"/>
        </a:xfrm>
        <a:prstGeom prst="rect">
          <a:avLst/>
        </a:prstGeom>
        <a:solidFill>
          <a:schemeClr val="accent2">
            <a:hueOff val="-1273443"/>
            <a:satOff val="-73437"/>
            <a:lumOff val="754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ru-RU" sz="1800" kern="1200"/>
            <a:t>корреляционно-регрессионный анализ; </a:t>
          </a:r>
          <a:endParaRPr lang="en-US" sz="1800" kern="1200"/>
        </a:p>
      </dsp:txBody>
      <dsp:txXfrm>
        <a:off x="7872385" y="1468105"/>
        <a:ext cx="2094322" cy="1256593"/>
      </dsp:txXfrm>
    </dsp:sp>
    <dsp:sp modelId="{7199B43C-A18C-43D7-8161-CFFA83158A10}">
      <dsp:nvSpPr>
        <dsp:cNvPr id="0" name=""/>
        <dsp:cNvSpPr/>
      </dsp:nvSpPr>
      <dsp:spPr>
        <a:xfrm>
          <a:off x="4416753" y="2934131"/>
          <a:ext cx="2094322" cy="1256593"/>
        </a:xfrm>
        <a:prstGeom prst="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ru-RU" sz="1800" kern="1200"/>
            <a:t>иерархические </a:t>
          </a:r>
          <a:r>
            <a:rPr lang="ru-RU" sz="1800" i="1" kern="1200"/>
            <a:t>методы</a:t>
          </a:r>
          <a:r>
            <a:rPr lang="ru-RU" sz="1800" kern="1200"/>
            <a:t> кластерного анализа, </a:t>
          </a:r>
          <a:endParaRPr lang="en-US" sz="1800" kern="1200"/>
        </a:p>
      </dsp:txBody>
      <dsp:txXfrm>
        <a:off x="4416753" y="2934131"/>
        <a:ext cx="2094322" cy="125659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B208E0-1621-49B1-A403-E4E172E3B8A3}">
      <dsp:nvSpPr>
        <dsp:cNvPr id="0" name=""/>
        <dsp:cNvSpPr/>
      </dsp:nvSpPr>
      <dsp:spPr>
        <a:xfrm>
          <a:off x="307345" y="1546"/>
          <a:ext cx="3222855" cy="193371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ru-RU" sz="2400" kern="1200"/>
            <a:t>неиерархические </a:t>
          </a:r>
          <a:r>
            <a:rPr lang="ru-RU" sz="2400" i="1" kern="1200"/>
            <a:t>методы</a:t>
          </a:r>
          <a:r>
            <a:rPr lang="ru-RU" sz="2400" kern="1200"/>
            <a:t> кластерного анализа (в том числе </a:t>
          </a:r>
          <a:r>
            <a:rPr lang="ru-RU" sz="2400" i="1" kern="1200"/>
            <a:t>алгоритмы</a:t>
          </a:r>
          <a:r>
            <a:rPr lang="ru-RU" sz="2400" kern="1200"/>
            <a:t> k-средних и k-медианы)</a:t>
          </a:r>
          <a:endParaRPr lang="en-US" sz="2400" kern="1200"/>
        </a:p>
      </dsp:txBody>
      <dsp:txXfrm>
        <a:off x="307345" y="1546"/>
        <a:ext cx="3222855" cy="1933713"/>
      </dsp:txXfrm>
    </dsp:sp>
    <dsp:sp modelId="{9CAED0DE-8200-4764-83E2-BAE7EEF454E2}">
      <dsp:nvSpPr>
        <dsp:cNvPr id="0" name=""/>
        <dsp:cNvSpPr/>
      </dsp:nvSpPr>
      <dsp:spPr>
        <a:xfrm>
          <a:off x="3852486" y="1546"/>
          <a:ext cx="3222855" cy="1933713"/>
        </a:xfrm>
        <a:prstGeom prst="rect">
          <a:avLst/>
        </a:prstGeom>
        <a:solidFill>
          <a:schemeClr val="accent2">
            <a:hueOff val="-363841"/>
            <a:satOff val="-20982"/>
            <a:lumOff val="215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ru-RU" sz="2400" i="1" kern="1200"/>
            <a:t>методы</a:t>
          </a:r>
          <a:r>
            <a:rPr lang="ru-RU" sz="2400" kern="1200"/>
            <a:t> поиска ассоциативных правил (в том числе </a:t>
          </a:r>
          <a:r>
            <a:rPr lang="ru-RU" sz="2400" i="1" kern="1200"/>
            <a:t>алгоритм</a:t>
          </a:r>
          <a:r>
            <a:rPr lang="ru-RU" sz="2400" kern="1200"/>
            <a:t> Apriori);</a:t>
          </a:r>
          <a:endParaRPr lang="en-US" sz="2400" kern="1200"/>
        </a:p>
      </dsp:txBody>
      <dsp:txXfrm>
        <a:off x="3852486" y="1546"/>
        <a:ext cx="3222855" cy="1933713"/>
      </dsp:txXfrm>
    </dsp:sp>
    <dsp:sp modelId="{5E5F7B02-52B9-4637-A926-83FFCE94F1B7}">
      <dsp:nvSpPr>
        <dsp:cNvPr id="0" name=""/>
        <dsp:cNvSpPr/>
      </dsp:nvSpPr>
      <dsp:spPr>
        <a:xfrm>
          <a:off x="7397627" y="1546"/>
          <a:ext cx="3222855" cy="1933713"/>
        </a:xfrm>
        <a:prstGeom prst="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ru-RU" sz="2400" kern="1200"/>
            <a:t>метод ограниченного перебора, </a:t>
          </a:r>
          <a:endParaRPr lang="en-US" sz="2400" kern="1200"/>
        </a:p>
      </dsp:txBody>
      <dsp:txXfrm>
        <a:off x="7397627" y="1546"/>
        <a:ext cx="3222855" cy="1933713"/>
      </dsp:txXfrm>
    </dsp:sp>
    <dsp:sp modelId="{3B6F22DA-4D23-4E9B-A335-B933C5594C1C}">
      <dsp:nvSpPr>
        <dsp:cNvPr id="0" name=""/>
        <dsp:cNvSpPr/>
      </dsp:nvSpPr>
      <dsp:spPr>
        <a:xfrm>
          <a:off x="2079915" y="2257545"/>
          <a:ext cx="3222855" cy="1933713"/>
        </a:xfrm>
        <a:prstGeom prst="rect">
          <a:avLst/>
        </a:prstGeom>
        <a:solidFill>
          <a:schemeClr val="accent2">
            <a:hueOff val="-1091522"/>
            <a:satOff val="-62946"/>
            <a:lumOff val="64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ru-RU" sz="2400" kern="1200"/>
            <a:t>эволюционное программирование и генетические </a:t>
          </a:r>
          <a:r>
            <a:rPr lang="ru-RU" sz="2400" i="1" kern="1200"/>
            <a:t>алгоритмы</a:t>
          </a:r>
          <a:r>
            <a:rPr lang="ru-RU" sz="2400" kern="1200"/>
            <a:t>, </a:t>
          </a:r>
          <a:endParaRPr lang="en-US" sz="2400" kern="1200"/>
        </a:p>
      </dsp:txBody>
      <dsp:txXfrm>
        <a:off x="2079915" y="2257545"/>
        <a:ext cx="3222855" cy="1933713"/>
      </dsp:txXfrm>
    </dsp:sp>
    <dsp:sp modelId="{9E46282A-DB75-48AA-A225-18B30C4E0FD6}">
      <dsp:nvSpPr>
        <dsp:cNvPr id="0" name=""/>
        <dsp:cNvSpPr/>
      </dsp:nvSpPr>
      <dsp:spPr>
        <a:xfrm>
          <a:off x="5625057" y="2257545"/>
          <a:ext cx="3222855" cy="1933713"/>
        </a:xfrm>
        <a:prstGeom prst="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ru-RU" sz="2400" kern="1200"/>
            <a:t>разнообразные </a:t>
          </a:r>
          <a:r>
            <a:rPr lang="ru-RU" sz="2400" i="1" kern="1200"/>
            <a:t>методы</a:t>
          </a:r>
          <a:r>
            <a:rPr lang="ru-RU" sz="2400" kern="1200"/>
            <a:t> визуализации данных и множество других </a:t>
          </a:r>
          <a:r>
            <a:rPr lang="ru-RU" sz="2400" i="1" kern="1200"/>
            <a:t>методов</a:t>
          </a:r>
          <a:endParaRPr lang="en-US" sz="2400" kern="1200"/>
        </a:p>
      </dsp:txBody>
      <dsp:txXfrm>
        <a:off x="5625057" y="2257545"/>
        <a:ext cx="3222855" cy="193371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26ABF3-AEBE-42CF-9421-90E76523E7BF}">
      <dsp:nvSpPr>
        <dsp:cNvPr id="0" name=""/>
        <dsp:cNvSpPr/>
      </dsp:nvSpPr>
      <dsp:spPr>
        <a:xfrm>
          <a:off x="0" y="53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2C230F-AC49-476D-9415-AD51B0C349D5}">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2C3321-596A-4B7C-B047-7322199C07DD}">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ru-RU" sz="2500" b="1" kern="1200"/>
            <a:t>Технологические методы Data Mining</a:t>
          </a:r>
          <a:endParaRPr lang="en-US" sz="2500" kern="1200"/>
        </a:p>
      </dsp:txBody>
      <dsp:txXfrm>
        <a:off x="1435590" y="531"/>
        <a:ext cx="9080009" cy="1242935"/>
      </dsp:txXfrm>
    </dsp:sp>
    <dsp:sp modelId="{E1452368-5E05-4B26-BCB4-E589D4C2B5D7}">
      <dsp:nvSpPr>
        <dsp:cNvPr id="0" name=""/>
        <dsp:cNvSpPr/>
      </dsp:nvSpPr>
      <dsp:spPr>
        <a:xfrm>
          <a:off x="0" y="155420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492C3E-6E5B-43A6-8025-973C7863B3E3}">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4FEE98A-749C-429C-BCA1-B055F425843D}">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ru-RU" sz="2500" b="1" kern="1200"/>
            <a:t>Статистические методы Data mining</a:t>
          </a:r>
          <a:endParaRPr lang="en-US" sz="2500" kern="1200"/>
        </a:p>
      </dsp:txBody>
      <dsp:txXfrm>
        <a:off x="1435590" y="1554201"/>
        <a:ext cx="9080009" cy="1242935"/>
      </dsp:txXfrm>
    </dsp:sp>
    <dsp:sp modelId="{F8F916AF-6307-409C-A07E-9968ECEE972A}">
      <dsp:nvSpPr>
        <dsp:cNvPr id="0" name=""/>
        <dsp:cNvSpPr/>
      </dsp:nvSpPr>
      <dsp:spPr>
        <a:xfrm>
          <a:off x="0" y="3107870"/>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1E87F1-2E39-445F-A075-D3A389035062}">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E73FF0-C563-45EB-8F78-46458203B287}">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ru-RU" sz="2500" b="1" kern="1200"/>
            <a:t>Кибернетические методы Data Mining</a:t>
          </a:r>
          <a:endParaRPr lang="en-US" sz="2500" kern="1200"/>
        </a:p>
      </dsp:txBody>
      <dsp:txXfrm>
        <a:off x="1435590" y="3107870"/>
        <a:ext cx="9080009" cy="1242935"/>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5A59E2-B5A9-478D-86D1-BE11948EA825}" type="datetimeFigureOut">
              <a:rPr lang="LID4096" smtClean="0"/>
              <a:t>04/10/2025</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615917-8825-4C11-9D2C-C82340C4B4E7}" type="slidenum">
              <a:rPr lang="LID4096" smtClean="0"/>
              <a:t>‹#›</a:t>
            </a:fld>
            <a:endParaRPr lang="LID4096"/>
          </a:p>
        </p:txBody>
      </p:sp>
    </p:spTree>
    <p:extLst>
      <p:ext uri="{BB962C8B-B14F-4D97-AF65-F5344CB8AC3E}">
        <p14:creationId xmlns:p14="http://schemas.microsoft.com/office/powerpoint/2010/main" val="1947684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Рассмотрим стадии Data Mining и действия, выполняемые в рамках этих стадий. </a:t>
            </a:r>
          </a:p>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Приведем известные классификации методов Data Mining. </a:t>
            </a:r>
          </a:p>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Проведем сравнительную характеристику некоторых методов, основанную на их свойствах.</a:t>
            </a:r>
          </a:p>
          <a:p>
            <a:pPr marL="0" marR="0"/>
            <a:endParaRPr lang="ru-RU" dirty="0"/>
          </a:p>
          <a:p>
            <a:pPr marL="0" marR="0" lvl="0" indent="0" algn="l" defTabSz="914400" rtl="0" eaLnBrk="1" fontAlgn="auto" latinLnBrk="0" hangingPunct="1">
              <a:lnSpc>
                <a:spcPct val="100000"/>
              </a:lnSpc>
              <a:spcBef>
                <a:spcPts val="0"/>
              </a:spcBef>
              <a:spcAft>
                <a:spcPts val="0"/>
              </a:spcAft>
              <a:buClrTx/>
              <a:buSzTx/>
              <a:buFontTx/>
              <a:buNone/>
              <a:tabLst/>
              <a:defRPr/>
            </a:pP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Основная особенность Data Mining - это сочетание широкого математического инструментария (от классического статистического анализа до новых кибернетических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методов</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и последних достижений в сфере информационных технологий. В технологии Data Mining гармонично объединились строго формализованные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и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неформального анализа, т.е. количественный и качественный анализ данных.</a:t>
            </a:r>
          </a:p>
          <a:p>
            <a:pPr marL="0" marR="0"/>
            <a:endParaRPr lang="LID4096" dirty="0"/>
          </a:p>
        </p:txBody>
      </p:sp>
      <p:sp>
        <p:nvSpPr>
          <p:cNvPr id="4" name="Slide Number Placeholder 3"/>
          <p:cNvSpPr>
            <a:spLocks noGrp="1"/>
          </p:cNvSpPr>
          <p:nvPr>
            <p:ph type="sldNum" sz="quarter" idx="5"/>
          </p:nvPr>
        </p:nvSpPr>
        <p:spPr/>
        <p:txBody>
          <a:bodyPr/>
          <a:lstStyle/>
          <a:p>
            <a:fld id="{3B615917-8825-4C11-9D2C-C82340C4B4E7}" type="slidenum">
              <a:rPr lang="LID4096" smtClean="0"/>
              <a:t>2</a:t>
            </a:fld>
            <a:endParaRPr lang="LID4096"/>
          </a:p>
        </p:txBody>
      </p:sp>
    </p:spTree>
    <p:extLst>
      <p:ext uri="{BB962C8B-B14F-4D97-AF65-F5344CB8AC3E}">
        <p14:creationId xmlns:p14="http://schemas.microsoft.com/office/powerpoint/2010/main" val="27808355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Большинство аналитических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методов</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используемые в технологии Data Mining - это известные математические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алгоритмы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и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Новым в их применении является возможность их использования при решении тех или иных конкретных проблем, обусловленная появившимися возможностями технических и программных средств. Заметим, что большинство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методов</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Data Mining были разработаны в рамках теории искусственного интеллекта.</a:t>
            </a:r>
          </a:p>
        </p:txBody>
      </p:sp>
      <p:sp>
        <p:nvSpPr>
          <p:cNvPr id="4" name="Slide Number Placeholder 3"/>
          <p:cNvSpPr>
            <a:spLocks noGrp="1"/>
          </p:cNvSpPr>
          <p:nvPr>
            <p:ph type="sldNum" sz="quarter" idx="5"/>
          </p:nvPr>
        </p:nvSpPr>
        <p:spPr/>
        <p:txBody>
          <a:bodyPr/>
          <a:lstStyle/>
          <a:p>
            <a:fld id="{3B615917-8825-4C11-9D2C-C82340C4B4E7}" type="slidenum">
              <a:rPr lang="LID4096" smtClean="0"/>
              <a:t>3</a:t>
            </a:fld>
            <a:endParaRPr lang="LID4096"/>
          </a:p>
        </p:txBody>
      </p:sp>
    </p:spTree>
    <p:extLst>
      <p:ext uri="{BB962C8B-B14F-4D97-AF65-F5344CB8AC3E}">
        <p14:creationId xmlns:p14="http://schemas.microsoft.com/office/powerpoint/2010/main" val="24997078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ru-RU" sz="1200" b="1"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a:t>
            </a:r>
            <a:r>
              <a:rPr lang="ru-RU" sz="12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r>
              <a:rPr lang="ru-RU" sz="12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method</a:t>
            </a:r>
            <a:r>
              <a:rPr lang="ru-RU" sz="12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представляет собой норму или правило, определенный путь, способ, прием решений задачи теоретического, практического или познавательного характера.</a:t>
            </a:r>
          </a:p>
          <a:p>
            <a:r>
              <a:rPr lang="ru-RU" sz="1200" b="1" i="1" dirty="0">
                <a:effectLst/>
                <a:latin typeface="Times New Roman" panose="02020603050405020304" pitchFamily="18" charset="0"/>
                <a:ea typeface="Times New Roman" panose="02020603050405020304" pitchFamily="18" charset="0"/>
              </a:rPr>
              <a:t>Алгоритм</a:t>
            </a:r>
            <a:r>
              <a:rPr lang="ru-RU" sz="1200" dirty="0">
                <a:effectLst/>
                <a:latin typeface="Times New Roman" panose="02020603050405020304" pitchFamily="18" charset="0"/>
                <a:ea typeface="Times New Roman" panose="02020603050405020304" pitchFamily="18" charset="0"/>
              </a:rPr>
              <a:t> (</a:t>
            </a:r>
            <a:r>
              <a:rPr lang="ru-RU" sz="1200" dirty="0" err="1">
                <a:effectLst/>
                <a:latin typeface="Times New Roman" panose="02020603050405020304" pitchFamily="18" charset="0"/>
                <a:ea typeface="Times New Roman" panose="02020603050405020304" pitchFamily="18" charset="0"/>
              </a:rPr>
              <a:t>algorithm</a:t>
            </a:r>
            <a:r>
              <a:rPr lang="ru-RU" sz="1200" dirty="0">
                <a:effectLst/>
                <a:latin typeface="Times New Roman" panose="02020603050405020304" pitchFamily="18" charset="0"/>
                <a:ea typeface="Times New Roman" panose="02020603050405020304" pitchFamily="18" charset="0"/>
              </a:rPr>
              <a:t>) - точное предписание относительно последовательности действий (шагов), преобразующих исходные данные в искомый результат.</a:t>
            </a:r>
            <a:endParaRPr lang="LID4096" dirty="0"/>
          </a:p>
          <a:p>
            <a:endParaRPr lang="LID4096" dirty="0"/>
          </a:p>
        </p:txBody>
      </p:sp>
      <p:sp>
        <p:nvSpPr>
          <p:cNvPr id="4" name="Slide Number Placeholder 3"/>
          <p:cNvSpPr>
            <a:spLocks noGrp="1"/>
          </p:cNvSpPr>
          <p:nvPr>
            <p:ph type="sldNum" sz="quarter" idx="5"/>
          </p:nvPr>
        </p:nvSpPr>
        <p:spPr/>
        <p:txBody>
          <a:bodyPr/>
          <a:lstStyle/>
          <a:p>
            <a:fld id="{3B615917-8825-4C11-9D2C-C82340C4B4E7}" type="slidenum">
              <a:rPr lang="LID4096" smtClean="0"/>
              <a:t>4</a:t>
            </a:fld>
            <a:endParaRPr lang="LID4096"/>
          </a:p>
        </p:txBody>
      </p:sp>
    </p:spTree>
    <p:extLst>
      <p:ext uri="{BB962C8B-B14F-4D97-AF65-F5344CB8AC3E}">
        <p14:creationId xmlns:p14="http://schemas.microsoft.com/office/powerpoint/2010/main" val="27810526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Data Mining может состоять из трех стадий: </a:t>
            </a:r>
          </a:p>
          <a:p>
            <a:pPr marL="0" marR="0"/>
            <a:r>
              <a:rPr lang="ru-RU"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Стадия 1</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Выявление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закономерностей</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r>
              <a:rPr lang="ru-RU" sz="1800" b="1"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свободный поиск</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p>
          <a:p>
            <a:pPr marL="0" marR="0"/>
            <a:r>
              <a:rPr lang="ru-RU"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Стадия 2</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Использование выявленных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закономерностей</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для предсказания неизвестных значений (</a:t>
            </a:r>
            <a:r>
              <a:rPr lang="ru-RU" sz="1800" b="1"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прогностическое моделирование</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 дополнение к этим стадиям иногда вводят стадию валидации, следующую за стадией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свободного поиска</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Цель валидации - проверка достоверности найденных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закономерностей</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Однако, мы будем считать валидацию частью первой стадии, поскольку в реализации многих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методов</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в частности, нейронных сетей и деревьев решений, предусмотрено деление общего множества данных на обучающее и проверочное, и последнее позволяет проверять достоверность полученных результатов. </a:t>
            </a:r>
          </a:p>
          <a:p>
            <a:pPr marL="0" marR="0"/>
            <a:r>
              <a:rPr lang="ru-RU"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Стадия 3</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r>
              <a:rPr lang="ru-RU" sz="1800" b="1"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Анализ исключений</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 стадия предназначена для выявления и объяснения аномалий, найденных в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закономерностях</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Итак, процесс Data Mining может быть представлен рядом таких последовательных стадий:</a:t>
            </a:r>
          </a:p>
          <a:p>
            <a:pPr marL="0" marR="0"/>
            <a:r>
              <a:rPr lang="ru-RU"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СВОБОДНЫЙ ПОИСК (в том числе ВАЛИДАЦИЯ) -&gt; </a:t>
            </a:r>
            <a:endPar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r>
              <a:rPr lang="ru-RU"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-&gt; ПРОГНОСТИЧЕСКОЕ МОДЕЛИРОВАНИЕ -&gt; </a:t>
            </a:r>
            <a:endPar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r>
              <a:rPr lang="ru-RU"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-&gt; АНАЛИЗ ИСКЛЮЧЕНИЙ</a:t>
            </a:r>
            <a:endPar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endParaRPr lang="LID4096" dirty="0"/>
          </a:p>
        </p:txBody>
      </p:sp>
      <p:sp>
        <p:nvSpPr>
          <p:cNvPr id="4" name="Slide Number Placeholder 3"/>
          <p:cNvSpPr>
            <a:spLocks noGrp="1"/>
          </p:cNvSpPr>
          <p:nvPr>
            <p:ph type="sldNum" sz="quarter" idx="5"/>
          </p:nvPr>
        </p:nvSpPr>
        <p:spPr/>
        <p:txBody>
          <a:bodyPr/>
          <a:lstStyle/>
          <a:p>
            <a:fld id="{3B615917-8825-4C11-9D2C-C82340C4B4E7}" type="slidenum">
              <a:rPr lang="LID4096" smtClean="0"/>
              <a:t>5</a:t>
            </a:fld>
            <a:endParaRPr lang="LID4096"/>
          </a:p>
        </p:txBody>
      </p:sp>
    </p:spTree>
    <p:extLst>
      <p:ext uri="{BB962C8B-B14F-4D97-AF65-F5344CB8AC3E}">
        <p14:creationId xmlns:p14="http://schemas.microsoft.com/office/powerpoint/2010/main" val="22029273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ru-RU" sz="1800" b="1"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Свободный поиск (Discovery)</a:t>
            </a:r>
            <a:endPar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На стадии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свободного поиска</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осуществляется исследование набора данных с целью поиска скрытых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закономерностей</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Предварительные гипотезы относительно вида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закономерностей</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здесь не определяются. </a:t>
            </a:r>
          </a:p>
          <a:p>
            <a:pPr marL="0" marR="0"/>
            <a:r>
              <a:rPr lang="ru-RU" sz="1800" b="1"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Закономерность</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r>
              <a:rPr lang="ru-RU"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law</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 существенная и постоянно повторяющаяся взаимосвязь, определяющая этапы и формы процесса становления, развития различных явлений или процессов. </a:t>
            </a:r>
          </a:p>
          <a:p>
            <a:r>
              <a:rPr lang="ru-RU" sz="1800" dirty="0">
                <a:effectLst/>
                <a:latin typeface="Times New Roman" panose="02020603050405020304" pitchFamily="18" charset="0"/>
                <a:ea typeface="Times New Roman" panose="02020603050405020304" pitchFamily="18" charset="0"/>
              </a:rPr>
              <a:t>Система Data Mining на этой стадии определяет шаблоны, для получения которых в системах OLAP, например, аналитику необходимо обдумывать и создавать множество запросов. Здесь же аналитик освобождается от такой работы - шаблоны ищет за него система. Особенно полезно применение данного подхода в сверхбольших базах данных, где уловить </a:t>
            </a:r>
            <a:r>
              <a:rPr lang="ru-RU" sz="1800" i="1" dirty="0">
                <a:effectLst/>
                <a:latin typeface="Times New Roman" panose="02020603050405020304" pitchFamily="18" charset="0"/>
                <a:ea typeface="Times New Roman" panose="02020603050405020304" pitchFamily="18" charset="0"/>
              </a:rPr>
              <a:t>закономерность</a:t>
            </a:r>
            <a:r>
              <a:rPr lang="ru-RU" sz="1800" dirty="0">
                <a:effectLst/>
                <a:latin typeface="Times New Roman" panose="02020603050405020304" pitchFamily="18" charset="0"/>
                <a:ea typeface="Times New Roman" panose="02020603050405020304" pitchFamily="18" charset="0"/>
              </a:rPr>
              <a:t> путем создания запросов достаточно сложно, для этого требуется перепробовать множество разнообразных вариантов.</a:t>
            </a:r>
            <a:endParaRPr lang="en-US" sz="1800" dirty="0">
              <a:effectLst/>
              <a:latin typeface="Times New Roman" panose="02020603050405020304" pitchFamily="18"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sz="18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Свободный поиск</a:t>
            </a:r>
            <a:r>
              <a:rPr lang="ru-RU"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определяется как процесс исследования исходной БД на предмет поиска скрытых закономерностей без предварительного определения гипотез относительно вида этих закономерностей. Другими словами, сама программа берет на себя инициативу в деле поиска интересных аномалий, или шаблонов, в данных, освобождая аналитика от необходимости обдумывания и задания соответствующих запросов. Этот подход особенно ценен при исследовании больших баз данных, имеющих значительное количество скрытых закономерностей, большинство из которых было бы упущено при непосредственном поиске путем прямых запросов пользователя к исходным данным.</a:t>
            </a:r>
            <a:endParaRPr lang="ru-RU"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LID4096" dirty="0"/>
          </a:p>
        </p:txBody>
      </p:sp>
      <p:sp>
        <p:nvSpPr>
          <p:cNvPr id="4" name="Slide Number Placeholder 3"/>
          <p:cNvSpPr>
            <a:spLocks noGrp="1"/>
          </p:cNvSpPr>
          <p:nvPr>
            <p:ph type="sldNum" sz="quarter" idx="5"/>
          </p:nvPr>
        </p:nvSpPr>
        <p:spPr/>
        <p:txBody>
          <a:bodyPr/>
          <a:lstStyle/>
          <a:p>
            <a:fld id="{3B615917-8825-4C11-9D2C-C82340C4B4E7}" type="slidenum">
              <a:rPr lang="LID4096" smtClean="0"/>
              <a:t>6</a:t>
            </a:fld>
            <a:endParaRPr lang="LID4096"/>
          </a:p>
        </p:txBody>
      </p:sp>
    </p:spTree>
    <p:extLst>
      <p:ext uri="{BB962C8B-B14F-4D97-AF65-F5344CB8AC3E}">
        <p14:creationId xmlns:p14="http://schemas.microsoft.com/office/powerpoint/2010/main" val="26475116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450215" algn="just">
              <a:lnSpc>
                <a:spcPct val="107000"/>
              </a:lnSpc>
              <a:spcBef>
                <a:spcPts val="0"/>
              </a:spcBef>
              <a:spcAft>
                <a:spcPts val="0"/>
              </a:spcAft>
            </a:pPr>
            <a:r>
              <a:rPr lang="ru-RU"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Стадия свободного поиска может выполняться посредством:</a:t>
            </a:r>
            <a:endParaRPr lang="ru-RU"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450215">
              <a:lnSpc>
                <a:spcPct val="107000"/>
              </a:lnSpc>
              <a:spcBef>
                <a:spcPts val="0"/>
              </a:spcBef>
              <a:spcAft>
                <a:spcPts val="0"/>
              </a:spcAft>
            </a:pPr>
            <a:r>
              <a:rPr lang="ru-RU" sz="1800" kern="0" dirty="0">
                <a:solidFill>
                  <a:srgbClr val="000000"/>
                </a:solidFill>
                <a:effectLst/>
                <a:latin typeface="Symbol" panose="05050102010706020507" pitchFamily="18" charset="2"/>
                <a:ea typeface="Times New Roman" panose="02020603050405020304" pitchFamily="18" charset="0"/>
                <a:cs typeface="Times New Roman" panose="02020603050405020304" pitchFamily="18" charset="0"/>
              </a:rPr>
              <a:t>·</a:t>
            </a:r>
            <a:r>
              <a:rPr lang="ru-RU"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индукции правил условной логики - с их помощью, в частности, могут быть компактно описаны группы похожих обучающих примеров в задачах классификации и кластеризации;</a:t>
            </a:r>
            <a:endParaRPr lang="ru-RU"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450215">
              <a:lnSpc>
                <a:spcPct val="107000"/>
              </a:lnSpc>
              <a:spcBef>
                <a:spcPts val="0"/>
              </a:spcBef>
              <a:spcAft>
                <a:spcPts val="0"/>
              </a:spcAft>
            </a:pPr>
            <a:r>
              <a:rPr lang="ru-RU" sz="1800" kern="0" dirty="0">
                <a:solidFill>
                  <a:srgbClr val="000000"/>
                </a:solidFill>
                <a:effectLst/>
                <a:latin typeface="Symbol" panose="05050102010706020507" pitchFamily="18" charset="2"/>
                <a:ea typeface="Times New Roman" panose="02020603050405020304" pitchFamily="18" charset="0"/>
                <a:cs typeface="Times New Roman" panose="02020603050405020304" pitchFamily="18" charset="0"/>
              </a:rPr>
              <a:t>·</a:t>
            </a:r>
            <a:r>
              <a:rPr lang="ru-RU"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индукции правил ассоциативной логики - то есть того, что было определено в рамках классификации задач ИАД по типам извлекаемой информации как выявление ассоциаций и последовательностей;</a:t>
            </a:r>
            <a:endParaRPr lang="ru-RU"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450215">
              <a:lnSpc>
                <a:spcPct val="107000"/>
              </a:lnSpc>
              <a:spcBef>
                <a:spcPts val="0"/>
              </a:spcBef>
              <a:spcAft>
                <a:spcPts val="0"/>
              </a:spcAft>
            </a:pPr>
            <a:r>
              <a:rPr lang="ru-RU" sz="1800" kern="0" dirty="0">
                <a:solidFill>
                  <a:srgbClr val="000000"/>
                </a:solidFill>
                <a:effectLst/>
                <a:latin typeface="Symbol" panose="05050102010706020507" pitchFamily="18" charset="2"/>
                <a:ea typeface="Times New Roman" panose="02020603050405020304" pitchFamily="18" charset="0"/>
                <a:cs typeface="Times New Roman" panose="02020603050405020304" pitchFamily="18" charset="0"/>
              </a:rPr>
              <a:t>·</a:t>
            </a:r>
            <a:r>
              <a:rPr lang="ru-RU"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определения трендов и колебаний в динамических процессах, то есть исходного этапа задачи прогнозирования.</a:t>
            </a:r>
            <a:endParaRPr lang="ru-RU"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450215" algn="just">
              <a:lnSpc>
                <a:spcPct val="107000"/>
              </a:lnSpc>
              <a:spcBef>
                <a:spcPts val="0"/>
              </a:spcBef>
              <a:spcAft>
                <a:spcPts val="0"/>
              </a:spcAft>
            </a:pPr>
            <a:r>
              <a:rPr lang="ru-RU"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Стадия свободного поиска, как правило, должна включать в себя не только генерацию закономерностей, но и проверку их достоверности на множестве данных, не принимавшихся в расчет при их формулировании.</a:t>
            </a:r>
            <a:endParaRPr lang="ru-RU"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LID4096" dirty="0"/>
          </a:p>
        </p:txBody>
      </p:sp>
      <p:sp>
        <p:nvSpPr>
          <p:cNvPr id="4" name="Slide Number Placeholder 3"/>
          <p:cNvSpPr>
            <a:spLocks noGrp="1"/>
          </p:cNvSpPr>
          <p:nvPr>
            <p:ph type="sldNum" sz="quarter" idx="5"/>
          </p:nvPr>
        </p:nvSpPr>
        <p:spPr/>
        <p:txBody>
          <a:bodyPr/>
          <a:lstStyle/>
          <a:p>
            <a:fld id="{3B615917-8825-4C11-9D2C-C82340C4B4E7}" type="slidenum">
              <a:rPr lang="LID4096" smtClean="0"/>
              <a:t>7</a:t>
            </a:fld>
            <a:endParaRPr lang="LID4096"/>
          </a:p>
        </p:txBody>
      </p:sp>
    </p:spTree>
    <p:extLst>
      <p:ext uri="{BB962C8B-B14F-4D97-AF65-F5344CB8AC3E}">
        <p14:creationId xmlns:p14="http://schemas.microsoft.com/office/powerpoint/2010/main" val="37803176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Вторая стадия Data Mining -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прогностическое моделирование</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 использует результаты работы первой стадии. Здесь обнаруженные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закономерности</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используются непосредственно для прогнозирования.</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Прогностическое моделирование включает такие </a:t>
            </a:r>
            <a:r>
              <a:rPr lang="ru-RU"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действия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p>
          <a:p>
            <a:pPr marL="342900" marR="0" lvl="0" indent="-342900">
              <a:spcBef>
                <a:spcPts val="0"/>
              </a:spcBef>
              <a:spcAft>
                <a:spcPts val="0"/>
              </a:spcAft>
              <a:buSzPts val="1000"/>
              <a:buFont typeface="Symbol" panose="05050102010706020507" pitchFamily="18" charset="2"/>
              <a:buChar char=""/>
              <a:tabLst>
                <a:tab pos="457200" algn="l"/>
              </a:tabLst>
            </a:pPr>
            <a:r>
              <a:rPr lang="ru-RU" sz="1800" dirty="0">
                <a:solidFill>
                  <a:srgbClr val="000000"/>
                </a:solidFill>
                <a:effectLst/>
                <a:latin typeface="Verdana" panose="020B0604030504040204" pitchFamily="34" charset="0"/>
                <a:ea typeface="Times New Roman" panose="02020603050405020304" pitchFamily="18" charset="0"/>
              </a:rPr>
              <a:t>предсказание неизвестных значений (</a:t>
            </a:r>
            <a:r>
              <a:rPr lang="ru-RU" sz="1800" dirty="0" err="1">
                <a:solidFill>
                  <a:srgbClr val="000000"/>
                </a:solidFill>
                <a:effectLst/>
                <a:latin typeface="Verdana" panose="020B0604030504040204" pitchFamily="34" charset="0"/>
                <a:ea typeface="Times New Roman" panose="02020603050405020304" pitchFamily="18" charset="0"/>
              </a:rPr>
              <a:t>outcome</a:t>
            </a:r>
            <a:r>
              <a:rPr lang="ru-RU" sz="1800" dirty="0">
                <a:solidFill>
                  <a:srgbClr val="000000"/>
                </a:solidFill>
                <a:effectLst/>
                <a:latin typeface="Verdana" panose="020B0604030504040204" pitchFamily="34" charset="0"/>
                <a:ea typeface="Times New Roman" panose="02020603050405020304" pitchFamily="18" charset="0"/>
              </a:rPr>
              <a:t> </a:t>
            </a:r>
            <a:r>
              <a:rPr lang="ru-RU" sz="1800" dirty="0" err="1">
                <a:solidFill>
                  <a:srgbClr val="000000"/>
                </a:solidFill>
                <a:effectLst/>
                <a:latin typeface="Verdana" panose="020B0604030504040204" pitchFamily="34" charset="0"/>
                <a:ea typeface="Times New Roman" panose="02020603050405020304" pitchFamily="18" charset="0"/>
              </a:rPr>
              <a:t>prediction</a:t>
            </a:r>
            <a:r>
              <a:rPr lang="ru-RU" sz="1800" dirty="0">
                <a:solidFill>
                  <a:srgbClr val="000000"/>
                </a:solidFill>
                <a:effectLst/>
                <a:latin typeface="Verdana" panose="020B0604030504040204" pitchFamily="34" charset="0"/>
                <a:ea typeface="Times New Roman" panose="02020603050405020304" pitchFamily="18" charset="0"/>
              </a:rPr>
              <a:t>); </a:t>
            </a:r>
            <a:endParaRPr lang="ru-RU"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ru-RU" sz="1800" dirty="0">
                <a:solidFill>
                  <a:srgbClr val="000000"/>
                </a:solidFill>
                <a:effectLst/>
                <a:latin typeface="Verdana" panose="020B0604030504040204" pitchFamily="34" charset="0"/>
                <a:ea typeface="Times New Roman" panose="02020603050405020304" pitchFamily="18" charset="0"/>
              </a:rPr>
              <a:t>прогнозирование развития процессов (</a:t>
            </a:r>
            <a:r>
              <a:rPr lang="ru-RU" sz="1800" dirty="0" err="1">
                <a:solidFill>
                  <a:srgbClr val="000000"/>
                </a:solidFill>
                <a:effectLst/>
                <a:latin typeface="Verdana" panose="020B0604030504040204" pitchFamily="34" charset="0"/>
                <a:ea typeface="Times New Roman" panose="02020603050405020304" pitchFamily="18" charset="0"/>
              </a:rPr>
              <a:t>forecasting</a:t>
            </a:r>
            <a:r>
              <a:rPr lang="ru-RU" sz="1800" dirty="0">
                <a:solidFill>
                  <a:srgbClr val="000000"/>
                </a:solidFill>
                <a:effectLst/>
                <a:latin typeface="Verdana" panose="020B0604030504040204" pitchFamily="34" charset="0"/>
                <a:ea typeface="Times New Roman" panose="02020603050405020304" pitchFamily="18" charset="0"/>
              </a:rPr>
              <a:t>).</a:t>
            </a:r>
            <a:endParaRPr lang="ru-RU" sz="1800" dirty="0">
              <a:solidFill>
                <a:srgbClr val="000000"/>
              </a:solidFill>
              <a:effectLst/>
              <a:latin typeface="Times New Roman" panose="02020603050405020304" pitchFamily="18" charset="0"/>
              <a:ea typeface="Times New Roman" panose="02020603050405020304" pitchFamily="18" charset="0"/>
            </a:endParaRP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 процессе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прогностического моделирования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решаются задачи классификации и прогнозирования.</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При решении задачи классификации результаты работы первой стадии (индукции правил) используются для отнесения нового объекта, с определенной уверенностью, к одному из известных, предопределенных классов на основании известных значений.</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При решении задачи прогнозирования результаты первой стадии (определение тренда или колебаний) используются для предсказания неизвестных (пропущенных или же будущих) значений целевой переменной (переменных).</a:t>
            </a:r>
          </a:p>
          <a:p>
            <a:pPr marL="0" marR="0"/>
            <a:endPar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endParaRPr lang="LID4096" dirty="0"/>
          </a:p>
        </p:txBody>
      </p:sp>
      <p:sp>
        <p:nvSpPr>
          <p:cNvPr id="4" name="Slide Number Placeholder 3"/>
          <p:cNvSpPr>
            <a:spLocks noGrp="1"/>
          </p:cNvSpPr>
          <p:nvPr>
            <p:ph type="sldNum" sz="quarter" idx="5"/>
          </p:nvPr>
        </p:nvSpPr>
        <p:spPr/>
        <p:txBody>
          <a:bodyPr/>
          <a:lstStyle/>
          <a:p>
            <a:fld id="{3B615917-8825-4C11-9D2C-C82340C4B4E7}" type="slidenum">
              <a:rPr lang="LID4096" smtClean="0"/>
              <a:t>9</a:t>
            </a:fld>
            <a:endParaRPr lang="LID4096"/>
          </a:p>
        </p:txBody>
      </p:sp>
    </p:spTree>
    <p:extLst>
      <p:ext uri="{BB962C8B-B14F-4D97-AF65-F5344CB8AC3E}">
        <p14:creationId xmlns:p14="http://schemas.microsoft.com/office/powerpoint/2010/main" val="7662777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Следует отметить, что свободный поиск раскрывает общие закономерности, т. е. </a:t>
            </a:r>
            <a:r>
              <a:rPr lang="ru-RU" sz="1800" kern="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индуктивен</a:t>
            </a:r>
            <a:r>
              <a:rPr lang="ru-RU"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тогда как любой прогноз выполняет догадки о значениях конкретных неизвестных величин, следовательно, </a:t>
            </a:r>
            <a:r>
              <a:rPr lang="ru-RU" sz="1800" kern="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дедуктивен</a:t>
            </a:r>
            <a:r>
              <a:rPr lang="ru-RU"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Кроме того, результирующие конструкции могут быть как прозрачными, т. е. допускающими разумное толкование (как в примере с произведенными логическими правилами), так и </a:t>
            </a:r>
            <a:r>
              <a:rPr lang="ru-RU" sz="1800" kern="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нетрактуемыми</a:t>
            </a:r>
            <a:r>
              <a:rPr lang="ru-RU"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"черными ящиками" (например, про построенную и обученную нейронную сеть никто точно не знает, как именно она работает).</a:t>
            </a:r>
            <a:endParaRPr lang="ru-RU"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LID4096" dirty="0"/>
          </a:p>
        </p:txBody>
      </p:sp>
      <p:sp>
        <p:nvSpPr>
          <p:cNvPr id="4" name="Slide Number Placeholder 3"/>
          <p:cNvSpPr>
            <a:spLocks noGrp="1"/>
          </p:cNvSpPr>
          <p:nvPr>
            <p:ph type="sldNum" sz="quarter" idx="5"/>
          </p:nvPr>
        </p:nvSpPr>
        <p:spPr/>
        <p:txBody>
          <a:bodyPr/>
          <a:lstStyle/>
          <a:p>
            <a:fld id="{3B615917-8825-4C11-9D2C-C82340C4B4E7}" type="slidenum">
              <a:rPr lang="LID4096" smtClean="0"/>
              <a:t>10</a:t>
            </a:fld>
            <a:endParaRPr lang="LID4096"/>
          </a:p>
        </p:txBody>
      </p:sp>
    </p:spTree>
    <p:extLst>
      <p:ext uri="{BB962C8B-B14F-4D97-AF65-F5344CB8AC3E}">
        <p14:creationId xmlns:p14="http://schemas.microsoft.com/office/powerpoint/2010/main" val="12172615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ED59-FE57-229F-C347-00D298AAED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E99775-28C1-D82F-C9D4-2A47FD1D46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D889ED-A571-B1D9-8886-83FF2A013C57}"/>
              </a:ext>
            </a:extLst>
          </p:cNvPr>
          <p:cNvSpPr>
            <a:spLocks noGrp="1"/>
          </p:cNvSpPr>
          <p:nvPr>
            <p:ph type="body" idx="1"/>
          </p:nvPr>
        </p:nvSpPr>
        <p:spPr/>
        <p:txBody>
          <a:bodyPr/>
          <a:lstStyle/>
          <a:p>
            <a:r>
              <a:rPr lang="ru-RU" sz="1800" kern="0" dirty="0">
                <a:solidFill>
                  <a:srgbClr val="000000"/>
                </a:solidFill>
                <a:effectLst/>
                <a:latin typeface="Times New Roman" panose="02020603050405020304" pitchFamily="18" charset="0"/>
                <a:ea typeface="Times New Roman" panose="02020603050405020304" pitchFamily="18" charset="0"/>
              </a:rPr>
              <a:t>Предметом данного анализа являются аномалии в раскрытых закономерностях, то есть необъясненные исключения. Чтобы найти их, следует сначала определить норму (стадия свободного поиска), вслед за чем выделить ее нарушения. </a:t>
            </a:r>
          </a:p>
          <a:p>
            <a:r>
              <a:rPr lang="ru-RU" sz="1800" kern="0" dirty="0">
                <a:solidFill>
                  <a:srgbClr val="000000"/>
                </a:solidFill>
                <a:effectLst/>
                <a:latin typeface="Times New Roman" panose="02020603050405020304" pitchFamily="18" charset="0"/>
                <a:ea typeface="Times New Roman" panose="02020603050405020304" pitchFamily="18" charset="0"/>
              </a:rPr>
              <a:t>В нашем примере, определив, что </a:t>
            </a:r>
            <a:r>
              <a:rPr lang="ru-RU" sz="1800" dirty="0">
                <a:effectLst/>
                <a:latin typeface="Times New Roman" panose="02020603050405020304" pitchFamily="18" charset="0"/>
                <a:ea typeface="Times New Roman" panose="02020603050405020304" pitchFamily="18" charset="0"/>
              </a:rPr>
              <a:t>"Если возраст &gt; 35 лет и желаемый уровень вознаграждения &gt; 1200 условных единиц, то в 90 % случаев соискатель ищет руководящую работу"</a:t>
            </a:r>
            <a:r>
              <a:rPr lang="ru-RU" sz="1800" kern="0" dirty="0">
                <a:solidFill>
                  <a:srgbClr val="000000"/>
                </a:solidFill>
                <a:effectLst/>
                <a:latin typeface="Times New Roman" panose="02020603050405020304" pitchFamily="18" charset="0"/>
                <a:ea typeface="Times New Roman" panose="02020603050405020304" pitchFamily="18" charset="0"/>
              </a:rPr>
              <a:t>, можно задаться вопросом - что же входит в 10%, составляющих исключение из этого правила? </a:t>
            </a:r>
          </a:p>
          <a:p>
            <a:r>
              <a:rPr lang="ru-RU" sz="1800" dirty="0">
                <a:effectLst/>
                <a:latin typeface="Times New Roman" panose="02020603050405020304" pitchFamily="18" charset="0"/>
                <a:ea typeface="Times New Roman" panose="02020603050405020304" pitchFamily="18" charset="0"/>
              </a:rPr>
              <a:t>Здесь возможно два варианта. Первый из них - существует некоторое логическое объяснение, которое также может быть оформлено в виде правила. Второй вариант для оставшихся 10% - это ошибки исходных данных. В этом случае стадия </a:t>
            </a:r>
            <a:r>
              <a:rPr lang="ru-RU" sz="1800" i="1" dirty="0">
                <a:effectLst/>
                <a:latin typeface="Times New Roman" panose="02020603050405020304" pitchFamily="18" charset="0"/>
                <a:ea typeface="Times New Roman" panose="02020603050405020304" pitchFamily="18" charset="0"/>
              </a:rPr>
              <a:t>анализа исключений</a:t>
            </a:r>
            <a:r>
              <a:rPr lang="ru-RU" sz="1800" dirty="0">
                <a:effectLst/>
                <a:latin typeface="Times New Roman" panose="02020603050405020304" pitchFamily="18" charset="0"/>
                <a:ea typeface="Times New Roman" panose="02020603050405020304" pitchFamily="18" charset="0"/>
              </a:rPr>
              <a:t> может быть использована в качестве очистки данных</a:t>
            </a:r>
            <a:endParaRPr lang="LID4096" dirty="0"/>
          </a:p>
        </p:txBody>
      </p:sp>
      <p:sp>
        <p:nvSpPr>
          <p:cNvPr id="4" name="Slide Number Placeholder 3">
            <a:extLst>
              <a:ext uri="{FF2B5EF4-FFF2-40B4-BE49-F238E27FC236}">
                <a16:creationId xmlns:a16="http://schemas.microsoft.com/office/drawing/2014/main" id="{D7369A4E-8E83-ABED-C0E5-0DE2C3D7CB99}"/>
              </a:ext>
            </a:extLst>
          </p:cNvPr>
          <p:cNvSpPr>
            <a:spLocks noGrp="1"/>
          </p:cNvSpPr>
          <p:nvPr>
            <p:ph type="sldNum" sz="quarter" idx="5"/>
          </p:nvPr>
        </p:nvSpPr>
        <p:spPr/>
        <p:txBody>
          <a:bodyPr/>
          <a:lstStyle/>
          <a:p>
            <a:fld id="{3B615917-8825-4C11-9D2C-C82340C4B4E7}" type="slidenum">
              <a:rPr lang="LID4096" smtClean="0"/>
              <a:t>11</a:t>
            </a:fld>
            <a:endParaRPr lang="LID4096"/>
          </a:p>
        </p:txBody>
      </p:sp>
    </p:spTree>
    <p:extLst>
      <p:ext uri="{BB962C8B-B14F-4D97-AF65-F5344CB8AC3E}">
        <p14:creationId xmlns:p14="http://schemas.microsoft.com/office/powerpoint/2010/main" val="19945043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Далее мы рассмотрим несколько известных классификаций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методов</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Data Mining по различным признакам.</a:t>
            </a:r>
          </a:p>
          <a:p>
            <a:endParaRPr lang="LID4096" dirty="0"/>
          </a:p>
        </p:txBody>
      </p:sp>
      <p:sp>
        <p:nvSpPr>
          <p:cNvPr id="4" name="Slide Number Placeholder 3"/>
          <p:cNvSpPr>
            <a:spLocks noGrp="1"/>
          </p:cNvSpPr>
          <p:nvPr>
            <p:ph type="sldNum" sz="quarter" idx="5"/>
          </p:nvPr>
        </p:nvSpPr>
        <p:spPr/>
        <p:txBody>
          <a:bodyPr/>
          <a:lstStyle/>
          <a:p>
            <a:fld id="{3B615917-8825-4C11-9D2C-C82340C4B4E7}" type="slidenum">
              <a:rPr lang="LID4096" smtClean="0"/>
              <a:t>12</a:t>
            </a:fld>
            <a:endParaRPr lang="LID4096"/>
          </a:p>
        </p:txBody>
      </p:sp>
    </p:spTree>
    <p:extLst>
      <p:ext uri="{BB962C8B-B14F-4D97-AF65-F5344CB8AC3E}">
        <p14:creationId xmlns:p14="http://schemas.microsoft.com/office/powerpoint/2010/main" val="25869911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Все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Data Mining подразделяются на две большие группы по принципу работы с исходными обучающими данными. В этой классификации верхний уровень определяется на основании того, сохраняются ли данные после Data Mining либо они дистиллируются для последующего использования.</a:t>
            </a:r>
          </a:p>
          <a:p>
            <a:pPr marL="285750" marR="0" indent="-285750">
              <a:buFont typeface="Arial" panose="020B0604020202020204" pitchFamily="34" charset="0"/>
              <a:buChar char="•"/>
            </a:pPr>
            <a:r>
              <a:rPr lang="ru-RU"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Непосредственное использование данных, или </a:t>
            </a:r>
            <a:r>
              <a:rPr lang="ru-RU" sz="1800" b="1"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сохранение данных</a:t>
            </a:r>
            <a:r>
              <a:rPr lang="ru-RU"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 этом случае исходные данные хранятся в явном детализированном виде и непосредственно используются на стадиях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прогностического моделирования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и/или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анализа </a:t>
            </a:r>
            <a:r>
              <a:rPr lang="ru-RU" sz="1800" i="1"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исключенийж</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r>
              <a:rPr lang="ru-RU" sz="1800" kern="0" dirty="0">
                <a:solidFill>
                  <a:srgbClr val="000000"/>
                </a:solidFill>
                <a:effectLst/>
                <a:latin typeface="Times New Roman" panose="02020603050405020304" pitchFamily="18" charset="0"/>
                <a:ea typeface="Times New Roman" panose="02020603050405020304" pitchFamily="18" charset="0"/>
              </a:rPr>
              <a:t>это так называемые методы рассуждений на основе анализа прецедентов</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Проблема этой группы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методов</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 при их использовании могут возникнуть сложности анализа сверхбольших баз данных, </a:t>
            </a:r>
            <a:r>
              <a:rPr lang="ru-RU" sz="1800" kern="0" dirty="0">
                <a:solidFill>
                  <a:srgbClr val="000000"/>
                </a:solidFill>
                <a:effectLst/>
                <a:latin typeface="Times New Roman" panose="02020603050405020304" pitchFamily="18" charset="0"/>
                <a:ea typeface="Times New Roman" panose="02020603050405020304" pitchFamily="18" charset="0"/>
              </a:rPr>
              <a:t>хотя именно при анализе больших хранилищ данных методы ИАД приносят наибольшую пользу</a:t>
            </a:r>
            <a:endPar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этой группы: кластерный анализ, метод ближайшего соседа, метод k-ближайшего соседа, рассуждение по аналогии.</a:t>
            </a:r>
          </a:p>
        </p:txBody>
      </p:sp>
      <p:sp>
        <p:nvSpPr>
          <p:cNvPr id="4" name="Slide Number Placeholder 3"/>
          <p:cNvSpPr>
            <a:spLocks noGrp="1"/>
          </p:cNvSpPr>
          <p:nvPr>
            <p:ph type="sldNum" sz="quarter" idx="5"/>
          </p:nvPr>
        </p:nvSpPr>
        <p:spPr/>
        <p:txBody>
          <a:bodyPr/>
          <a:lstStyle/>
          <a:p>
            <a:fld id="{3B615917-8825-4C11-9D2C-C82340C4B4E7}" type="slidenum">
              <a:rPr lang="LID4096" smtClean="0"/>
              <a:t>13</a:t>
            </a:fld>
            <a:endParaRPr lang="LID4096"/>
          </a:p>
        </p:txBody>
      </p:sp>
    </p:spTree>
    <p:extLst>
      <p:ext uri="{BB962C8B-B14F-4D97-AF65-F5344CB8AC3E}">
        <p14:creationId xmlns:p14="http://schemas.microsoft.com/office/powerpoint/2010/main" val="23191929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DD2CE-8DFD-E1E1-980D-D018481FDB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33AFA3-B643-7761-C2E4-15F57B55FC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FE4ADD-C3F7-DDA8-6B13-85E213BBC700}"/>
              </a:ext>
            </a:extLst>
          </p:cNvPr>
          <p:cNvSpPr>
            <a:spLocks noGrp="1"/>
          </p:cNvSpPr>
          <p:nvPr>
            <p:ph type="body" idx="1"/>
          </p:nvPr>
        </p:nvSpPr>
        <p:spPr/>
        <p:txBody>
          <a:bodyPr/>
          <a:lstStyle/>
          <a:p>
            <a:pPr marL="285750" marR="0" indent="-285750">
              <a:buFont typeface="Arial" panose="020B0604020202020204" pitchFamily="34" charset="0"/>
              <a:buChar char="•"/>
            </a:pPr>
            <a:r>
              <a:rPr lang="ru-RU"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Выявление и использование формализованных </a:t>
            </a:r>
            <a:r>
              <a:rPr lang="ru-RU" sz="1800" b="1"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закономерностей</a:t>
            </a:r>
            <a:r>
              <a:rPr lang="ru-RU"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или </a:t>
            </a:r>
            <a:r>
              <a:rPr lang="ru-RU" sz="1800" b="1"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дистилляция шаблонов</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При технологии </a:t>
            </a:r>
            <a:r>
              <a:rPr lang="ru-RU" sz="1800" b="1"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дистилляции шаблонов</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один образец (шаблон) информации извлекается из исходных данных и преобразуется в некие формальные конструкции, вид которых зависит от используемого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метода</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Data Mining. Этот процесс выполняется на стадии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свободного поиска</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у первой же группы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методов</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данная стадия в принципе отсутствует. На стадиях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прогностического моделирования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и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анализа исключений</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используются результаты стадии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свободного поиска</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они значительно компактнее самих баз данных. Напомним, что конструкции этих моделей могут быть трактуемыми аналитиком либо </a:t>
            </a:r>
            <a:r>
              <a:rPr lang="ru-RU"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нетрактуемыми</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("черными ящиками").</a:t>
            </a:r>
          </a:p>
          <a:p>
            <a:pPr marL="0" marR="0"/>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этой группы: логические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визуализации;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кросс-табуляции;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основанные на уравнениях.</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Логические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или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логической индукции, включают: нечеткие запросы и анализы; символьные правила; деревья решений; генетические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алгоритмы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p>
          <a:p>
            <a:pPr marL="0" marR="0"/>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этой группы являются, пожалуй, наиболее интерпретируемыми они оформляют найденные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закономерности</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в большинстве случаев, в достаточно прозрачном виде с точки зрения пользователя. Полученные правила могут включать непрерывные и дискретные переменные. Следует заметить, что деревья решений могут быть легко преобразованы в наборы символьных правил путем генерации одного правила по пути от корня дерева до его терминальной вершины. Деревья решений и правила фактически являются разными способами решения одной задачи и отличаются лишь по своим возможностям. Кроме того, реализация правил осуществляется более медленными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алгоритмами</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чем индукция деревьев решений.</a:t>
            </a:r>
          </a:p>
          <a:p>
            <a:pPr marL="0" marR="0"/>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кросс-табуляции: агенты, </a:t>
            </a:r>
            <a:r>
              <a:rPr lang="ru-RU"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баесовские</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(доверительные) сети, кросс-табличная визуализация. Последний метод не совсем отвечает одному из свойств Data Mining - самостоятельному поиску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закономерностей</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аналитической системой. Однако, предоставление информации в виде кросс-таблиц обеспечивает реализацию основной задачи Data Mining - поиск шаблонов, поэтому этот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можно также считать одним из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методов</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Data Mining. </a:t>
            </a:r>
          </a:p>
          <a:p>
            <a:pPr marL="0" marR="0"/>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на основе уравнений.</a:t>
            </a:r>
          </a:p>
          <a:p>
            <a:pPr marL="0" marR="0"/>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этой группы выражают выявленные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закономерности</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в виде математических выражений - уравнений. Следовательно, они могут работать лишь с численными переменными, и переменные других типов должны быть закодированы соответствующим образом. Это несколько ограничивает применение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методов</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данной группы, тем не менее они широко используются при решении различных задач, особенно задач прогнозирования.</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Основные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данной группы: статистические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и нейронные сети</a:t>
            </a:r>
          </a:p>
          <a:p>
            <a:r>
              <a:rPr lang="ru-RU" sz="1800" dirty="0">
                <a:effectLst/>
                <a:latin typeface="Times New Roman" panose="02020603050405020304" pitchFamily="18" charset="0"/>
                <a:ea typeface="Times New Roman" panose="02020603050405020304" pitchFamily="18" charset="0"/>
              </a:rPr>
              <a:t>Статистические </a:t>
            </a:r>
            <a:r>
              <a:rPr lang="ru-RU" sz="1800" i="1" dirty="0">
                <a:effectLst/>
                <a:latin typeface="Times New Roman" panose="02020603050405020304" pitchFamily="18" charset="0"/>
                <a:ea typeface="Times New Roman" panose="02020603050405020304" pitchFamily="18" charset="0"/>
              </a:rPr>
              <a:t>методы</a:t>
            </a:r>
            <a:r>
              <a:rPr lang="ru-RU" sz="1800" dirty="0">
                <a:effectLst/>
                <a:latin typeface="Times New Roman" panose="02020603050405020304" pitchFamily="18" charset="0"/>
                <a:ea typeface="Times New Roman" panose="02020603050405020304" pitchFamily="18" charset="0"/>
              </a:rPr>
              <a:t> наиболее часто применяются для решения задач прогнозирования. Существует множество </a:t>
            </a:r>
            <a:r>
              <a:rPr lang="ru-RU" sz="1800" i="1" dirty="0">
                <a:effectLst/>
                <a:latin typeface="Times New Roman" panose="02020603050405020304" pitchFamily="18" charset="0"/>
                <a:ea typeface="Times New Roman" panose="02020603050405020304" pitchFamily="18" charset="0"/>
              </a:rPr>
              <a:t>методов</a:t>
            </a:r>
            <a:r>
              <a:rPr lang="ru-RU" sz="1800" dirty="0">
                <a:effectLst/>
                <a:latin typeface="Times New Roman" panose="02020603050405020304" pitchFamily="18" charset="0"/>
                <a:ea typeface="Times New Roman" panose="02020603050405020304" pitchFamily="18" charset="0"/>
              </a:rPr>
              <a:t> статистического анализа данных, среди них, например, корреляционно-регрессионный анализ, корреляция рядов динамики, выявление тенденций динамических рядов, гармонический анализ</a:t>
            </a:r>
            <a:endParaRPr lang="LID4096" dirty="0"/>
          </a:p>
        </p:txBody>
      </p:sp>
      <p:sp>
        <p:nvSpPr>
          <p:cNvPr id="4" name="Slide Number Placeholder 3">
            <a:extLst>
              <a:ext uri="{FF2B5EF4-FFF2-40B4-BE49-F238E27FC236}">
                <a16:creationId xmlns:a16="http://schemas.microsoft.com/office/drawing/2014/main" id="{8F165D7D-FB1F-AEC2-9AC2-3878E343D9A4}"/>
              </a:ext>
            </a:extLst>
          </p:cNvPr>
          <p:cNvSpPr>
            <a:spLocks noGrp="1"/>
          </p:cNvSpPr>
          <p:nvPr>
            <p:ph type="sldNum" sz="quarter" idx="5"/>
          </p:nvPr>
        </p:nvSpPr>
        <p:spPr/>
        <p:txBody>
          <a:bodyPr/>
          <a:lstStyle/>
          <a:p>
            <a:fld id="{3B615917-8825-4C11-9D2C-C82340C4B4E7}" type="slidenum">
              <a:rPr lang="LID4096" smtClean="0"/>
              <a:t>14</a:t>
            </a:fld>
            <a:endParaRPr lang="LID4096"/>
          </a:p>
        </p:txBody>
      </p:sp>
    </p:spTree>
    <p:extLst>
      <p:ext uri="{BB962C8B-B14F-4D97-AF65-F5344CB8AC3E}">
        <p14:creationId xmlns:p14="http://schemas.microsoft.com/office/powerpoint/2010/main" val="34996708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D4753-3F30-9E40-3802-4E81C66492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29AF2B-29F1-643E-9A22-90D8B6B9DB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010953-CAFB-7A55-4315-2AD0F019EAEC}"/>
              </a:ext>
            </a:extLst>
          </p:cNvPr>
          <p:cNvSpPr>
            <a:spLocks noGrp="1"/>
          </p:cNvSpPr>
          <p:nvPr>
            <p:ph type="body" idx="1"/>
          </p:nvPr>
        </p:nvSpPr>
        <p:spPr/>
        <p:txBody>
          <a:bodyPr/>
          <a:lstStyle/>
          <a:p>
            <a:pPr marL="285750" marR="0" indent="-285750">
              <a:buFont typeface="Arial" panose="020B0604020202020204" pitchFamily="34" charset="0"/>
              <a:buChar char="•"/>
            </a:pPr>
            <a:r>
              <a:rPr lang="ru-RU"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Выявление и использование формализованных </a:t>
            </a:r>
            <a:r>
              <a:rPr lang="ru-RU" sz="1800" b="1"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закономерностей</a:t>
            </a:r>
            <a:r>
              <a:rPr lang="ru-RU"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или </a:t>
            </a:r>
            <a:r>
              <a:rPr lang="ru-RU" sz="1800" b="1"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дистилляция шаблонов</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При технологии </a:t>
            </a:r>
            <a:r>
              <a:rPr lang="ru-RU" sz="1800" b="1"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дистилляции шаблонов</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один образец (шаблон) информации извлекается из исходных данных и преобразуется в некие формальные конструкции, вид которых зависит от используемого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метода</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Data Mining. Этот процесс выполняется на стадии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свободного поиска</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у первой же группы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методов</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данная стадия в принципе отсутствует. На стадиях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прогностического моделирования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и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анализа исключений</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используются результаты стадии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свободного поиска</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они значительно компактнее самих баз данных. Напомним, что конструкции этих моделей могут быть трактуемыми аналитиком либо </a:t>
            </a:r>
            <a:r>
              <a:rPr lang="ru-RU"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нетрактуемыми</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("черными ящиками").</a:t>
            </a:r>
          </a:p>
          <a:p>
            <a:pPr marL="0" marR="0"/>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этой группы: логические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визуализации;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кросс-табуляции;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основанные на уравнениях.</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Логические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или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логической индукции, включают: нечеткие запросы и анализы; символьные правила; деревья решений; генетические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алгоритмы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p>
          <a:p>
            <a:pPr marL="0" marR="0"/>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этой группы являются, пожалуй, наиболее интерпретируемыми они оформляют найденные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закономерности</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в большинстве случаев, в достаточно прозрачном виде с точки зрения пользователя. Полученные правила могут включать непрерывные и дискретные переменные. Следует заметить, что деревья решений могут быть легко преобразованы в наборы символьных правил путем генерации одного правила по пути от корня дерева до его терминальной вершины. Деревья решений и правила фактически являются разными способами решения одной задачи и отличаются лишь по своим возможностям. Кроме того, реализация правил осуществляется более медленными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алгоритмами</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чем индукция деревьев решений.</a:t>
            </a:r>
          </a:p>
        </p:txBody>
      </p:sp>
      <p:sp>
        <p:nvSpPr>
          <p:cNvPr id="4" name="Slide Number Placeholder 3">
            <a:extLst>
              <a:ext uri="{FF2B5EF4-FFF2-40B4-BE49-F238E27FC236}">
                <a16:creationId xmlns:a16="http://schemas.microsoft.com/office/drawing/2014/main" id="{B7B2F81F-2076-4056-A73E-FE2CF2A5CB48}"/>
              </a:ext>
            </a:extLst>
          </p:cNvPr>
          <p:cNvSpPr>
            <a:spLocks noGrp="1"/>
          </p:cNvSpPr>
          <p:nvPr>
            <p:ph type="sldNum" sz="quarter" idx="5"/>
          </p:nvPr>
        </p:nvSpPr>
        <p:spPr/>
        <p:txBody>
          <a:bodyPr/>
          <a:lstStyle/>
          <a:p>
            <a:fld id="{3B615917-8825-4C11-9D2C-C82340C4B4E7}" type="slidenum">
              <a:rPr lang="LID4096" smtClean="0"/>
              <a:t>15</a:t>
            </a:fld>
            <a:endParaRPr lang="LID4096"/>
          </a:p>
        </p:txBody>
      </p:sp>
    </p:spTree>
    <p:extLst>
      <p:ext uri="{BB962C8B-B14F-4D97-AF65-F5344CB8AC3E}">
        <p14:creationId xmlns:p14="http://schemas.microsoft.com/office/powerpoint/2010/main" val="3737318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EFC77-AF0E-5B41-922D-ABB596B106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A64CFB-2FB2-FC87-F75E-92CAF04AF6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7D7694-FEA0-0FC3-B388-448EB8882AF4}"/>
              </a:ext>
            </a:extLst>
          </p:cNvPr>
          <p:cNvSpPr>
            <a:spLocks noGrp="1"/>
          </p:cNvSpPr>
          <p:nvPr>
            <p:ph type="body" idx="1"/>
          </p:nvPr>
        </p:nvSpPr>
        <p:spPr/>
        <p:txBody>
          <a:bodyPr/>
          <a:lstStyle/>
          <a:p>
            <a:pPr marL="285750" marR="0" indent="-285750">
              <a:buFont typeface="Arial" panose="020B0604020202020204" pitchFamily="34" charset="0"/>
              <a:buChar char="•"/>
            </a:pPr>
            <a:r>
              <a:rPr lang="ru-RU"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Выявление и использование формализованных </a:t>
            </a:r>
            <a:r>
              <a:rPr lang="ru-RU" sz="1800" b="1"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закономерностей</a:t>
            </a:r>
            <a:r>
              <a:rPr lang="ru-RU"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или </a:t>
            </a:r>
            <a:r>
              <a:rPr lang="ru-RU" sz="1800" b="1"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дистилляция шаблонов</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p>
          <a:p>
            <a:pPr marL="0" marR="0"/>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кросс-табуляции: агенты, </a:t>
            </a:r>
            <a:r>
              <a:rPr lang="ru-RU"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баесовские</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(доверительные) сети, кросс-табличная визуализация. Последний метод не совсем отвечает одному из свойств Data Mining - самостоятельному поиску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закономерностей</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аналитической системой. Однако, предоставление информации в виде кросс-таблиц обеспечивает реализацию основной задачи Data Mining - поиск шаблонов, поэтому этот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можно также считать одним из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методов</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Data Mining. </a:t>
            </a:r>
          </a:p>
        </p:txBody>
      </p:sp>
      <p:sp>
        <p:nvSpPr>
          <p:cNvPr id="4" name="Slide Number Placeholder 3">
            <a:extLst>
              <a:ext uri="{FF2B5EF4-FFF2-40B4-BE49-F238E27FC236}">
                <a16:creationId xmlns:a16="http://schemas.microsoft.com/office/drawing/2014/main" id="{464BA31B-CCFF-8B5A-4032-A93D2D89F77D}"/>
              </a:ext>
            </a:extLst>
          </p:cNvPr>
          <p:cNvSpPr>
            <a:spLocks noGrp="1"/>
          </p:cNvSpPr>
          <p:nvPr>
            <p:ph type="sldNum" sz="quarter" idx="5"/>
          </p:nvPr>
        </p:nvSpPr>
        <p:spPr/>
        <p:txBody>
          <a:bodyPr/>
          <a:lstStyle/>
          <a:p>
            <a:fld id="{3B615917-8825-4C11-9D2C-C82340C4B4E7}" type="slidenum">
              <a:rPr lang="LID4096" smtClean="0"/>
              <a:t>16</a:t>
            </a:fld>
            <a:endParaRPr lang="LID4096"/>
          </a:p>
        </p:txBody>
      </p:sp>
    </p:spTree>
    <p:extLst>
      <p:ext uri="{BB962C8B-B14F-4D97-AF65-F5344CB8AC3E}">
        <p14:creationId xmlns:p14="http://schemas.microsoft.com/office/powerpoint/2010/main" val="32758907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5878C-0A7E-4B53-78D4-DFFF2AB8C0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AC3185-81F2-A6D9-79D7-6F87E66A6B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34575-44C2-10F0-E946-5D36C99B1C4F}"/>
              </a:ext>
            </a:extLst>
          </p:cNvPr>
          <p:cNvSpPr>
            <a:spLocks noGrp="1"/>
          </p:cNvSpPr>
          <p:nvPr>
            <p:ph type="body" idx="1"/>
          </p:nvPr>
        </p:nvSpPr>
        <p:spPr/>
        <p:txBody>
          <a:bodyPr/>
          <a:lstStyle/>
          <a:p>
            <a:pPr marL="285750" marR="0" indent="-285750">
              <a:buFont typeface="Arial" panose="020B0604020202020204" pitchFamily="34" charset="0"/>
              <a:buChar char="•"/>
            </a:pPr>
            <a:r>
              <a:rPr lang="ru-RU"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Выявление и использование формализованных </a:t>
            </a:r>
            <a:r>
              <a:rPr lang="ru-RU" sz="1800" b="1"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закономерностей</a:t>
            </a:r>
            <a:r>
              <a:rPr lang="ru-RU"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или </a:t>
            </a:r>
            <a:r>
              <a:rPr lang="ru-RU" sz="1800" b="1"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дистилляция шаблонов</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p>
          <a:p>
            <a:pPr marL="0" marR="0"/>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на основе уравнений.</a:t>
            </a:r>
          </a:p>
          <a:p>
            <a:pPr marL="0" marR="0"/>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этой группы выражают выявленные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закономерности</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в виде математических выражений - уравнений. Следовательно, они могут работать лишь с численными переменными, и переменные других типов должны быть закодированы соответствующим образом. Это несколько ограничивает применение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методов</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данной группы, тем не менее они широко используются при решении различных задач, особенно задач прогнозирования.</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Основные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данной группы: статистические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и нейронные сети</a:t>
            </a:r>
          </a:p>
          <a:p>
            <a:r>
              <a:rPr lang="ru-RU" sz="1800" dirty="0">
                <a:effectLst/>
                <a:latin typeface="Times New Roman" panose="02020603050405020304" pitchFamily="18" charset="0"/>
                <a:ea typeface="Times New Roman" panose="02020603050405020304" pitchFamily="18" charset="0"/>
              </a:rPr>
              <a:t>Статистические </a:t>
            </a:r>
            <a:r>
              <a:rPr lang="ru-RU" sz="1800" i="1" dirty="0">
                <a:effectLst/>
                <a:latin typeface="Times New Roman" panose="02020603050405020304" pitchFamily="18" charset="0"/>
                <a:ea typeface="Times New Roman" panose="02020603050405020304" pitchFamily="18" charset="0"/>
              </a:rPr>
              <a:t>методы</a:t>
            </a:r>
            <a:r>
              <a:rPr lang="ru-RU" sz="1800" dirty="0">
                <a:effectLst/>
                <a:latin typeface="Times New Roman" panose="02020603050405020304" pitchFamily="18" charset="0"/>
                <a:ea typeface="Times New Roman" panose="02020603050405020304" pitchFamily="18" charset="0"/>
              </a:rPr>
              <a:t> наиболее часто применяются для решения задач прогнозирования. Существует множество </a:t>
            </a:r>
            <a:r>
              <a:rPr lang="ru-RU" sz="1800" i="1" dirty="0">
                <a:effectLst/>
                <a:latin typeface="Times New Roman" panose="02020603050405020304" pitchFamily="18" charset="0"/>
                <a:ea typeface="Times New Roman" panose="02020603050405020304" pitchFamily="18" charset="0"/>
              </a:rPr>
              <a:t>методов</a:t>
            </a:r>
            <a:r>
              <a:rPr lang="ru-RU" sz="1800" dirty="0">
                <a:effectLst/>
                <a:latin typeface="Times New Roman" panose="02020603050405020304" pitchFamily="18" charset="0"/>
                <a:ea typeface="Times New Roman" panose="02020603050405020304" pitchFamily="18" charset="0"/>
              </a:rPr>
              <a:t> статистического анализа данных, среди них, например, корреляционно-регрессионный анализ, корреляция рядов динамики, выявление тенденций динамических рядов, гармонический анализ</a:t>
            </a:r>
            <a:endParaRPr lang="LID4096" dirty="0"/>
          </a:p>
        </p:txBody>
      </p:sp>
      <p:sp>
        <p:nvSpPr>
          <p:cNvPr id="4" name="Slide Number Placeholder 3">
            <a:extLst>
              <a:ext uri="{FF2B5EF4-FFF2-40B4-BE49-F238E27FC236}">
                <a16:creationId xmlns:a16="http://schemas.microsoft.com/office/drawing/2014/main" id="{606EFEF4-3443-4716-6F25-A611877EC29C}"/>
              </a:ext>
            </a:extLst>
          </p:cNvPr>
          <p:cNvSpPr>
            <a:spLocks noGrp="1"/>
          </p:cNvSpPr>
          <p:nvPr>
            <p:ph type="sldNum" sz="quarter" idx="5"/>
          </p:nvPr>
        </p:nvSpPr>
        <p:spPr/>
        <p:txBody>
          <a:bodyPr/>
          <a:lstStyle/>
          <a:p>
            <a:fld id="{3B615917-8825-4C11-9D2C-C82340C4B4E7}" type="slidenum">
              <a:rPr lang="LID4096" smtClean="0"/>
              <a:t>17</a:t>
            </a:fld>
            <a:endParaRPr lang="LID4096"/>
          </a:p>
        </p:txBody>
      </p:sp>
    </p:spTree>
    <p:extLst>
      <p:ext uri="{BB962C8B-B14F-4D97-AF65-F5344CB8AC3E}">
        <p14:creationId xmlns:p14="http://schemas.microsoft.com/office/powerpoint/2010/main" val="26133096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A7C21-536C-52CA-41D2-3398D7F1CD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9A41DE-0F09-AD5E-F37D-3FCE911EA7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F7CFDC-7A8E-32F7-C175-19686495697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Другая классификация разделяет все многообразие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методов</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Data Mining на две группы: статистические и кибернетические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Эта схема разделения основана на различных подходах к обучению математических моделей.</a:t>
            </a:r>
          </a:p>
          <a:p>
            <a:pPr marL="0" marR="0" indent="0">
              <a:buFont typeface="Arial" panose="020B0604020202020204" pitchFamily="34" charset="0"/>
              <a:buNone/>
            </a:pPr>
            <a:endParaRPr lang="ru-RU" dirty="0"/>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Следует отметить, что существует два подхода отнесения статистических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методов</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к Data Mining. Первый из них противопоставляет статистические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и Data Mining, его сторонники считают классические статистические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отдельным направлением анализа данных. Согласно второму подходу, статистические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анализа являются частью математического инструментария Data Mining. Большинство авторитетных источников придерживается второго подхода.</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 этой классификации различают две группы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методов</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p>
          <a:p>
            <a:pPr marL="342900" marR="0" lvl="0" indent="-342900">
              <a:spcBef>
                <a:spcPts val="0"/>
              </a:spcBef>
              <a:spcAft>
                <a:spcPts val="0"/>
              </a:spcAft>
              <a:buSzPts val="1000"/>
              <a:buFont typeface="Symbol" panose="05050102010706020507" pitchFamily="18" charset="2"/>
              <a:buChar char=""/>
              <a:tabLst>
                <a:tab pos="457200" algn="l"/>
              </a:tabLst>
            </a:pPr>
            <a:r>
              <a:rPr lang="ru-RU" sz="1800" dirty="0">
                <a:solidFill>
                  <a:srgbClr val="000000"/>
                </a:solidFill>
                <a:effectLst/>
                <a:latin typeface="Verdana" panose="020B0604030504040204" pitchFamily="34" charset="0"/>
                <a:ea typeface="Times New Roman" panose="02020603050405020304" pitchFamily="18" charset="0"/>
              </a:rPr>
              <a:t>статистические </a:t>
            </a:r>
            <a:r>
              <a:rPr lang="ru-RU" sz="1800" i="1" dirty="0">
                <a:solidFill>
                  <a:srgbClr val="000000"/>
                </a:solidFill>
                <a:effectLst/>
                <a:latin typeface="Verdana" panose="020B0604030504040204" pitchFamily="34" charset="0"/>
                <a:ea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rPr>
              <a:t>, основанные на использовании усредненного накопленного опыта, который отражен в ретроспективных данных; </a:t>
            </a:r>
            <a:endParaRPr lang="ru-RU"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ru-RU" sz="1800" dirty="0">
                <a:solidFill>
                  <a:srgbClr val="000000"/>
                </a:solidFill>
                <a:effectLst/>
                <a:latin typeface="Verdana" panose="020B0604030504040204" pitchFamily="34" charset="0"/>
                <a:ea typeface="Times New Roman" panose="02020603050405020304" pitchFamily="18" charset="0"/>
              </a:rPr>
              <a:t>кибернетические </a:t>
            </a:r>
            <a:r>
              <a:rPr lang="ru-RU" sz="1800" i="1" dirty="0">
                <a:solidFill>
                  <a:srgbClr val="000000"/>
                </a:solidFill>
                <a:effectLst/>
                <a:latin typeface="Verdana" panose="020B0604030504040204" pitchFamily="34" charset="0"/>
                <a:ea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rPr>
              <a:t>, включающие множество разнородных математических подходов.</a:t>
            </a:r>
            <a:endParaRPr lang="ru-RU" sz="1800" dirty="0">
              <a:solidFill>
                <a:srgbClr val="000000"/>
              </a:solidFill>
              <a:effectLst/>
              <a:latin typeface="Times New Roman" panose="02020603050405020304" pitchFamily="18" charset="0"/>
              <a:ea typeface="Times New Roman" panose="02020603050405020304" pitchFamily="18" charset="0"/>
            </a:endParaRP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Недостаток такой классификации: и статистические, и кибернетические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алгоритмы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тем или иным образом опираются на сопоставление статистического опыта с результатами мониторинга текущей ситуации.</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Преимуществом такой классификации является ее удобство для интерпретации - она используется при описании математических средств современного подхода к извлечению знаний из массивов исходных наблюдений (оперативных и ретроспективных), т.е. в задачах Data Mining.</a:t>
            </a:r>
          </a:p>
          <a:p>
            <a:pPr marL="0" marR="0" indent="0">
              <a:buFont typeface="Arial" panose="020B0604020202020204" pitchFamily="34" charset="0"/>
              <a:buNone/>
            </a:pPr>
            <a:endParaRPr lang="LID4096" dirty="0"/>
          </a:p>
        </p:txBody>
      </p:sp>
      <p:sp>
        <p:nvSpPr>
          <p:cNvPr id="4" name="Slide Number Placeholder 3">
            <a:extLst>
              <a:ext uri="{FF2B5EF4-FFF2-40B4-BE49-F238E27FC236}">
                <a16:creationId xmlns:a16="http://schemas.microsoft.com/office/drawing/2014/main" id="{57597814-F885-4A3F-AF78-8F80A3275265}"/>
              </a:ext>
            </a:extLst>
          </p:cNvPr>
          <p:cNvSpPr>
            <a:spLocks noGrp="1"/>
          </p:cNvSpPr>
          <p:nvPr>
            <p:ph type="sldNum" sz="quarter" idx="5"/>
          </p:nvPr>
        </p:nvSpPr>
        <p:spPr/>
        <p:txBody>
          <a:bodyPr/>
          <a:lstStyle/>
          <a:p>
            <a:fld id="{3B615917-8825-4C11-9D2C-C82340C4B4E7}" type="slidenum">
              <a:rPr lang="LID4096" smtClean="0"/>
              <a:t>18</a:t>
            </a:fld>
            <a:endParaRPr lang="LID4096"/>
          </a:p>
        </p:txBody>
      </p:sp>
    </p:spTree>
    <p:extLst>
      <p:ext uri="{BB962C8B-B14F-4D97-AF65-F5344CB8AC3E}">
        <p14:creationId xmlns:p14="http://schemas.microsoft.com/office/powerpoint/2010/main" val="26821847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E4E1E-927C-7CD5-0D1C-1C105E290C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7BA73F-1EDC-4DA6-0FA7-9F091C55B5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4DEB4E-535B-A255-70CC-D3F5C6B6C2F6}"/>
              </a:ext>
            </a:extLst>
          </p:cNvPr>
          <p:cNvSpPr>
            <a:spLocks noGrp="1"/>
          </p:cNvSpPr>
          <p:nvPr>
            <p:ph type="body" idx="1"/>
          </p:nvPr>
        </p:nvSpPr>
        <p:spPr/>
        <p:txBody>
          <a:bodyPr/>
          <a:lstStyle/>
          <a:p>
            <a:pPr marL="0" marR="0" indent="0">
              <a:buFont typeface="Arial" panose="020B0604020202020204" pitchFamily="34" charset="0"/>
              <a:buNone/>
            </a:pPr>
            <a:endParaRPr lang="LID4096" dirty="0"/>
          </a:p>
        </p:txBody>
      </p:sp>
      <p:sp>
        <p:nvSpPr>
          <p:cNvPr id="4" name="Slide Number Placeholder 3">
            <a:extLst>
              <a:ext uri="{FF2B5EF4-FFF2-40B4-BE49-F238E27FC236}">
                <a16:creationId xmlns:a16="http://schemas.microsoft.com/office/drawing/2014/main" id="{A8D7F611-D36C-095D-A331-CD67F5B961FC}"/>
              </a:ext>
            </a:extLst>
          </p:cNvPr>
          <p:cNvSpPr>
            <a:spLocks noGrp="1"/>
          </p:cNvSpPr>
          <p:nvPr>
            <p:ph type="sldNum" sz="quarter" idx="5"/>
          </p:nvPr>
        </p:nvSpPr>
        <p:spPr/>
        <p:txBody>
          <a:bodyPr/>
          <a:lstStyle/>
          <a:p>
            <a:fld id="{3B615917-8825-4C11-9D2C-C82340C4B4E7}" type="slidenum">
              <a:rPr lang="LID4096" smtClean="0"/>
              <a:t>19</a:t>
            </a:fld>
            <a:endParaRPr lang="LID4096"/>
          </a:p>
        </p:txBody>
      </p:sp>
    </p:spTree>
    <p:extLst>
      <p:ext uri="{BB962C8B-B14F-4D97-AF65-F5344CB8AC3E}">
        <p14:creationId xmlns:p14="http://schemas.microsoft.com/office/powerpoint/2010/main" val="42319704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84B57-6F0F-77C0-5154-966BF97751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291780-1783-6C79-C4F0-EE31457C96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102ECD-078B-53D9-EA4A-F827D9FC7EB0}"/>
              </a:ext>
            </a:extLst>
          </p:cNvPr>
          <p:cNvSpPr>
            <a:spLocks noGrp="1"/>
          </p:cNvSpPr>
          <p:nvPr>
            <p:ph type="body" idx="1"/>
          </p:nvPr>
        </p:nvSpPr>
        <p:spPr/>
        <p:txBody>
          <a:bodyPr/>
          <a:lstStyle/>
          <a:p>
            <a:pPr marL="0" marR="0" indent="0">
              <a:buFont typeface="Arial" panose="020B0604020202020204" pitchFamily="34" charset="0"/>
              <a:buNone/>
            </a:pPr>
            <a:endParaRPr lang="LID4096" dirty="0"/>
          </a:p>
        </p:txBody>
      </p:sp>
      <p:sp>
        <p:nvSpPr>
          <p:cNvPr id="4" name="Slide Number Placeholder 3">
            <a:extLst>
              <a:ext uri="{FF2B5EF4-FFF2-40B4-BE49-F238E27FC236}">
                <a16:creationId xmlns:a16="http://schemas.microsoft.com/office/drawing/2014/main" id="{63EAFF8A-7C0E-B7E1-741F-DD33E426B647}"/>
              </a:ext>
            </a:extLst>
          </p:cNvPr>
          <p:cNvSpPr>
            <a:spLocks noGrp="1"/>
          </p:cNvSpPr>
          <p:nvPr>
            <p:ph type="sldNum" sz="quarter" idx="5"/>
          </p:nvPr>
        </p:nvSpPr>
        <p:spPr/>
        <p:txBody>
          <a:bodyPr/>
          <a:lstStyle/>
          <a:p>
            <a:fld id="{3B615917-8825-4C11-9D2C-C82340C4B4E7}" type="slidenum">
              <a:rPr lang="LID4096" smtClean="0"/>
              <a:t>20</a:t>
            </a:fld>
            <a:endParaRPr lang="LID4096"/>
          </a:p>
        </p:txBody>
      </p:sp>
    </p:spTree>
    <p:extLst>
      <p:ext uri="{BB962C8B-B14F-4D97-AF65-F5344CB8AC3E}">
        <p14:creationId xmlns:p14="http://schemas.microsoft.com/office/powerpoint/2010/main" val="3009909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7F1B1-453C-CA56-1031-D9FFC55CAD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85F8BC-254D-2F0A-6EF0-7CB17CF84D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D43E67-80A5-2921-B6E1-64E589ABC7CE}"/>
              </a:ext>
            </a:extLst>
          </p:cNvPr>
          <p:cNvSpPr>
            <a:spLocks noGrp="1"/>
          </p:cNvSpPr>
          <p:nvPr>
            <p:ph type="body" idx="1"/>
          </p:nvPr>
        </p:nvSpPr>
        <p:spPr/>
        <p:txBody>
          <a:bodyPr/>
          <a:lstStyle/>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Второе направление Data Mining - это множество подходов, объединенных идеей компьютерной математики и использования теории искусственного интеллекта.</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 этой группе относятся такие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p>
          <a:p>
            <a:pPr marL="342900" marR="0" lvl="0" indent="-342900">
              <a:spcBef>
                <a:spcPts val="0"/>
              </a:spcBef>
              <a:spcAft>
                <a:spcPts val="0"/>
              </a:spcAft>
              <a:buSzPts val="1000"/>
              <a:buFont typeface="Symbol" panose="05050102010706020507" pitchFamily="18" charset="2"/>
              <a:buChar char=""/>
              <a:tabLst>
                <a:tab pos="457200" algn="l"/>
              </a:tabLst>
            </a:pPr>
            <a:r>
              <a:rPr lang="ru-RU" sz="1800" dirty="0">
                <a:solidFill>
                  <a:srgbClr val="000000"/>
                </a:solidFill>
                <a:effectLst/>
                <a:latin typeface="Verdana" panose="020B0604030504040204" pitchFamily="34" charset="0"/>
                <a:ea typeface="Times New Roman" panose="02020603050405020304" pitchFamily="18" charset="0"/>
              </a:rPr>
              <a:t>искусственные нейронные сети (распознавание, кластеризация, прогноз); </a:t>
            </a:r>
            <a:endParaRPr lang="ru-RU"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ru-RU" sz="1800" dirty="0">
                <a:solidFill>
                  <a:srgbClr val="000000"/>
                </a:solidFill>
                <a:effectLst/>
                <a:latin typeface="Verdana" panose="020B0604030504040204" pitchFamily="34" charset="0"/>
                <a:ea typeface="Times New Roman" panose="02020603050405020304" pitchFamily="18" charset="0"/>
              </a:rPr>
              <a:t>эволюционное программирование (в т.ч. </a:t>
            </a:r>
            <a:r>
              <a:rPr lang="ru-RU" sz="1800" i="1" dirty="0">
                <a:solidFill>
                  <a:srgbClr val="000000"/>
                </a:solidFill>
                <a:effectLst/>
                <a:latin typeface="Verdana" panose="020B0604030504040204" pitchFamily="34" charset="0"/>
                <a:ea typeface="Times New Roman" panose="02020603050405020304" pitchFamily="18" charset="0"/>
              </a:rPr>
              <a:t>алгоритмы</a:t>
            </a:r>
            <a:r>
              <a:rPr lang="ru-RU" sz="1800" dirty="0">
                <a:solidFill>
                  <a:srgbClr val="000000"/>
                </a:solidFill>
                <a:effectLst/>
                <a:latin typeface="Verdana" panose="020B0604030504040204" pitchFamily="34" charset="0"/>
                <a:ea typeface="Times New Roman" panose="02020603050405020304" pitchFamily="18" charset="0"/>
              </a:rPr>
              <a:t> метода группового учета аргументов); </a:t>
            </a:r>
            <a:endParaRPr lang="ru-RU"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ru-RU" sz="1800" dirty="0">
                <a:solidFill>
                  <a:srgbClr val="000000"/>
                </a:solidFill>
                <a:effectLst/>
                <a:latin typeface="Verdana" panose="020B0604030504040204" pitchFamily="34" charset="0"/>
                <a:ea typeface="Times New Roman" panose="02020603050405020304" pitchFamily="18" charset="0"/>
              </a:rPr>
              <a:t>генетические </a:t>
            </a:r>
            <a:r>
              <a:rPr lang="ru-RU" sz="1800" i="1" dirty="0">
                <a:solidFill>
                  <a:srgbClr val="000000"/>
                </a:solidFill>
                <a:effectLst/>
                <a:latin typeface="Verdana" panose="020B0604030504040204" pitchFamily="34" charset="0"/>
                <a:ea typeface="Times New Roman" panose="02020603050405020304" pitchFamily="18" charset="0"/>
              </a:rPr>
              <a:t>алгоритмы</a:t>
            </a:r>
            <a:r>
              <a:rPr lang="ru-RU" sz="1800" dirty="0">
                <a:solidFill>
                  <a:srgbClr val="000000"/>
                </a:solidFill>
                <a:effectLst/>
                <a:latin typeface="Verdana" panose="020B0604030504040204" pitchFamily="34" charset="0"/>
                <a:ea typeface="Times New Roman" panose="02020603050405020304" pitchFamily="18" charset="0"/>
              </a:rPr>
              <a:t> (оптимизация); </a:t>
            </a:r>
            <a:endParaRPr lang="ru-RU"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ru-RU" sz="1800" dirty="0">
                <a:solidFill>
                  <a:srgbClr val="000000"/>
                </a:solidFill>
                <a:effectLst/>
                <a:latin typeface="Verdana" panose="020B0604030504040204" pitchFamily="34" charset="0"/>
                <a:ea typeface="Times New Roman" panose="02020603050405020304" pitchFamily="18" charset="0"/>
              </a:rPr>
              <a:t>ассоциативная память (поиск аналогов, прототипов); </a:t>
            </a:r>
            <a:endParaRPr lang="ru-RU"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ru-RU" sz="1800" dirty="0">
                <a:solidFill>
                  <a:srgbClr val="000000"/>
                </a:solidFill>
                <a:effectLst/>
                <a:latin typeface="Verdana" panose="020B0604030504040204" pitchFamily="34" charset="0"/>
                <a:ea typeface="Times New Roman" panose="02020603050405020304" pitchFamily="18" charset="0"/>
              </a:rPr>
              <a:t>нечеткая логика; </a:t>
            </a:r>
            <a:endParaRPr lang="ru-RU"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ru-RU" sz="1800" dirty="0">
                <a:solidFill>
                  <a:srgbClr val="000000"/>
                </a:solidFill>
                <a:effectLst/>
                <a:latin typeface="Verdana" panose="020B0604030504040204" pitchFamily="34" charset="0"/>
                <a:ea typeface="Times New Roman" panose="02020603050405020304" pitchFamily="18" charset="0"/>
              </a:rPr>
              <a:t>деревья решений; </a:t>
            </a:r>
            <a:endParaRPr lang="ru-RU"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ru-RU" sz="1800" dirty="0">
                <a:solidFill>
                  <a:srgbClr val="000000"/>
                </a:solidFill>
                <a:effectLst/>
                <a:latin typeface="Verdana" panose="020B0604030504040204" pitchFamily="34" charset="0"/>
                <a:ea typeface="Times New Roman" panose="02020603050405020304" pitchFamily="18" charset="0"/>
              </a:rPr>
              <a:t>системы обработки экспертных знаний.</a:t>
            </a:r>
            <a:endParaRPr lang="ru-RU" sz="1800" dirty="0">
              <a:solidFill>
                <a:srgbClr val="000000"/>
              </a:solidFill>
              <a:effectLst/>
              <a:latin typeface="Times New Roman" panose="02020603050405020304" pitchFamily="18" charset="0"/>
              <a:ea typeface="Times New Roman" panose="02020603050405020304" pitchFamily="18" charset="0"/>
            </a:endParaRPr>
          </a:p>
          <a:p>
            <a:pPr marL="0" marR="0" indent="0">
              <a:buFont typeface="Arial" panose="020B0604020202020204" pitchFamily="34" charset="0"/>
              <a:buNone/>
            </a:pPr>
            <a:endParaRPr lang="LID4096" dirty="0"/>
          </a:p>
        </p:txBody>
      </p:sp>
      <p:sp>
        <p:nvSpPr>
          <p:cNvPr id="4" name="Slide Number Placeholder 3">
            <a:extLst>
              <a:ext uri="{FF2B5EF4-FFF2-40B4-BE49-F238E27FC236}">
                <a16:creationId xmlns:a16="http://schemas.microsoft.com/office/drawing/2014/main" id="{F3B78129-A7B2-3D70-B615-74A27544C844}"/>
              </a:ext>
            </a:extLst>
          </p:cNvPr>
          <p:cNvSpPr>
            <a:spLocks noGrp="1"/>
          </p:cNvSpPr>
          <p:nvPr>
            <p:ph type="sldNum" sz="quarter" idx="5"/>
          </p:nvPr>
        </p:nvSpPr>
        <p:spPr/>
        <p:txBody>
          <a:bodyPr/>
          <a:lstStyle/>
          <a:p>
            <a:fld id="{3B615917-8825-4C11-9D2C-C82340C4B4E7}" type="slidenum">
              <a:rPr lang="LID4096" smtClean="0"/>
              <a:t>21</a:t>
            </a:fld>
            <a:endParaRPr lang="LID4096"/>
          </a:p>
        </p:txBody>
      </p:sp>
    </p:spTree>
    <p:extLst>
      <p:ext uri="{BB962C8B-B14F-4D97-AF65-F5344CB8AC3E}">
        <p14:creationId xmlns:p14="http://schemas.microsoft.com/office/powerpoint/2010/main" val="17773213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F6FFE-9A5F-8580-0448-003655B7C8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2F5A76-EC5D-6B6C-6559-DC04A54F28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C0242F-5C86-D9F4-D3F7-DA4C0D9BD42F}"/>
              </a:ext>
            </a:extLst>
          </p:cNvPr>
          <p:cNvSpPr>
            <a:spLocks noGrp="1"/>
          </p:cNvSpPr>
          <p:nvPr>
            <p:ph type="body" idx="1"/>
          </p:nvPr>
        </p:nvSpPr>
        <p:spPr/>
        <p:txBody>
          <a:bodyPr/>
          <a:lstStyle/>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 Data Mining также можно классифицировать по задачам Data Mining. </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 соответствии с такой классификацией выделяем две группы. Первая из них - это подразделение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методов</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Data Mining на решающие задачи сегментации (т.е. задачи классификации и кластеризации) и задачи прогнозирования.</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 соответствии со второй классификацией по задачам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Data Mining могут быть направлены на получение описательных и прогнозирующих результатов.</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Описательные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служат для нахождения шаблонов или образцов, описывающих данные, которые поддаются интерпретации с точки зрения аналитика.</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 методам, направленным на получение описательных результатов, относятся итеративные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кластерного анализа, в том числе: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алгоритм</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k-средних, k-медианы, иерархические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кластерного анализа, самоорганизующиеся карты Кохонена,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кросс-табличной визуализации, различные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визуализации и другие.</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Прогнозирующие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используют значения одних переменных для предсказания/прогнозирования неизвестных (пропущенных) или будущих значений других (целевых) переменных.</a:t>
            </a:r>
          </a:p>
          <a:p>
            <a:r>
              <a:rPr lang="ru-RU" sz="1800" dirty="0">
                <a:effectLst/>
                <a:latin typeface="Times New Roman" panose="02020603050405020304" pitchFamily="18" charset="0"/>
                <a:ea typeface="Times New Roman" panose="02020603050405020304" pitchFamily="18" charset="0"/>
              </a:rPr>
              <a:t>К методам, направленным на получение прогнозирующих результатов, относятся такие </a:t>
            </a:r>
            <a:r>
              <a:rPr lang="ru-RU" sz="1800" i="1" dirty="0">
                <a:effectLst/>
                <a:latin typeface="Times New Roman" panose="02020603050405020304" pitchFamily="18" charset="0"/>
                <a:ea typeface="Times New Roman" panose="02020603050405020304" pitchFamily="18" charset="0"/>
              </a:rPr>
              <a:t>методы</a:t>
            </a:r>
            <a:r>
              <a:rPr lang="ru-RU" sz="1800" dirty="0">
                <a:effectLst/>
                <a:latin typeface="Times New Roman" panose="02020603050405020304" pitchFamily="18" charset="0"/>
                <a:ea typeface="Times New Roman" panose="02020603050405020304" pitchFamily="18" charset="0"/>
              </a:rPr>
              <a:t>: нейронные сети, деревья решений, линейная регрессия, метод ближайшего соседа, метод опорных векторов и др.</a:t>
            </a:r>
            <a:endParaRPr lang="LID4096" dirty="0"/>
          </a:p>
        </p:txBody>
      </p:sp>
      <p:sp>
        <p:nvSpPr>
          <p:cNvPr id="4" name="Slide Number Placeholder 3">
            <a:extLst>
              <a:ext uri="{FF2B5EF4-FFF2-40B4-BE49-F238E27FC236}">
                <a16:creationId xmlns:a16="http://schemas.microsoft.com/office/drawing/2014/main" id="{D8581A8E-0408-1EC1-7F43-50533DC76D84}"/>
              </a:ext>
            </a:extLst>
          </p:cNvPr>
          <p:cNvSpPr>
            <a:spLocks noGrp="1"/>
          </p:cNvSpPr>
          <p:nvPr>
            <p:ph type="sldNum" sz="quarter" idx="5"/>
          </p:nvPr>
        </p:nvSpPr>
        <p:spPr/>
        <p:txBody>
          <a:bodyPr/>
          <a:lstStyle/>
          <a:p>
            <a:fld id="{3B615917-8825-4C11-9D2C-C82340C4B4E7}" type="slidenum">
              <a:rPr lang="LID4096" smtClean="0"/>
              <a:t>22</a:t>
            </a:fld>
            <a:endParaRPr lang="LID4096"/>
          </a:p>
        </p:txBody>
      </p:sp>
    </p:spTree>
    <p:extLst>
      <p:ext uri="{BB962C8B-B14F-4D97-AF65-F5344CB8AC3E}">
        <p14:creationId xmlns:p14="http://schemas.microsoft.com/office/powerpoint/2010/main" val="3549103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03BFE-EDFA-0E5E-139E-C563171875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9DCD4D-FDBF-75A6-9566-7EF2A70E0C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4857A6-05C7-BF64-FE7A-1F23DB9C1724}"/>
              </a:ext>
            </a:extLst>
          </p:cNvPr>
          <p:cNvSpPr>
            <a:spLocks noGrp="1"/>
          </p:cNvSpPr>
          <p:nvPr>
            <p:ph type="body" idx="1"/>
          </p:nvPr>
        </p:nvSpPr>
        <p:spPr/>
        <p:txBody>
          <a:bodyPr/>
          <a:lstStyle/>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Различные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Data Mining характеризуются определенными свойствами, которые могут быть определяющими при выборе метода анализа данных. Методы можно сравнивать между собой, оценивая характеристики их свойств.</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Среди основных свойств и характеристик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методов</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Data Mining рассмотрим следующие: точность,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масштабируемость</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интерпретируемость, проверяемость, трудоемкость, гибкость, быстрота и популярность. </a:t>
            </a:r>
          </a:p>
          <a:p>
            <a:pPr marL="0" marR="0"/>
            <a:r>
              <a:rPr lang="ru-RU" sz="1800" b="1"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Масштабируемость</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 свойство вычислительной системы, которое обеспечивает предсказуемый рост системных характеристик, например, быстроты реакции, общей производительности и пр., при добавлении к ней вычислительных ресурсов.</a:t>
            </a:r>
          </a:p>
          <a:p>
            <a:r>
              <a:rPr lang="ru-RU" sz="1800" dirty="0">
                <a:effectLst/>
                <a:latin typeface="Times New Roman" panose="02020603050405020304" pitchFamily="18" charset="0"/>
                <a:ea typeface="Times New Roman" panose="02020603050405020304" pitchFamily="18" charset="0"/>
              </a:rPr>
              <a:t>В таблице приведена сравнительная характеристика некоторых распространенных </a:t>
            </a:r>
            <a:r>
              <a:rPr lang="ru-RU" sz="1800" i="1" dirty="0">
                <a:effectLst/>
                <a:latin typeface="Times New Roman" panose="02020603050405020304" pitchFamily="18" charset="0"/>
                <a:ea typeface="Times New Roman" panose="02020603050405020304" pitchFamily="18" charset="0"/>
              </a:rPr>
              <a:t>методов</a:t>
            </a:r>
            <a:r>
              <a:rPr lang="ru-RU" sz="1800" dirty="0">
                <a:effectLst/>
                <a:latin typeface="Times New Roman" panose="02020603050405020304" pitchFamily="18" charset="0"/>
                <a:ea typeface="Times New Roman" panose="02020603050405020304" pitchFamily="18" charset="0"/>
              </a:rPr>
              <a:t>. Оценка каждой из характеристик проведена следующими категориями, в порядке возрастания: чрезвычайно низкая, очень низкая, низкая/нейтральная, нейтральная/низкая, нейтральная, нейтральная/высокая, высокая, очень высокая.</a:t>
            </a:r>
            <a:endParaRPr lang="LID4096" dirty="0"/>
          </a:p>
        </p:txBody>
      </p:sp>
      <p:sp>
        <p:nvSpPr>
          <p:cNvPr id="4" name="Slide Number Placeholder 3">
            <a:extLst>
              <a:ext uri="{FF2B5EF4-FFF2-40B4-BE49-F238E27FC236}">
                <a16:creationId xmlns:a16="http://schemas.microsoft.com/office/drawing/2014/main" id="{E06196FF-1026-4298-D128-9924421508AE}"/>
              </a:ext>
            </a:extLst>
          </p:cNvPr>
          <p:cNvSpPr>
            <a:spLocks noGrp="1"/>
          </p:cNvSpPr>
          <p:nvPr>
            <p:ph type="sldNum" sz="quarter" idx="5"/>
          </p:nvPr>
        </p:nvSpPr>
        <p:spPr/>
        <p:txBody>
          <a:bodyPr/>
          <a:lstStyle/>
          <a:p>
            <a:fld id="{3B615917-8825-4C11-9D2C-C82340C4B4E7}" type="slidenum">
              <a:rPr lang="LID4096" smtClean="0"/>
              <a:t>23</a:t>
            </a:fld>
            <a:endParaRPr lang="LID4096"/>
          </a:p>
        </p:txBody>
      </p:sp>
    </p:spTree>
    <p:extLst>
      <p:ext uri="{BB962C8B-B14F-4D97-AF65-F5344CB8AC3E}">
        <p14:creationId xmlns:p14="http://schemas.microsoft.com/office/powerpoint/2010/main" val="7291068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403FD-EBA9-CCF7-A2AA-82DF11E0EA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424CBE-0323-A69D-7F12-8BCC6BA8A0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7A1AA4-F0BE-FABB-9D3C-AACEF56EFF18}"/>
              </a:ext>
            </a:extLst>
          </p:cNvPr>
          <p:cNvSpPr>
            <a:spLocks noGrp="1"/>
          </p:cNvSpPr>
          <p:nvPr>
            <p:ph type="body" idx="1"/>
          </p:nvPr>
        </p:nvSpPr>
        <p:spPr/>
        <p:txBody>
          <a:bodyPr/>
          <a:lstStyle/>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Как видно из этой таблицы, каждый из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методов</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имеет свои сильные и слабые стороны. Но ни один метод, какой бы не была его оценка с точки зрения присущих ему характеристик, не может обеспечить решение всего спектра задач Data Mining.</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Большинство инструментов Data Mining, предлагаемых сейчас на рынке программного обеспечения, реализуют сразу несколько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методов</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например, деревья решений, индукцию правил и визуализацию, или же нейронные сети, самоорганизующиеся карты Кохонена и визуализацию. </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 универсальных прикладных статистических пакетах (например, SPSS, SAS, STATGRAPICS, </a:t>
            </a:r>
            <a:r>
              <a:rPr lang="ru-RU"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Statistica</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др.) реализуется широкий спектр разнообразнейших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методов</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(как статистических, так и кибернетических). Следует учитывать, что для возможности их использования, а также для интерпретации результатов работы статистических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методов</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(корреляционного, регрессионного, факторного, дисперсионного анализа и др.) требуются специальные знания в области статистики.</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Универсальность того или иного инструмента часто накладывает определенные ограничения на его возможности. Преимуществом использования таких универсальных пакетов является возможность относительно легко сравнивать результаты построенных моделей, полученные различными методами. Такая возможность позволяет получить так называемую "конкурентную оценку моделей". Эта оценка состоит в применении различных моделей к одному и тому же набору данных и последующем сравнении их характеристик для выбора наилучшей из них.</a:t>
            </a:r>
          </a:p>
          <a:p>
            <a:pPr marL="0" marR="0"/>
            <a:endParaRPr lang="LID4096" dirty="0"/>
          </a:p>
        </p:txBody>
      </p:sp>
      <p:sp>
        <p:nvSpPr>
          <p:cNvPr id="4" name="Slide Number Placeholder 3">
            <a:extLst>
              <a:ext uri="{FF2B5EF4-FFF2-40B4-BE49-F238E27FC236}">
                <a16:creationId xmlns:a16="http://schemas.microsoft.com/office/drawing/2014/main" id="{E6C20640-46D9-AA2A-9984-2AB4E2C1A305}"/>
              </a:ext>
            </a:extLst>
          </p:cNvPr>
          <p:cNvSpPr>
            <a:spLocks noGrp="1"/>
          </p:cNvSpPr>
          <p:nvPr>
            <p:ph type="sldNum" sz="quarter" idx="5"/>
          </p:nvPr>
        </p:nvSpPr>
        <p:spPr/>
        <p:txBody>
          <a:bodyPr/>
          <a:lstStyle/>
          <a:p>
            <a:fld id="{3B615917-8825-4C11-9D2C-C82340C4B4E7}" type="slidenum">
              <a:rPr lang="LID4096" smtClean="0"/>
              <a:t>24</a:t>
            </a:fld>
            <a:endParaRPr lang="LID4096"/>
          </a:p>
        </p:txBody>
      </p:sp>
    </p:spTree>
    <p:extLst>
      <p:ext uri="{BB962C8B-B14F-4D97-AF65-F5344CB8AC3E}">
        <p14:creationId xmlns:p14="http://schemas.microsoft.com/office/powerpoint/2010/main" val="26893550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9585E-4FEB-4256-CFE3-9589D9588CF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LID4096"/>
          </a:p>
        </p:txBody>
      </p:sp>
      <p:sp>
        <p:nvSpPr>
          <p:cNvPr id="3" name="Subtitle 2">
            <a:extLst>
              <a:ext uri="{FF2B5EF4-FFF2-40B4-BE49-F238E27FC236}">
                <a16:creationId xmlns:a16="http://schemas.microsoft.com/office/drawing/2014/main" id="{3B4AB03D-4C0F-A31D-CAC7-16C3809CC5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LID4096"/>
          </a:p>
        </p:txBody>
      </p:sp>
      <p:sp>
        <p:nvSpPr>
          <p:cNvPr id="4" name="Date Placeholder 3">
            <a:extLst>
              <a:ext uri="{FF2B5EF4-FFF2-40B4-BE49-F238E27FC236}">
                <a16:creationId xmlns:a16="http://schemas.microsoft.com/office/drawing/2014/main" id="{3DFCE928-CADC-7C04-F826-9ACD6400E1A5}"/>
              </a:ext>
            </a:extLst>
          </p:cNvPr>
          <p:cNvSpPr>
            <a:spLocks noGrp="1"/>
          </p:cNvSpPr>
          <p:nvPr>
            <p:ph type="dt" sz="half" idx="10"/>
          </p:nvPr>
        </p:nvSpPr>
        <p:spPr/>
        <p:txBody>
          <a:bodyPr/>
          <a:lstStyle/>
          <a:p>
            <a:fld id="{88D38747-4367-4BD2-8D51-C97E202738E2}" type="datetime1">
              <a:rPr lang="en-US" smtClean="0"/>
              <a:t>4/10/2025</a:t>
            </a:fld>
            <a:endParaRPr lang="en-US" dirty="0"/>
          </a:p>
        </p:txBody>
      </p:sp>
      <p:sp>
        <p:nvSpPr>
          <p:cNvPr id="5" name="Footer Placeholder 4">
            <a:extLst>
              <a:ext uri="{FF2B5EF4-FFF2-40B4-BE49-F238E27FC236}">
                <a16:creationId xmlns:a16="http://schemas.microsoft.com/office/drawing/2014/main" id="{7CD70ED9-5856-A446-7229-B32643D91FC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099E500-425B-057C-F612-79A55D7883B6}"/>
              </a:ext>
            </a:extLst>
          </p:cNvPr>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525072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31DD8-AC17-A5C4-DC8A-3A1A20541470}"/>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0574509D-300C-F422-E8CC-492AE49C32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9EB9E1ED-E74F-3DC4-6889-BD356C05AB02}"/>
              </a:ext>
            </a:extLst>
          </p:cNvPr>
          <p:cNvSpPr>
            <a:spLocks noGrp="1"/>
          </p:cNvSpPr>
          <p:nvPr>
            <p:ph type="dt" sz="half" idx="10"/>
          </p:nvPr>
        </p:nvSpPr>
        <p:spPr/>
        <p:txBody>
          <a:bodyPr/>
          <a:lstStyle/>
          <a:p>
            <a:fld id="{73C55A3C-5767-4844-A0A3-83778C2E5409}" type="datetime1">
              <a:rPr lang="en-US" smtClean="0"/>
              <a:t>4/10/2025</a:t>
            </a:fld>
            <a:endParaRPr lang="en-US" dirty="0"/>
          </a:p>
        </p:txBody>
      </p:sp>
      <p:sp>
        <p:nvSpPr>
          <p:cNvPr id="5" name="Footer Placeholder 4">
            <a:extLst>
              <a:ext uri="{FF2B5EF4-FFF2-40B4-BE49-F238E27FC236}">
                <a16:creationId xmlns:a16="http://schemas.microsoft.com/office/drawing/2014/main" id="{666CEA5A-FCBF-3BF5-0F64-F937C5F911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87A109D-9B73-4831-F494-7CEB6F5FF914}"/>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54206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F0624-F093-1691-1B63-6BF5DD826E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LID4096"/>
          </a:p>
        </p:txBody>
      </p:sp>
      <p:sp>
        <p:nvSpPr>
          <p:cNvPr id="3" name="Text Placeholder 2">
            <a:extLst>
              <a:ext uri="{FF2B5EF4-FFF2-40B4-BE49-F238E27FC236}">
                <a16:creationId xmlns:a16="http://schemas.microsoft.com/office/drawing/2014/main" id="{9EB26D71-12FD-5A5F-151B-8A50756EAF0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E58A94B-0DD6-19F6-4CB0-871698BC3D5E}"/>
              </a:ext>
            </a:extLst>
          </p:cNvPr>
          <p:cNvSpPr>
            <a:spLocks noGrp="1"/>
          </p:cNvSpPr>
          <p:nvPr>
            <p:ph type="dt" sz="half" idx="10"/>
          </p:nvPr>
        </p:nvSpPr>
        <p:spPr/>
        <p:txBody>
          <a:bodyPr/>
          <a:lstStyle/>
          <a:p>
            <a:fld id="{CAE507A8-A5CF-4D38-AB86-7EDDA87A85D4}" type="datetime1">
              <a:rPr lang="en-US" smtClean="0"/>
              <a:t>4/10/2025</a:t>
            </a:fld>
            <a:endParaRPr lang="en-US" dirty="0"/>
          </a:p>
        </p:txBody>
      </p:sp>
      <p:sp>
        <p:nvSpPr>
          <p:cNvPr id="5" name="Footer Placeholder 4">
            <a:extLst>
              <a:ext uri="{FF2B5EF4-FFF2-40B4-BE49-F238E27FC236}">
                <a16:creationId xmlns:a16="http://schemas.microsoft.com/office/drawing/2014/main" id="{BD2E7D1F-58E3-6665-F857-559472D2A9D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5C6B672-6734-6E36-FF1C-7AAD351F2FB9}"/>
              </a:ext>
            </a:extLst>
          </p:cNvPr>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237688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17834-2FD0-2DA9-ECAC-AB5603E6618D}"/>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5BD52CE9-A90B-145C-E692-31CE3B77D4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Content Placeholder 3">
            <a:extLst>
              <a:ext uri="{FF2B5EF4-FFF2-40B4-BE49-F238E27FC236}">
                <a16:creationId xmlns:a16="http://schemas.microsoft.com/office/drawing/2014/main" id="{CDA98E02-27F6-E4A4-C6BA-E603645E08B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Date Placeholder 4">
            <a:extLst>
              <a:ext uri="{FF2B5EF4-FFF2-40B4-BE49-F238E27FC236}">
                <a16:creationId xmlns:a16="http://schemas.microsoft.com/office/drawing/2014/main" id="{5F272A9B-FA1D-CE7A-5CDE-1DA080B31031}"/>
              </a:ext>
            </a:extLst>
          </p:cNvPr>
          <p:cNvSpPr>
            <a:spLocks noGrp="1"/>
          </p:cNvSpPr>
          <p:nvPr>
            <p:ph type="dt" sz="half" idx="10"/>
          </p:nvPr>
        </p:nvSpPr>
        <p:spPr/>
        <p:txBody>
          <a:bodyPr/>
          <a:lstStyle/>
          <a:p>
            <a:fld id="{BDFCD27C-8599-43EF-BA1D-14DDC1946E06}" type="datetime1">
              <a:rPr lang="en-US" smtClean="0"/>
              <a:t>4/10/2025</a:t>
            </a:fld>
            <a:endParaRPr lang="en-US" dirty="0"/>
          </a:p>
        </p:txBody>
      </p:sp>
      <p:sp>
        <p:nvSpPr>
          <p:cNvPr id="6" name="Footer Placeholder 5">
            <a:extLst>
              <a:ext uri="{FF2B5EF4-FFF2-40B4-BE49-F238E27FC236}">
                <a16:creationId xmlns:a16="http://schemas.microsoft.com/office/drawing/2014/main" id="{35731A3B-4E5F-8F72-1A11-C16A193FE9B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52F3359-5032-5B1B-F97C-2CD628D3039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09552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1D544-1E09-D1F5-4CEF-0569D101790B}"/>
              </a:ext>
            </a:extLst>
          </p:cNvPr>
          <p:cNvSpPr>
            <a:spLocks noGrp="1"/>
          </p:cNvSpPr>
          <p:nvPr>
            <p:ph type="title"/>
          </p:nvPr>
        </p:nvSpPr>
        <p:spPr>
          <a:xfrm>
            <a:off x="839788" y="365125"/>
            <a:ext cx="10515600" cy="1325563"/>
          </a:xfrm>
        </p:spPr>
        <p:txBody>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0551C6D9-D64A-07FA-6FC4-F416F3878F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BDD94A-3F5D-59A8-6683-4766C278D8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Text Placeholder 4">
            <a:extLst>
              <a:ext uri="{FF2B5EF4-FFF2-40B4-BE49-F238E27FC236}">
                <a16:creationId xmlns:a16="http://schemas.microsoft.com/office/drawing/2014/main" id="{02A44B8E-321B-185A-FA52-46530BA239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835322-5E6E-4D15-41EA-37BD74B68F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7" name="Date Placeholder 6">
            <a:extLst>
              <a:ext uri="{FF2B5EF4-FFF2-40B4-BE49-F238E27FC236}">
                <a16:creationId xmlns:a16="http://schemas.microsoft.com/office/drawing/2014/main" id="{EBAABE85-7EBB-DEC1-E565-02AC5B284014}"/>
              </a:ext>
            </a:extLst>
          </p:cNvPr>
          <p:cNvSpPr>
            <a:spLocks noGrp="1"/>
          </p:cNvSpPr>
          <p:nvPr>
            <p:ph type="dt" sz="half" idx="10"/>
          </p:nvPr>
        </p:nvSpPr>
        <p:spPr/>
        <p:txBody>
          <a:bodyPr/>
          <a:lstStyle/>
          <a:p>
            <a:fld id="{49343D99-809A-49C0-96E5-4250D0B498EE}" type="datetime1">
              <a:rPr lang="en-US" smtClean="0"/>
              <a:t>4/10/2025</a:t>
            </a:fld>
            <a:endParaRPr lang="en-US" dirty="0"/>
          </a:p>
        </p:txBody>
      </p:sp>
      <p:sp>
        <p:nvSpPr>
          <p:cNvPr id="8" name="Footer Placeholder 7">
            <a:extLst>
              <a:ext uri="{FF2B5EF4-FFF2-40B4-BE49-F238E27FC236}">
                <a16:creationId xmlns:a16="http://schemas.microsoft.com/office/drawing/2014/main" id="{E2D8AE5B-7F43-B92D-D3DA-8162FFA1B810}"/>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F9479B4-2D8F-16E0-95C4-0B243E465B5E}"/>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704488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87751-D972-237E-9A45-2F4229D22906}"/>
              </a:ext>
            </a:extLst>
          </p:cNvPr>
          <p:cNvSpPr>
            <a:spLocks noGrp="1"/>
          </p:cNvSpPr>
          <p:nvPr>
            <p:ph type="title"/>
          </p:nvPr>
        </p:nvSpPr>
        <p:spPr/>
        <p:txBody>
          <a:bodyPr/>
          <a:lstStyle/>
          <a:p>
            <a:r>
              <a:rPr lang="en-US"/>
              <a:t>Click to edit Master title style</a:t>
            </a:r>
            <a:endParaRPr lang="LID4096"/>
          </a:p>
        </p:txBody>
      </p:sp>
      <p:sp>
        <p:nvSpPr>
          <p:cNvPr id="3" name="Date Placeholder 2">
            <a:extLst>
              <a:ext uri="{FF2B5EF4-FFF2-40B4-BE49-F238E27FC236}">
                <a16:creationId xmlns:a16="http://schemas.microsoft.com/office/drawing/2014/main" id="{75FB84B1-3E71-103A-24F3-90F95BA17C0B}"/>
              </a:ext>
            </a:extLst>
          </p:cNvPr>
          <p:cNvSpPr>
            <a:spLocks noGrp="1"/>
          </p:cNvSpPr>
          <p:nvPr>
            <p:ph type="dt" sz="half" idx="10"/>
          </p:nvPr>
        </p:nvSpPr>
        <p:spPr/>
        <p:txBody>
          <a:bodyPr/>
          <a:lstStyle/>
          <a:p>
            <a:fld id="{A143DE9B-B678-4EFB-BB7D-A4370204A0B0}" type="datetime1">
              <a:rPr lang="en-US" smtClean="0"/>
              <a:t>4/10/2025</a:t>
            </a:fld>
            <a:endParaRPr lang="en-US" dirty="0"/>
          </a:p>
        </p:txBody>
      </p:sp>
      <p:sp>
        <p:nvSpPr>
          <p:cNvPr id="4" name="Footer Placeholder 3">
            <a:extLst>
              <a:ext uri="{FF2B5EF4-FFF2-40B4-BE49-F238E27FC236}">
                <a16:creationId xmlns:a16="http://schemas.microsoft.com/office/drawing/2014/main" id="{04E947BB-8C48-C912-4160-E82CD50DEFE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75B279BB-044E-6FA4-ECE3-148243B7B6A6}"/>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446060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839B6A-E344-5C0B-BBAB-962FA99DE369}"/>
              </a:ext>
            </a:extLst>
          </p:cNvPr>
          <p:cNvSpPr>
            <a:spLocks noGrp="1"/>
          </p:cNvSpPr>
          <p:nvPr>
            <p:ph type="dt" sz="half" idx="10"/>
          </p:nvPr>
        </p:nvSpPr>
        <p:spPr/>
        <p:txBody>
          <a:bodyPr/>
          <a:lstStyle/>
          <a:p>
            <a:fld id="{E68812DA-F765-4142-A6A3-A8ED7235E082}" type="datetime1">
              <a:rPr lang="en-US" smtClean="0"/>
              <a:t>4/10/2025</a:t>
            </a:fld>
            <a:endParaRPr lang="en-US" dirty="0"/>
          </a:p>
        </p:txBody>
      </p:sp>
      <p:sp>
        <p:nvSpPr>
          <p:cNvPr id="3" name="Footer Placeholder 2">
            <a:extLst>
              <a:ext uri="{FF2B5EF4-FFF2-40B4-BE49-F238E27FC236}">
                <a16:creationId xmlns:a16="http://schemas.microsoft.com/office/drawing/2014/main" id="{AE083FF4-A3BF-471D-4823-D04E2BDFD46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F1FCE28D-8218-F8CE-DAE8-1CE260C08DF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284005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D615C-3643-7E6B-4AEB-E3E96FD515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Content Placeholder 2">
            <a:extLst>
              <a:ext uri="{FF2B5EF4-FFF2-40B4-BE49-F238E27FC236}">
                <a16:creationId xmlns:a16="http://schemas.microsoft.com/office/drawing/2014/main" id="{08F9A298-8AE7-D9B2-314E-B81629F7F7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Text Placeholder 3">
            <a:extLst>
              <a:ext uri="{FF2B5EF4-FFF2-40B4-BE49-F238E27FC236}">
                <a16:creationId xmlns:a16="http://schemas.microsoft.com/office/drawing/2014/main" id="{08470A29-A638-8A78-1220-1420E54CC2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01A2FD-632A-FCF0-CFF7-4AFBBD0D61AC}"/>
              </a:ext>
            </a:extLst>
          </p:cNvPr>
          <p:cNvSpPr>
            <a:spLocks noGrp="1"/>
          </p:cNvSpPr>
          <p:nvPr>
            <p:ph type="dt" sz="half" idx="10"/>
          </p:nvPr>
        </p:nvSpPr>
        <p:spPr/>
        <p:txBody>
          <a:bodyPr/>
          <a:lstStyle/>
          <a:p>
            <a:fld id="{3E0277FD-7DE6-41D4-930D-AC99F5AFE54E}" type="datetime1">
              <a:rPr lang="en-US" smtClean="0"/>
              <a:t>4/10/2025</a:t>
            </a:fld>
            <a:endParaRPr lang="en-US" dirty="0"/>
          </a:p>
        </p:txBody>
      </p:sp>
      <p:sp>
        <p:nvSpPr>
          <p:cNvPr id="6" name="Footer Placeholder 5">
            <a:extLst>
              <a:ext uri="{FF2B5EF4-FFF2-40B4-BE49-F238E27FC236}">
                <a16:creationId xmlns:a16="http://schemas.microsoft.com/office/drawing/2014/main" id="{401C9B20-7DFD-CFB7-A9A7-E6447924550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93E9245-BD02-B58E-1FA5-81571D187AAF}"/>
              </a:ext>
            </a:extLst>
          </p:cNvPr>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249526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ABC07-1CA5-2050-18D0-C8DD52050B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Picture Placeholder 2">
            <a:extLst>
              <a:ext uri="{FF2B5EF4-FFF2-40B4-BE49-F238E27FC236}">
                <a16:creationId xmlns:a16="http://schemas.microsoft.com/office/drawing/2014/main" id="{048F8B63-200C-4FBC-2054-8C97255D96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Text Placeholder 3">
            <a:extLst>
              <a:ext uri="{FF2B5EF4-FFF2-40B4-BE49-F238E27FC236}">
                <a16:creationId xmlns:a16="http://schemas.microsoft.com/office/drawing/2014/main" id="{F8F30FD9-265A-179E-47CC-0692EB775B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6A4517-ACE5-C20D-506F-ECC64E7FCA81}"/>
              </a:ext>
            </a:extLst>
          </p:cNvPr>
          <p:cNvSpPr>
            <a:spLocks noGrp="1"/>
          </p:cNvSpPr>
          <p:nvPr>
            <p:ph type="dt" sz="half" idx="10"/>
          </p:nvPr>
        </p:nvSpPr>
        <p:spPr/>
        <p:txBody>
          <a:bodyPr/>
          <a:lstStyle/>
          <a:p>
            <a:fld id="{9EA15526-7079-4B7B-987C-1B5FAE11A0FF}" type="datetime1">
              <a:rPr lang="en-US" smtClean="0"/>
              <a:t>4/10/2025</a:t>
            </a:fld>
            <a:endParaRPr lang="en-US" dirty="0"/>
          </a:p>
        </p:txBody>
      </p:sp>
      <p:sp>
        <p:nvSpPr>
          <p:cNvPr id="6" name="Footer Placeholder 5">
            <a:extLst>
              <a:ext uri="{FF2B5EF4-FFF2-40B4-BE49-F238E27FC236}">
                <a16:creationId xmlns:a16="http://schemas.microsoft.com/office/drawing/2014/main" id="{B09876ED-ED18-EAA7-5301-03F84F959267}"/>
              </a:ext>
            </a:extLst>
          </p:cNvPr>
          <p:cNvSpPr>
            <a:spLocks noGrp="1"/>
          </p:cNvSpPr>
          <p:nvPr>
            <p:ph type="ftr" sz="quarter" idx="11"/>
          </p:nvPr>
        </p:nvSpPr>
        <p:spPr/>
        <p:txBody>
          <a:bodyPr/>
          <a:lstStyle/>
          <a:p>
            <a:pPr algn="l"/>
            <a:endParaRPr lang="en-US" dirty="0"/>
          </a:p>
        </p:txBody>
      </p:sp>
      <p:sp>
        <p:nvSpPr>
          <p:cNvPr id="7" name="Slide Number Placeholder 6">
            <a:extLst>
              <a:ext uri="{FF2B5EF4-FFF2-40B4-BE49-F238E27FC236}">
                <a16:creationId xmlns:a16="http://schemas.microsoft.com/office/drawing/2014/main" id="{9B36D671-316B-11E5-1586-F3D4AD38F34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340591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EC718-6881-DD08-160A-25D605501F9B}"/>
              </a:ext>
            </a:extLst>
          </p:cNvPr>
          <p:cNvSpPr>
            <a:spLocks noGrp="1"/>
          </p:cNvSpPr>
          <p:nvPr>
            <p:ph type="title"/>
          </p:nvPr>
        </p:nvSpPr>
        <p:spPr/>
        <p:txBody>
          <a:bodyPr/>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CEA1CBE3-BCA9-2AB3-CCB7-71D2E8DD98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FFCD1952-6952-78B9-31C7-30CF67DBE107}"/>
              </a:ext>
            </a:extLst>
          </p:cNvPr>
          <p:cNvSpPr>
            <a:spLocks noGrp="1"/>
          </p:cNvSpPr>
          <p:nvPr>
            <p:ph type="dt" sz="half" idx="10"/>
          </p:nvPr>
        </p:nvSpPr>
        <p:spPr/>
        <p:txBody>
          <a:bodyPr/>
          <a:lstStyle/>
          <a:p>
            <a:fld id="{073ED0CC-082F-4160-86E5-0D6041F12778}" type="datetime1">
              <a:rPr lang="en-US" smtClean="0"/>
              <a:t>4/10/2025</a:t>
            </a:fld>
            <a:endParaRPr lang="en-US" dirty="0"/>
          </a:p>
        </p:txBody>
      </p:sp>
      <p:sp>
        <p:nvSpPr>
          <p:cNvPr id="5" name="Footer Placeholder 4">
            <a:extLst>
              <a:ext uri="{FF2B5EF4-FFF2-40B4-BE49-F238E27FC236}">
                <a16:creationId xmlns:a16="http://schemas.microsoft.com/office/drawing/2014/main" id="{0E657E76-F82E-75C3-4556-AAA9A5334B3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25471DA-3152-4BBE-16F7-DF08D65C90FA}"/>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2578240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D08075-2C2B-5452-4830-547E405B6F3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1A39AFA0-68B8-1D1D-D327-A362FDD27C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DDC259B6-B220-F819-C6CD-DB253DEA2911}"/>
              </a:ext>
            </a:extLst>
          </p:cNvPr>
          <p:cNvSpPr>
            <a:spLocks noGrp="1"/>
          </p:cNvSpPr>
          <p:nvPr>
            <p:ph type="dt" sz="half" idx="10"/>
          </p:nvPr>
        </p:nvSpPr>
        <p:spPr/>
        <p:txBody>
          <a:bodyPr/>
          <a:lstStyle/>
          <a:p>
            <a:fld id="{073ED0CC-082F-4160-86E5-0D6041F12778}" type="datetime1">
              <a:rPr lang="en-US" smtClean="0"/>
              <a:t>4/10/2025</a:t>
            </a:fld>
            <a:endParaRPr lang="en-US" dirty="0"/>
          </a:p>
        </p:txBody>
      </p:sp>
      <p:sp>
        <p:nvSpPr>
          <p:cNvPr id="5" name="Footer Placeholder 4">
            <a:extLst>
              <a:ext uri="{FF2B5EF4-FFF2-40B4-BE49-F238E27FC236}">
                <a16:creationId xmlns:a16="http://schemas.microsoft.com/office/drawing/2014/main" id="{44E49A06-06AE-C8B0-8E15-FDE3D88014F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348CBBF-BBC9-752C-C5B3-78509ED2681B}"/>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81464873"/>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B70B52-852D-B172-1C90-7340183C47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1565D691-5248-F160-B3AE-F755F272CE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0F78DA69-2975-4698-6E3E-B108566EF6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3ED0CC-082F-4160-86E5-0D6041F12778}" type="datetime1">
              <a:rPr lang="en-US" smtClean="0"/>
              <a:t>4/10/2025</a:t>
            </a:fld>
            <a:endParaRPr lang="en-US" dirty="0"/>
          </a:p>
        </p:txBody>
      </p:sp>
      <p:sp>
        <p:nvSpPr>
          <p:cNvPr id="5" name="Footer Placeholder 4">
            <a:extLst>
              <a:ext uri="{FF2B5EF4-FFF2-40B4-BE49-F238E27FC236}">
                <a16:creationId xmlns:a16="http://schemas.microsoft.com/office/drawing/2014/main" id="{FCF4C229-3E95-5173-BA5F-99A869AEF8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2CE5FAD2-6F44-FF92-942B-BB59884051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2499967750"/>
      </p:ext>
    </p:extLst>
  </p:cSld>
  <p:clrMap bg1="lt1" tx1="dk1" bg2="lt2" tx2="dk2" accent1="accent1" accent2="accent2" accent3="accent3" accent4="accent4" accent5="accent5" accent6="accent6" hlink="hlink" folHlink="folHlink"/>
  <p:sldLayoutIdLst>
    <p:sldLayoutId id="2147483968" r:id="rId1"/>
    <p:sldLayoutId id="2147483969" r:id="rId2"/>
    <p:sldLayoutId id="2147483970" r:id="rId3"/>
    <p:sldLayoutId id="2147483971" r:id="rId4"/>
    <p:sldLayoutId id="2147483972" r:id="rId5"/>
    <p:sldLayoutId id="2147483973" r:id="rId6"/>
    <p:sldLayoutId id="2147483974" r:id="rId7"/>
    <p:sldLayoutId id="2147483975" r:id="rId8"/>
    <p:sldLayoutId id="2147483976" r:id="rId9"/>
    <p:sldLayoutId id="2147483977" r:id="rId10"/>
    <p:sldLayoutId id="2147483978"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picture containing large, sitting, white, numbers">
            <a:extLst>
              <a:ext uri="{FF2B5EF4-FFF2-40B4-BE49-F238E27FC236}">
                <a16:creationId xmlns:a16="http://schemas.microsoft.com/office/drawing/2014/main" id="{9A5D9ED1-DFCC-4799-89E2-D118451B98DF}"/>
              </a:ext>
            </a:extLst>
          </p:cNvPr>
          <p:cNvPicPr>
            <a:picLocks noChangeAspect="1"/>
          </p:cNvPicPr>
          <p:nvPr/>
        </p:nvPicPr>
        <p:blipFill rotWithShape="1">
          <a:blip r:embed="rId2">
            <a:extLst>
              <a:ext uri="{28A0092B-C50C-407E-A947-70E740481C1C}">
                <a14:useLocalDpi xmlns:a14="http://schemas.microsoft.com/office/drawing/2010/main" val="0"/>
              </a:ext>
            </a:extLst>
          </a:blip>
          <a:srcRect l="3288" r="17401"/>
          <a:stretch/>
        </p:blipFill>
        <p:spPr>
          <a:xfrm>
            <a:off x="2519309" y="10"/>
            <a:ext cx="9669642" cy="6857990"/>
          </a:xfrm>
          <a:prstGeom prst="rect">
            <a:avLst/>
          </a:prstGeom>
        </p:spPr>
      </p:pic>
      <p:sp>
        <p:nvSpPr>
          <p:cNvPr id="26" name="Rectangle 25">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DB93FB3F-A8D4-46D3-A1C6-C79C64563729}"/>
              </a:ext>
            </a:extLst>
          </p:cNvPr>
          <p:cNvSpPr>
            <a:spLocks noGrp="1"/>
          </p:cNvSpPr>
          <p:nvPr>
            <p:ph type="subTitle" idx="1"/>
          </p:nvPr>
        </p:nvSpPr>
        <p:spPr>
          <a:xfrm>
            <a:off x="952227" y="4988560"/>
            <a:ext cx="3973386" cy="1125993"/>
          </a:xfrm>
          <a:noFill/>
        </p:spPr>
        <p:txBody>
          <a:bodyPr>
            <a:normAutofit/>
          </a:bodyPr>
          <a:lstStyle/>
          <a:p>
            <a:pPr algn="l"/>
            <a:r>
              <a:rPr lang="en-US" dirty="0"/>
              <a:t>prof. Tatyana Petrushina</a:t>
            </a:r>
          </a:p>
          <a:p>
            <a:pPr algn="l"/>
            <a:r>
              <a:rPr lang="en-US" dirty="0"/>
              <a:t>202</a:t>
            </a:r>
            <a:r>
              <a:rPr lang="ru-RU" dirty="0"/>
              <a:t>4</a:t>
            </a:r>
            <a:r>
              <a:rPr lang="en-US" dirty="0"/>
              <a:t>-202</a:t>
            </a:r>
            <a:r>
              <a:rPr lang="ru-RU" dirty="0"/>
              <a:t>5</a:t>
            </a:r>
            <a:endParaRPr lang="en-US" dirty="0"/>
          </a:p>
        </p:txBody>
      </p:sp>
      <p:sp>
        <p:nvSpPr>
          <p:cNvPr id="4" name="Text Box 6">
            <a:extLst>
              <a:ext uri="{FF2B5EF4-FFF2-40B4-BE49-F238E27FC236}">
                <a16:creationId xmlns:a16="http://schemas.microsoft.com/office/drawing/2014/main" id="{F6B07DD9-EEAF-A4E1-A464-BDB22E16B24F}"/>
              </a:ext>
            </a:extLst>
          </p:cNvPr>
          <p:cNvSpPr txBox="1">
            <a:spLocks noChangeArrowheads="1"/>
          </p:cNvSpPr>
          <p:nvPr/>
        </p:nvSpPr>
        <p:spPr bwMode="auto">
          <a:xfrm>
            <a:off x="3195873" y="6329501"/>
            <a:ext cx="612140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fontAlgn="base">
              <a:spcBef>
                <a:spcPct val="50000"/>
              </a:spcBef>
              <a:spcAft>
                <a:spcPct val="0"/>
              </a:spcAft>
              <a:buFontTx/>
              <a:buNone/>
            </a:pPr>
            <a:r>
              <a:rPr lang="en-US" altLang="ru-RU" sz="1600" b="1" dirty="0">
                <a:solidFill>
                  <a:srgbClr val="1F497D"/>
                </a:solidFill>
                <a:cs typeface="Arial" panose="020B0604020202020204" pitchFamily="34" charset="0"/>
              </a:rPr>
              <a:t>Odesa I. I. </a:t>
            </a:r>
            <a:r>
              <a:rPr lang="en-US" altLang="ru-RU" sz="1600" b="1" dirty="0" err="1">
                <a:solidFill>
                  <a:srgbClr val="1F497D"/>
                </a:solidFill>
                <a:cs typeface="Arial" panose="020B0604020202020204" pitchFamily="34" charset="0"/>
              </a:rPr>
              <a:t>Mechnikov</a:t>
            </a:r>
            <a:r>
              <a:rPr lang="en-US" altLang="ru-RU" sz="1600" b="1" dirty="0">
                <a:solidFill>
                  <a:srgbClr val="1F497D"/>
                </a:solidFill>
                <a:cs typeface="Arial" panose="020B0604020202020204" pitchFamily="34" charset="0"/>
              </a:rPr>
              <a:t> National University</a:t>
            </a:r>
            <a:endParaRPr lang="ru-RU" altLang="ru-RU" sz="1600" b="1" dirty="0">
              <a:solidFill>
                <a:srgbClr val="1F497D"/>
              </a:solidFill>
              <a:cs typeface="Arial" panose="020B0604020202020204" pitchFamily="34" charset="0"/>
            </a:endParaRPr>
          </a:p>
        </p:txBody>
      </p:sp>
      <p:sp>
        <p:nvSpPr>
          <p:cNvPr id="10" name="Title 9">
            <a:extLst>
              <a:ext uri="{FF2B5EF4-FFF2-40B4-BE49-F238E27FC236}">
                <a16:creationId xmlns:a16="http://schemas.microsoft.com/office/drawing/2014/main" id="{79CAD4ED-813A-1542-FC7C-70F3E777D22A}"/>
              </a:ext>
            </a:extLst>
          </p:cNvPr>
          <p:cNvSpPr>
            <a:spLocks noGrp="1"/>
          </p:cNvSpPr>
          <p:nvPr>
            <p:ph type="ctrTitle"/>
          </p:nvPr>
        </p:nvSpPr>
        <p:spPr>
          <a:xfrm>
            <a:off x="0" y="604436"/>
            <a:ext cx="6004560" cy="2560319"/>
          </a:xfrm>
        </p:spPr>
        <p:txBody>
          <a:bodyPr>
            <a:normAutofit/>
          </a:bodyPr>
          <a:lstStyle/>
          <a:p>
            <a:r>
              <a:rPr lang="ru-RU" sz="5400" b="1" dirty="0"/>
              <a:t>Интеллектуальный анализ данных</a:t>
            </a:r>
            <a:br>
              <a:rPr lang="en-US" sz="5400" b="1" dirty="0"/>
            </a:br>
            <a:r>
              <a:rPr lang="ru-RU" sz="5400" b="1" dirty="0"/>
              <a:t> </a:t>
            </a:r>
            <a:r>
              <a:rPr lang="en-US" sz="5400" b="1" dirty="0"/>
              <a:t>Data Mining</a:t>
            </a:r>
            <a:endParaRPr lang="LID4096" sz="5400" b="1" dirty="0"/>
          </a:p>
        </p:txBody>
      </p:sp>
      <p:sp>
        <p:nvSpPr>
          <p:cNvPr id="12" name="TextBox 11">
            <a:extLst>
              <a:ext uri="{FF2B5EF4-FFF2-40B4-BE49-F238E27FC236}">
                <a16:creationId xmlns:a16="http://schemas.microsoft.com/office/drawing/2014/main" id="{A2D5CC7E-8C57-4CF5-E5DA-F6E4D6E90DF4}"/>
              </a:ext>
            </a:extLst>
          </p:cNvPr>
          <p:cNvSpPr txBox="1"/>
          <p:nvPr/>
        </p:nvSpPr>
        <p:spPr>
          <a:xfrm>
            <a:off x="552543" y="3460194"/>
            <a:ext cx="6004561" cy="369332"/>
          </a:xfrm>
          <a:prstGeom prst="rect">
            <a:avLst/>
          </a:prstGeom>
          <a:noFill/>
        </p:spPr>
        <p:txBody>
          <a:bodyPr wrap="square">
            <a:spAutoFit/>
          </a:bodyPr>
          <a:lstStyle/>
          <a:p>
            <a:r>
              <a:rPr lang="ru-RU" sz="1800" b="1" dirty="0"/>
              <a:t>Умные методы получения паттернов данных</a:t>
            </a:r>
            <a:r>
              <a:rPr lang="en-US" sz="1800" b="1" dirty="0">
                <a:solidFill>
                  <a:schemeClr val="tx2"/>
                </a:solidFill>
              </a:rPr>
              <a:t> </a:t>
            </a:r>
            <a:endParaRPr lang="LID4096" dirty="0"/>
          </a:p>
        </p:txBody>
      </p:sp>
    </p:spTree>
    <p:extLst>
      <p:ext uri="{BB962C8B-B14F-4D97-AF65-F5344CB8AC3E}">
        <p14:creationId xmlns:p14="http://schemas.microsoft.com/office/powerpoint/2010/main" val="15831201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4"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86" name="Rectangle 85">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71F205-E8A9-4237-8AD2-ABD9BF694F3E}"/>
              </a:ext>
            </a:extLst>
          </p:cNvPr>
          <p:cNvSpPr>
            <a:spLocks noGrp="1"/>
          </p:cNvSpPr>
          <p:nvPr>
            <p:ph type="title"/>
          </p:nvPr>
        </p:nvSpPr>
        <p:spPr>
          <a:xfrm>
            <a:off x="761803" y="350196"/>
            <a:ext cx="4646904" cy="1624520"/>
          </a:xfrm>
        </p:spPr>
        <p:txBody>
          <a:bodyPr vert="horz" lIns="91440" tIns="45720" rIns="91440" bIns="45720" rtlCol="0" anchor="ctr">
            <a:normAutofit/>
          </a:bodyPr>
          <a:lstStyle/>
          <a:p>
            <a:r>
              <a:rPr lang="en-US" sz="4000" b="1"/>
              <a:t>Методы и стадии Data Mining</a:t>
            </a:r>
            <a:endParaRPr lang="en-US" sz="4000" b="1" dirty="0"/>
          </a:p>
        </p:txBody>
      </p:sp>
      <p:sp>
        <p:nvSpPr>
          <p:cNvPr id="4" name="TextBox 3">
            <a:extLst>
              <a:ext uri="{FF2B5EF4-FFF2-40B4-BE49-F238E27FC236}">
                <a16:creationId xmlns:a16="http://schemas.microsoft.com/office/drawing/2014/main" id="{FDAFCDB8-FCD4-718F-9A68-74667C9BF84B}"/>
              </a:ext>
            </a:extLst>
          </p:cNvPr>
          <p:cNvSpPr txBox="1"/>
          <p:nvPr/>
        </p:nvSpPr>
        <p:spPr>
          <a:xfrm>
            <a:off x="761802" y="2743200"/>
            <a:ext cx="5097577" cy="3613149"/>
          </a:xfrm>
          <a:prstGeom prst="rect">
            <a:avLst/>
          </a:prstGeom>
        </p:spPr>
        <p:txBody>
          <a:bodyPr vert="horz" lIns="91440" tIns="45720" rIns="91440" bIns="45720" rtlCol="0" anchor="ctr">
            <a:normAutofit/>
          </a:bodyPr>
          <a:lstStyle/>
          <a:p>
            <a:pPr marL="285750" marR="0" lvl="0" indent="-228600" fontAlgn="auto">
              <a:lnSpc>
                <a:spcPct val="90000"/>
              </a:lnSpc>
              <a:spcBef>
                <a:spcPts val="0"/>
              </a:spcBef>
              <a:spcAft>
                <a:spcPts val="600"/>
              </a:spcAft>
              <a:buClrTx/>
              <a:buSzTx/>
              <a:buFont typeface="Arial" panose="020B0604020202020204" pitchFamily="34" charset="0"/>
              <a:buChar char="•"/>
              <a:tabLst/>
              <a:defRPr/>
            </a:pPr>
            <a:r>
              <a:rPr lang="en-US" sz="1900" dirty="0" err="1">
                <a:effectLst/>
              </a:rPr>
              <a:t>Основная</a:t>
            </a:r>
            <a:r>
              <a:rPr lang="en-US" sz="1900" dirty="0">
                <a:effectLst/>
              </a:rPr>
              <a:t> </a:t>
            </a:r>
            <a:r>
              <a:rPr lang="en-US" sz="1900" dirty="0" err="1">
                <a:effectLst/>
              </a:rPr>
              <a:t>особенность</a:t>
            </a:r>
            <a:r>
              <a:rPr lang="en-US" sz="1900" dirty="0">
                <a:effectLst/>
              </a:rPr>
              <a:t> Data Mining - </a:t>
            </a:r>
            <a:r>
              <a:rPr lang="en-US" sz="1900" dirty="0" err="1">
                <a:effectLst/>
              </a:rPr>
              <a:t>это</a:t>
            </a:r>
            <a:r>
              <a:rPr lang="en-US" sz="1900" dirty="0">
                <a:effectLst/>
              </a:rPr>
              <a:t> </a:t>
            </a:r>
            <a:r>
              <a:rPr lang="en-US" sz="1900" b="1" dirty="0" err="1">
                <a:effectLst/>
              </a:rPr>
              <a:t>сочетание</a:t>
            </a:r>
            <a:r>
              <a:rPr lang="en-US" sz="1900" dirty="0">
                <a:effectLst/>
              </a:rPr>
              <a:t> </a:t>
            </a:r>
            <a:r>
              <a:rPr lang="en-US" sz="1900" dirty="0" err="1">
                <a:effectLst/>
              </a:rPr>
              <a:t>широкого</a:t>
            </a:r>
            <a:r>
              <a:rPr lang="en-US" sz="1900" dirty="0">
                <a:effectLst/>
              </a:rPr>
              <a:t> </a:t>
            </a:r>
            <a:r>
              <a:rPr lang="en-US" sz="1900" dirty="0" err="1">
                <a:effectLst/>
              </a:rPr>
              <a:t>математического</a:t>
            </a:r>
            <a:r>
              <a:rPr lang="en-US" sz="1900" dirty="0">
                <a:effectLst/>
              </a:rPr>
              <a:t> </a:t>
            </a:r>
            <a:r>
              <a:rPr lang="en-US" sz="1900" dirty="0" err="1">
                <a:effectLst/>
              </a:rPr>
              <a:t>инструментария</a:t>
            </a:r>
            <a:r>
              <a:rPr lang="en-US" sz="1900" dirty="0">
                <a:effectLst/>
              </a:rPr>
              <a:t> (</a:t>
            </a:r>
            <a:r>
              <a:rPr lang="en-US" sz="1900" dirty="0" err="1">
                <a:effectLst/>
              </a:rPr>
              <a:t>от</a:t>
            </a:r>
            <a:r>
              <a:rPr lang="en-US" sz="1900" dirty="0">
                <a:effectLst/>
              </a:rPr>
              <a:t> </a:t>
            </a:r>
            <a:r>
              <a:rPr lang="en-US" sz="1900" dirty="0" err="1">
                <a:effectLst/>
              </a:rPr>
              <a:t>классического</a:t>
            </a:r>
            <a:r>
              <a:rPr lang="en-US" sz="1900" dirty="0">
                <a:effectLst/>
              </a:rPr>
              <a:t> </a:t>
            </a:r>
            <a:r>
              <a:rPr lang="en-US" sz="1900" dirty="0" err="1">
                <a:effectLst/>
              </a:rPr>
              <a:t>статистического</a:t>
            </a:r>
            <a:r>
              <a:rPr lang="en-US" sz="1900" dirty="0">
                <a:effectLst/>
              </a:rPr>
              <a:t> </a:t>
            </a:r>
            <a:r>
              <a:rPr lang="en-US" sz="1900" dirty="0" err="1">
                <a:effectLst/>
              </a:rPr>
              <a:t>анализа</a:t>
            </a:r>
            <a:r>
              <a:rPr lang="en-US" sz="1900" dirty="0">
                <a:effectLst/>
              </a:rPr>
              <a:t> </a:t>
            </a:r>
            <a:r>
              <a:rPr lang="en-US" sz="1900" dirty="0" err="1">
                <a:effectLst/>
              </a:rPr>
              <a:t>до</a:t>
            </a:r>
            <a:r>
              <a:rPr lang="en-US" sz="1900" dirty="0">
                <a:effectLst/>
              </a:rPr>
              <a:t> </a:t>
            </a:r>
            <a:r>
              <a:rPr lang="en-US" sz="1900" dirty="0" err="1">
                <a:effectLst/>
              </a:rPr>
              <a:t>новых</a:t>
            </a:r>
            <a:r>
              <a:rPr lang="en-US" sz="1900" dirty="0">
                <a:effectLst/>
              </a:rPr>
              <a:t> </a:t>
            </a:r>
            <a:r>
              <a:rPr lang="en-US" sz="1900" dirty="0" err="1">
                <a:effectLst/>
              </a:rPr>
              <a:t>кибернетических</a:t>
            </a:r>
            <a:r>
              <a:rPr lang="en-US" sz="1900" dirty="0">
                <a:effectLst/>
              </a:rPr>
              <a:t> </a:t>
            </a:r>
            <a:r>
              <a:rPr lang="en-US" sz="1900" i="1" dirty="0" err="1">
                <a:effectLst/>
              </a:rPr>
              <a:t>методов</a:t>
            </a:r>
            <a:r>
              <a:rPr lang="en-US" sz="1900" dirty="0">
                <a:effectLst/>
              </a:rPr>
              <a:t>)</a:t>
            </a:r>
          </a:p>
          <a:p>
            <a:pPr marL="0" marR="0" lvl="0" indent="-228600" fontAlgn="auto">
              <a:lnSpc>
                <a:spcPct val="90000"/>
              </a:lnSpc>
              <a:spcBef>
                <a:spcPts val="0"/>
              </a:spcBef>
              <a:spcAft>
                <a:spcPts val="600"/>
              </a:spcAft>
              <a:buClrTx/>
              <a:buSzTx/>
              <a:buFont typeface="Arial" panose="020B0604020202020204" pitchFamily="34" charset="0"/>
              <a:buChar char="•"/>
              <a:tabLst/>
              <a:defRPr/>
            </a:pPr>
            <a:endParaRPr lang="en-US" sz="1900" dirty="0"/>
          </a:p>
          <a:p>
            <a:pPr marL="285750" marR="0" lvl="0" indent="-228600" fontAlgn="auto">
              <a:lnSpc>
                <a:spcPct val="90000"/>
              </a:lnSpc>
              <a:spcBef>
                <a:spcPts val="0"/>
              </a:spcBef>
              <a:spcAft>
                <a:spcPts val="600"/>
              </a:spcAft>
              <a:buClrTx/>
              <a:buSzTx/>
              <a:buFont typeface="Arial" panose="020B0604020202020204" pitchFamily="34" charset="0"/>
              <a:buChar char="•"/>
              <a:tabLst/>
              <a:defRPr/>
            </a:pPr>
            <a:r>
              <a:rPr lang="en-US" sz="1900" dirty="0">
                <a:effectLst/>
              </a:rPr>
              <a:t>В </a:t>
            </a:r>
            <a:r>
              <a:rPr lang="en-US" sz="1900" dirty="0" err="1">
                <a:effectLst/>
              </a:rPr>
              <a:t>технологии</a:t>
            </a:r>
            <a:r>
              <a:rPr lang="en-US" sz="1900" dirty="0">
                <a:effectLst/>
              </a:rPr>
              <a:t> </a:t>
            </a:r>
            <a:r>
              <a:rPr lang="en-US" sz="1900" i="1" dirty="0">
                <a:effectLst/>
              </a:rPr>
              <a:t>Data Mining</a:t>
            </a:r>
            <a:r>
              <a:rPr lang="en-US" sz="1900" dirty="0">
                <a:effectLst/>
              </a:rPr>
              <a:t> </a:t>
            </a:r>
            <a:r>
              <a:rPr lang="en-US" sz="1900" dirty="0" err="1">
                <a:effectLst/>
              </a:rPr>
              <a:t>гармонично</a:t>
            </a:r>
            <a:r>
              <a:rPr lang="en-US" sz="1900" dirty="0">
                <a:effectLst/>
              </a:rPr>
              <a:t> </a:t>
            </a:r>
            <a:r>
              <a:rPr lang="en-US" sz="1900" dirty="0" err="1">
                <a:effectLst/>
              </a:rPr>
              <a:t>объединились</a:t>
            </a:r>
            <a:r>
              <a:rPr lang="en-US" sz="1900" dirty="0">
                <a:effectLst/>
              </a:rPr>
              <a:t> </a:t>
            </a:r>
            <a:r>
              <a:rPr lang="en-US" sz="1900" dirty="0" err="1">
                <a:effectLst/>
              </a:rPr>
              <a:t>строго</a:t>
            </a:r>
            <a:r>
              <a:rPr lang="en-US" sz="1900" dirty="0">
                <a:effectLst/>
              </a:rPr>
              <a:t> </a:t>
            </a:r>
            <a:r>
              <a:rPr lang="en-US" sz="1900" dirty="0" err="1">
                <a:effectLst/>
              </a:rPr>
              <a:t>формализованные</a:t>
            </a:r>
            <a:r>
              <a:rPr lang="en-US" sz="1900" dirty="0">
                <a:effectLst/>
              </a:rPr>
              <a:t> </a:t>
            </a:r>
            <a:r>
              <a:rPr lang="en-US" sz="1900" i="1" dirty="0" err="1">
                <a:effectLst/>
              </a:rPr>
              <a:t>методы</a:t>
            </a:r>
            <a:r>
              <a:rPr lang="en-US" sz="1900" dirty="0">
                <a:effectLst/>
              </a:rPr>
              <a:t> и </a:t>
            </a:r>
            <a:r>
              <a:rPr lang="en-US" sz="1900" i="1" dirty="0" err="1">
                <a:effectLst/>
              </a:rPr>
              <a:t>методы</a:t>
            </a:r>
            <a:r>
              <a:rPr lang="en-US" sz="1900" dirty="0">
                <a:effectLst/>
              </a:rPr>
              <a:t> </a:t>
            </a:r>
            <a:r>
              <a:rPr lang="en-US" sz="1900" dirty="0" err="1">
                <a:effectLst/>
              </a:rPr>
              <a:t>неформального</a:t>
            </a:r>
            <a:r>
              <a:rPr lang="en-US" sz="1900" dirty="0">
                <a:effectLst/>
              </a:rPr>
              <a:t> </a:t>
            </a:r>
            <a:r>
              <a:rPr lang="en-US" sz="1900" dirty="0" err="1">
                <a:effectLst/>
              </a:rPr>
              <a:t>анализа</a:t>
            </a:r>
            <a:r>
              <a:rPr lang="en-US" sz="1900" dirty="0">
                <a:effectLst/>
              </a:rPr>
              <a:t>, </a:t>
            </a:r>
            <a:r>
              <a:rPr lang="en-US" sz="1900" dirty="0" err="1">
                <a:effectLst/>
              </a:rPr>
              <a:t>т.е</a:t>
            </a:r>
            <a:r>
              <a:rPr lang="en-US" sz="1900" dirty="0">
                <a:effectLst/>
              </a:rPr>
              <a:t>. </a:t>
            </a:r>
            <a:r>
              <a:rPr lang="en-US" sz="1900" b="1" dirty="0" err="1">
                <a:effectLst/>
              </a:rPr>
              <a:t>количественный</a:t>
            </a:r>
            <a:r>
              <a:rPr lang="en-US" sz="1900" b="1" dirty="0">
                <a:effectLst/>
              </a:rPr>
              <a:t> и </a:t>
            </a:r>
            <a:r>
              <a:rPr lang="en-US" sz="1900" b="1" dirty="0" err="1">
                <a:effectLst/>
              </a:rPr>
              <a:t>качественный</a:t>
            </a:r>
            <a:r>
              <a:rPr lang="en-US" sz="1900" b="1" dirty="0">
                <a:effectLst/>
              </a:rPr>
              <a:t> </a:t>
            </a:r>
            <a:r>
              <a:rPr lang="en-US" sz="1900" b="1" dirty="0" err="1">
                <a:effectLst/>
              </a:rPr>
              <a:t>анализ</a:t>
            </a:r>
            <a:r>
              <a:rPr lang="en-US" sz="1900" dirty="0">
                <a:effectLst/>
              </a:rPr>
              <a:t> </a:t>
            </a:r>
            <a:r>
              <a:rPr lang="en-US" sz="1900" dirty="0" err="1">
                <a:effectLst/>
              </a:rPr>
              <a:t>данных</a:t>
            </a:r>
            <a:r>
              <a:rPr lang="en-US" sz="1900" dirty="0">
                <a:effectLst/>
              </a:rPr>
              <a:t>.</a:t>
            </a:r>
          </a:p>
        </p:txBody>
      </p:sp>
      <p:pic>
        <p:nvPicPr>
          <p:cNvPr id="78" name="Picture 77" descr="Крупный план печатной платы">
            <a:extLst>
              <a:ext uri="{FF2B5EF4-FFF2-40B4-BE49-F238E27FC236}">
                <a16:creationId xmlns:a16="http://schemas.microsoft.com/office/drawing/2014/main" id="{050C5B33-1A51-EB76-25A6-C0BAC68713C8}"/>
              </a:ext>
            </a:extLst>
          </p:cNvPr>
          <p:cNvPicPr>
            <a:picLocks noChangeAspect="1"/>
          </p:cNvPicPr>
          <p:nvPr/>
        </p:nvPicPr>
        <p:blipFill rotWithShape="1">
          <a:blip r:embed="rId3"/>
          <a:srcRect l="9516" r="31083" b="-2"/>
          <a:stretch/>
        </p:blipFill>
        <p:spPr>
          <a:xfrm>
            <a:off x="6096000" y="1"/>
            <a:ext cx="6102825" cy="6858000"/>
          </a:xfrm>
          <a:prstGeom prst="rect">
            <a:avLst/>
          </a:prstGeom>
        </p:spPr>
      </p:pic>
    </p:spTree>
    <p:extLst>
      <p:ext uri="{BB962C8B-B14F-4D97-AF65-F5344CB8AC3E}">
        <p14:creationId xmlns:p14="http://schemas.microsoft.com/office/powerpoint/2010/main" val="3265077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DF616A2-8A4C-748C-D811-93E8F8BEE898}"/>
              </a:ext>
            </a:extLst>
          </p:cNvPr>
          <p:cNvSpPr>
            <a:spLocks noGrp="1"/>
          </p:cNvSpPr>
          <p:nvPr>
            <p:ph type="title"/>
          </p:nvPr>
        </p:nvSpPr>
        <p:spPr>
          <a:xfrm>
            <a:off x="1371597" y="348865"/>
            <a:ext cx="10044023" cy="877729"/>
          </a:xfrm>
        </p:spPr>
        <p:txBody>
          <a:bodyPr anchor="ctr">
            <a:normAutofit/>
          </a:bodyPr>
          <a:lstStyle/>
          <a:p>
            <a:r>
              <a:rPr lang="ru-RU" sz="4000" i="1">
                <a:solidFill>
                  <a:srgbClr val="FFFFFF"/>
                </a:solidFill>
              </a:rPr>
              <a:t>Методы</a:t>
            </a:r>
            <a:r>
              <a:rPr lang="ru-RU" sz="4000">
                <a:solidFill>
                  <a:srgbClr val="FFFFFF"/>
                </a:solidFill>
              </a:rPr>
              <a:t> и </a:t>
            </a:r>
            <a:r>
              <a:rPr lang="ru-RU" sz="4000" i="1">
                <a:solidFill>
                  <a:srgbClr val="FFFFFF"/>
                </a:solidFill>
              </a:rPr>
              <a:t>алгоритмы Data Mining</a:t>
            </a:r>
            <a:endParaRPr lang="LID4096" sz="4000">
              <a:solidFill>
                <a:srgbClr val="FFFFFF"/>
              </a:solidFill>
            </a:endParaRPr>
          </a:p>
        </p:txBody>
      </p:sp>
      <p:graphicFrame>
        <p:nvGraphicFramePr>
          <p:cNvPr id="13" name="Content Placeholder 2">
            <a:extLst>
              <a:ext uri="{FF2B5EF4-FFF2-40B4-BE49-F238E27FC236}">
                <a16:creationId xmlns:a16="http://schemas.microsoft.com/office/drawing/2014/main" id="{9BFEF252-4062-561B-91CC-C582DE2B8983}"/>
              </a:ext>
            </a:extLst>
          </p:cNvPr>
          <p:cNvGraphicFramePr>
            <a:graphicFrameLocks noGrp="1"/>
          </p:cNvGraphicFramePr>
          <p:nvPr>
            <p:ph idx="1"/>
            <p:extLst>
              <p:ext uri="{D42A27DB-BD31-4B8C-83A1-F6EECF244321}">
                <p14:modId xmlns:p14="http://schemas.microsoft.com/office/powerpoint/2010/main" val="1628217662"/>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86049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9AB03E-A157-FFA0-8193-F0B96D6B0971}"/>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1061A54-6AE3-9901-A5F5-A5535C58C28C}"/>
              </a:ext>
            </a:extLst>
          </p:cNvPr>
          <p:cNvSpPr>
            <a:spLocks noGrp="1"/>
          </p:cNvSpPr>
          <p:nvPr>
            <p:ph type="title"/>
          </p:nvPr>
        </p:nvSpPr>
        <p:spPr>
          <a:xfrm>
            <a:off x="1371597" y="348865"/>
            <a:ext cx="10044023" cy="877729"/>
          </a:xfrm>
        </p:spPr>
        <p:txBody>
          <a:bodyPr anchor="ctr">
            <a:normAutofit/>
          </a:bodyPr>
          <a:lstStyle/>
          <a:p>
            <a:r>
              <a:rPr lang="ru-RU" sz="4000" i="1">
                <a:solidFill>
                  <a:srgbClr val="FFFFFF"/>
                </a:solidFill>
              </a:rPr>
              <a:t>Методы</a:t>
            </a:r>
            <a:r>
              <a:rPr lang="ru-RU" sz="4000">
                <a:solidFill>
                  <a:srgbClr val="FFFFFF"/>
                </a:solidFill>
              </a:rPr>
              <a:t> и </a:t>
            </a:r>
            <a:r>
              <a:rPr lang="ru-RU" sz="4000" i="1">
                <a:solidFill>
                  <a:srgbClr val="FFFFFF"/>
                </a:solidFill>
              </a:rPr>
              <a:t>алгоритмы Data Mining</a:t>
            </a:r>
            <a:endParaRPr lang="LID4096" sz="4000">
              <a:solidFill>
                <a:srgbClr val="FFFFFF"/>
              </a:solidFill>
            </a:endParaRPr>
          </a:p>
        </p:txBody>
      </p:sp>
      <p:graphicFrame>
        <p:nvGraphicFramePr>
          <p:cNvPr id="5" name="Content Placeholder 2">
            <a:extLst>
              <a:ext uri="{FF2B5EF4-FFF2-40B4-BE49-F238E27FC236}">
                <a16:creationId xmlns:a16="http://schemas.microsoft.com/office/drawing/2014/main" id="{0D36A438-8B6D-7661-0433-AEAC550ABC41}"/>
              </a:ext>
            </a:extLst>
          </p:cNvPr>
          <p:cNvGraphicFramePr>
            <a:graphicFrameLocks noGrp="1"/>
          </p:cNvGraphicFramePr>
          <p:nvPr>
            <p:ph idx="1"/>
            <p:extLst>
              <p:ext uri="{D42A27DB-BD31-4B8C-83A1-F6EECF244321}">
                <p14:modId xmlns:p14="http://schemas.microsoft.com/office/powerpoint/2010/main" val="3796345928"/>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70977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0DA425-83DC-B588-453A-260197A3B68D}"/>
              </a:ext>
            </a:extLst>
          </p:cNvPr>
          <p:cNvSpPr>
            <a:spLocks noGrp="1"/>
          </p:cNvSpPr>
          <p:nvPr>
            <p:ph type="title"/>
          </p:nvPr>
        </p:nvSpPr>
        <p:spPr>
          <a:xfrm>
            <a:off x="630936" y="640080"/>
            <a:ext cx="4818888" cy="1481328"/>
          </a:xfrm>
        </p:spPr>
        <p:txBody>
          <a:bodyPr anchor="b">
            <a:normAutofit/>
          </a:bodyPr>
          <a:lstStyle/>
          <a:p>
            <a:r>
              <a:rPr lang="ru-RU" sz="5000">
                <a:latin typeface="Verdana" panose="020B0604030504040204" pitchFamily="34" charset="0"/>
                <a:ea typeface="Times New Roman" panose="02020603050405020304" pitchFamily="18" charset="0"/>
                <a:cs typeface="Times New Roman" panose="02020603050405020304" pitchFamily="18" charset="0"/>
              </a:rPr>
              <a:t>С</a:t>
            </a:r>
            <a:r>
              <a:rPr lang="ru-RU" sz="5000">
                <a:effectLst/>
                <a:latin typeface="Verdana" panose="020B0604030504040204" pitchFamily="34" charset="0"/>
                <a:ea typeface="Times New Roman" panose="02020603050405020304" pitchFamily="18" charset="0"/>
                <a:cs typeface="Times New Roman" panose="02020603050405020304" pitchFamily="18" charset="0"/>
              </a:rPr>
              <a:t>тадии Data Mining</a:t>
            </a:r>
            <a:endParaRPr lang="LID4096" sz="5000"/>
          </a:p>
        </p:txBody>
      </p:sp>
      <p:sp>
        <p:nvSpPr>
          <p:cNvPr id="61"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DCD2107-2FD3-AB5B-D348-564D549B72A9}"/>
              </a:ext>
            </a:extLst>
          </p:cNvPr>
          <p:cNvSpPr>
            <a:spLocks noGrp="1"/>
          </p:cNvSpPr>
          <p:nvPr>
            <p:ph idx="1"/>
          </p:nvPr>
        </p:nvSpPr>
        <p:spPr>
          <a:xfrm>
            <a:off x="630936" y="2660904"/>
            <a:ext cx="4818888" cy="3547872"/>
          </a:xfrm>
        </p:spPr>
        <p:txBody>
          <a:bodyPr anchor="t">
            <a:normAutofit/>
          </a:bodyPr>
          <a:lstStyle/>
          <a:p>
            <a:r>
              <a:rPr lang="ru-RU" sz="1400" b="1"/>
              <a:t>Стадия 1</a:t>
            </a:r>
          </a:p>
          <a:p>
            <a:pPr marL="0" indent="0">
              <a:buNone/>
            </a:pPr>
            <a:r>
              <a:rPr lang="ru-RU" sz="1400"/>
              <a:t>Выявление </a:t>
            </a:r>
            <a:r>
              <a:rPr lang="ru-RU" sz="1400" i="1"/>
              <a:t>закономерностей</a:t>
            </a:r>
            <a:r>
              <a:rPr lang="ru-RU" sz="1400"/>
              <a:t> ( </a:t>
            </a:r>
            <a:r>
              <a:rPr lang="ru-RU" sz="1400" b="1" i="1"/>
              <a:t>свободный поиск + валидация</a:t>
            </a:r>
            <a:r>
              <a:rPr lang="ru-RU" sz="1400"/>
              <a:t> ).</a:t>
            </a:r>
          </a:p>
          <a:p>
            <a:pPr marL="0" indent="0">
              <a:buNone/>
            </a:pPr>
            <a:endParaRPr lang="ru-RU" sz="1400"/>
          </a:p>
          <a:p>
            <a:r>
              <a:rPr lang="ru-RU" sz="1400" b="1"/>
              <a:t>Стадия 2:</a:t>
            </a:r>
          </a:p>
          <a:p>
            <a:pPr marL="0" indent="0">
              <a:buNone/>
            </a:pPr>
            <a:r>
              <a:rPr lang="ru-RU" sz="1400"/>
              <a:t>Использование выявленных  закономерностей  для предсказания неизвестных значений (</a:t>
            </a:r>
            <a:r>
              <a:rPr lang="ru-RU" sz="1400" b="1"/>
              <a:t> прогностическое моделирование</a:t>
            </a:r>
            <a:r>
              <a:rPr lang="ru-RU" sz="1400"/>
              <a:t> ).</a:t>
            </a:r>
          </a:p>
          <a:p>
            <a:pPr marL="0" indent="0">
              <a:buNone/>
            </a:pPr>
            <a:endParaRPr lang="ru-RU" sz="1400"/>
          </a:p>
          <a:p>
            <a:r>
              <a:rPr lang="ru-RU" sz="1400" b="1"/>
              <a:t>Стадия 3</a:t>
            </a:r>
            <a:r>
              <a:rPr lang="ru-RU" sz="1400"/>
              <a:t>. </a:t>
            </a:r>
          </a:p>
          <a:p>
            <a:pPr marL="0" indent="0">
              <a:buNone/>
            </a:pPr>
            <a:r>
              <a:rPr lang="ru-RU" sz="1400" b="1" i="1"/>
              <a:t>Анализ исключений</a:t>
            </a:r>
            <a:r>
              <a:rPr lang="ru-RU" sz="1400"/>
              <a:t> - стадия предназначена для выявления и объяснения аномалий, найденных в </a:t>
            </a:r>
            <a:r>
              <a:rPr lang="ru-RU" sz="1400" i="1"/>
              <a:t>закономерностях</a:t>
            </a:r>
            <a:r>
              <a:rPr lang="ru-RU" sz="1400"/>
              <a:t>.</a:t>
            </a:r>
          </a:p>
          <a:p>
            <a:endParaRPr lang="LID4096" sz="1400"/>
          </a:p>
        </p:txBody>
      </p:sp>
      <p:pic>
        <p:nvPicPr>
          <p:cNvPr id="4" name="Picture 3" descr="A diagram of a model&#10;&#10;Description automatically generated">
            <a:extLst>
              <a:ext uri="{FF2B5EF4-FFF2-40B4-BE49-F238E27FC236}">
                <a16:creationId xmlns:a16="http://schemas.microsoft.com/office/drawing/2014/main" id="{8E2CAE35-D917-938C-11C8-B63292182657}"/>
              </a:ext>
            </a:extLst>
          </p:cNvPr>
          <p:cNvPicPr>
            <a:picLocks noChangeAspect="1"/>
          </p:cNvPicPr>
          <p:nvPr/>
        </p:nvPicPr>
        <p:blipFill>
          <a:blip r:embed="rId3"/>
          <a:stretch>
            <a:fillRect/>
          </a:stretch>
        </p:blipFill>
        <p:spPr>
          <a:xfrm>
            <a:off x="6096000" y="2204603"/>
            <a:ext cx="5458968" cy="2674894"/>
          </a:xfrm>
          <a:prstGeom prst="rect">
            <a:avLst/>
          </a:prstGeom>
        </p:spPr>
      </p:pic>
    </p:spTree>
    <p:extLst>
      <p:ext uri="{BB962C8B-B14F-4D97-AF65-F5344CB8AC3E}">
        <p14:creationId xmlns:p14="http://schemas.microsoft.com/office/powerpoint/2010/main" val="854253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5B99D-675C-DEEA-C741-7CA1EF796286}"/>
              </a:ext>
            </a:extLst>
          </p:cNvPr>
          <p:cNvSpPr>
            <a:spLocks noGrp="1"/>
          </p:cNvSpPr>
          <p:nvPr>
            <p:ph type="title"/>
          </p:nvPr>
        </p:nvSpPr>
        <p:spPr>
          <a:xfrm>
            <a:off x="876693" y="741392"/>
            <a:ext cx="4995787" cy="639288"/>
          </a:xfrm>
        </p:spPr>
        <p:txBody>
          <a:bodyPr anchor="b">
            <a:normAutofit/>
          </a:bodyPr>
          <a:lstStyle/>
          <a:p>
            <a:r>
              <a:rPr lang="ru-RU" sz="3200" b="1" i="1" dirty="0"/>
              <a:t>Свободный поиск (Discovery)</a:t>
            </a:r>
            <a:endParaRPr lang="LID4096" sz="3200" b="1" dirty="0"/>
          </a:p>
        </p:txBody>
      </p:sp>
      <p:sp>
        <p:nvSpPr>
          <p:cNvPr id="3" name="Content Placeholder 2">
            <a:extLst>
              <a:ext uri="{FF2B5EF4-FFF2-40B4-BE49-F238E27FC236}">
                <a16:creationId xmlns:a16="http://schemas.microsoft.com/office/drawing/2014/main" id="{588ABF53-555F-EF66-297C-73A9642F50AF}"/>
              </a:ext>
            </a:extLst>
          </p:cNvPr>
          <p:cNvSpPr>
            <a:spLocks noGrp="1"/>
          </p:cNvSpPr>
          <p:nvPr>
            <p:ph idx="1"/>
          </p:nvPr>
        </p:nvSpPr>
        <p:spPr>
          <a:xfrm>
            <a:off x="876693" y="1842281"/>
            <a:ext cx="4597746" cy="3067017"/>
          </a:xfrm>
        </p:spPr>
        <p:txBody>
          <a:bodyPr anchor="t">
            <a:normAutofit/>
          </a:bodyPr>
          <a:lstStyle/>
          <a:p>
            <a:pPr marL="0" indent="0">
              <a:buNone/>
            </a:pPr>
            <a:r>
              <a:rPr lang="ru-RU" sz="2000" dirty="0"/>
              <a:t>На стадии </a:t>
            </a:r>
            <a:r>
              <a:rPr lang="ru-RU" sz="2000" i="1" dirty="0"/>
              <a:t>свободного поиска</a:t>
            </a:r>
            <a:r>
              <a:rPr lang="ru-RU" sz="2000" dirty="0"/>
              <a:t> осуществляется исследование набора данных с целью поиска скрытых </a:t>
            </a:r>
            <a:r>
              <a:rPr lang="ru-RU" sz="2000" i="1" dirty="0"/>
              <a:t>закономерностей</a:t>
            </a:r>
            <a:r>
              <a:rPr lang="ru-RU" sz="2000" dirty="0"/>
              <a:t>. </a:t>
            </a:r>
            <a:endParaRPr lang="en-US" sz="2000" dirty="0"/>
          </a:p>
          <a:p>
            <a:pPr marL="0" indent="0">
              <a:buNone/>
            </a:pPr>
            <a:r>
              <a:rPr lang="ru-RU" sz="2000" dirty="0"/>
              <a:t>Предварительные гипотезы относительно вида </a:t>
            </a:r>
            <a:r>
              <a:rPr lang="ru-RU" sz="2000" i="1" dirty="0"/>
              <a:t>закономерностей</a:t>
            </a:r>
            <a:r>
              <a:rPr lang="ru-RU" sz="2000" dirty="0"/>
              <a:t> здесь не определяются.</a:t>
            </a:r>
          </a:p>
          <a:p>
            <a:endParaRPr lang="LID4096" sz="2000" dirty="0"/>
          </a:p>
        </p:txBody>
      </p:sp>
      <p:pic>
        <p:nvPicPr>
          <p:cNvPr id="4" name="Picture 3" descr="A diagram of a process&#10;&#10;Description automatically generated">
            <a:extLst>
              <a:ext uri="{FF2B5EF4-FFF2-40B4-BE49-F238E27FC236}">
                <a16:creationId xmlns:a16="http://schemas.microsoft.com/office/drawing/2014/main" id="{6ED1137E-3AA2-0EC1-0EF0-B0C193D29F7C}"/>
              </a:ext>
            </a:extLst>
          </p:cNvPr>
          <p:cNvPicPr>
            <a:picLocks noChangeAspect="1"/>
          </p:cNvPicPr>
          <p:nvPr/>
        </p:nvPicPr>
        <p:blipFill>
          <a:blip r:embed="rId3"/>
          <a:stretch>
            <a:fillRect/>
          </a:stretch>
        </p:blipFill>
        <p:spPr>
          <a:xfrm>
            <a:off x="6096001" y="1842282"/>
            <a:ext cx="5319062" cy="3098353"/>
          </a:xfrm>
          <a:prstGeom prst="rect">
            <a:avLst/>
          </a:prstGeom>
        </p:spPr>
      </p:pic>
      <p:grpSp>
        <p:nvGrpSpPr>
          <p:cNvPr id="23" name="Group 22">
            <a:extLst>
              <a:ext uri="{FF2B5EF4-FFF2-40B4-BE49-F238E27FC236}">
                <a16:creationId xmlns:a16="http://schemas.microsoft.com/office/drawing/2014/main" id="{1FD67D68-9B83-C338-8342-3348D8F223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24" name="Rectangle 23">
              <a:extLst>
                <a:ext uri="{FF2B5EF4-FFF2-40B4-BE49-F238E27FC236}">
                  <a16:creationId xmlns:a16="http://schemas.microsoft.com/office/drawing/2014/main" id="{1E397F34-6B84-0D3B-0F29-B1D134B3B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BD98075-BFC1-BE9C-7FB7-23FE55E43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a:extLst>
              <a:ext uri="{FF2B5EF4-FFF2-40B4-BE49-F238E27FC236}">
                <a16:creationId xmlns:a16="http://schemas.microsoft.com/office/drawing/2014/main" id="{A1EF9D3C-A3F9-043E-AA93-F50F9A3AE2DA}"/>
              </a:ext>
            </a:extLst>
          </p:cNvPr>
          <p:cNvSpPr txBox="1"/>
          <p:nvPr/>
        </p:nvSpPr>
        <p:spPr>
          <a:xfrm>
            <a:off x="630936" y="5321450"/>
            <a:ext cx="9193548" cy="923330"/>
          </a:xfrm>
          <a:prstGeom prst="rect">
            <a:avLst/>
          </a:prstGeom>
          <a:noFill/>
        </p:spPr>
        <p:txBody>
          <a:bodyPr wrap="square">
            <a:spAutoFit/>
          </a:bodyPr>
          <a:lstStyle/>
          <a:p>
            <a:pPr>
              <a:spcAft>
                <a:spcPts val="600"/>
              </a:spcAft>
            </a:pPr>
            <a:r>
              <a:rPr lang="ru-RU" b="1" i="1">
                <a:effectLst/>
                <a:latin typeface="Times New Roman" panose="02020603050405020304" pitchFamily="18" charset="0"/>
                <a:ea typeface="Times New Roman" panose="02020603050405020304" pitchFamily="18" charset="0"/>
              </a:rPr>
              <a:t>Закономерность</a:t>
            </a:r>
            <a:r>
              <a:rPr lang="ru-RU">
                <a:effectLst/>
                <a:latin typeface="Times New Roman" panose="02020603050405020304" pitchFamily="18" charset="0"/>
                <a:ea typeface="Times New Roman" panose="02020603050405020304" pitchFamily="18" charset="0"/>
              </a:rPr>
              <a:t> (</a:t>
            </a:r>
            <a:r>
              <a:rPr lang="ru-RU" err="1">
                <a:effectLst/>
                <a:latin typeface="Times New Roman" panose="02020603050405020304" pitchFamily="18" charset="0"/>
                <a:ea typeface="Times New Roman" panose="02020603050405020304" pitchFamily="18" charset="0"/>
              </a:rPr>
              <a:t>law</a:t>
            </a:r>
            <a:r>
              <a:rPr lang="ru-RU">
                <a:effectLst/>
                <a:latin typeface="Times New Roman" panose="02020603050405020304" pitchFamily="18" charset="0"/>
                <a:ea typeface="Times New Roman" panose="02020603050405020304" pitchFamily="18" charset="0"/>
              </a:rPr>
              <a:t>) - существенная и постоянно повторяющаяся взаимосвязь, определяющая этапы и формы процесса становления, развития различных явлений или процессов</a:t>
            </a:r>
            <a:endParaRPr lang="LID4096"/>
          </a:p>
        </p:txBody>
      </p:sp>
    </p:spTree>
    <p:extLst>
      <p:ext uri="{BB962C8B-B14F-4D97-AF65-F5344CB8AC3E}">
        <p14:creationId xmlns:p14="http://schemas.microsoft.com/office/powerpoint/2010/main" val="35283037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60B0EFB-53ED-4F35-B05D-F658EA021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Белая головоломка с одним красным фрагментом">
            <a:extLst>
              <a:ext uri="{FF2B5EF4-FFF2-40B4-BE49-F238E27FC236}">
                <a16:creationId xmlns:a16="http://schemas.microsoft.com/office/drawing/2014/main" id="{DEC82EF8-A5E4-0FFC-ED99-878F438FAE67}"/>
              </a:ext>
            </a:extLst>
          </p:cNvPr>
          <p:cNvPicPr>
            <a:picLocks noChangeAspect="1"/>
          </p:cNvPicPr>
          <p:nvPr/>
        </p:nvPicPr>
        <p:blipFill rotWithShape="1">
          <a:blip r:embed="rId3"/>
          <a:srcRect l="30889" r="29285"/>
          <a:stretch/>
        </p:blipFill>
        <p:spPr>
          <a:xfrm>
            <a:off x="-7366" y="10"/>
            <a:ext cx="4855591" cy="6857990"/>
          </a:xfrm>
          <a:custGeom>
            <a:avLst/>
            <a:gdLst/>
            <a:ahLst/>
            <a:cxnLst/>
            <a:rect l="l" t="t" r="r" b="b"/>
            <a:pathLst>
              <a:path w="4636517" h="6858000">
                <a:moveTo>
                  <a:pt x="0" y="0"/>
                </a:moveTo>
                <a:lnTo>
                  <a:pt x="4636517" y="0"/>
                </a:lnTo>
                <a:lnTo>
                  <a:pt x="4636517" y="6858000"/>
                </a:lnTo>
                <a:lnTo>
                  <a:pt x="0" y="6858000"/>
                </a:lnTo>
                <a:close/>
              </a:path>
            </a:pathLst>
          </a:custGeom>
        </p:spPr>
      </p:pic>
      <p:sp>
        <p:nvSpPr>
          <p:cNvPr id="11" name="!!Arc">
            <a:extLst>
              <a:ext uri="{FF2B5EF4-FFF2-40B4-BE49-F238E27FC236}">
                <a16:creationId xmlns:a16="http://schemas.microsoft.com/office/drawing/2014/main" id="{835EF3DD-7D43-4A27-8967-A92FD8CC93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3531" y="407987"/>
            <a:ext cx="2987899" cy="2987899"/>
          </a:xfrm>
          <a:prstGeom prst="arc">
            <a:avLst>
              <a:gd name="adj1" fmla="val 16200000"/>
              <a:gd name="adj2" fmla="val 256372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E190AE-5309-D440-C009-AEB0CCF5E56B}"/>
              </a:ext>
            </a:extLst>
          </p:cNvPr>
          <p:cNvSpPr>
            <a:spLocks noGrp="1"/>
          </p:cNvSpPr>
          <p:nvPr>
            <p:ph type="title"/>
          </p:nvPr>
        </p:nvSpPr>
        <p:spPr>
          <a:xfrm>
            <a:off x="5827048" y="407987"/>
            <a:ext cx="5721484" cy="1325563"/>
          </a:xfrm>
        </p:spPr>
        <p:txBody>
          <a:bodyPr>
            <a:normAutofit/>
          </a:bodyPr>
          <a:lstStyle/>
          <a:p>
            <a:r>
              <a:rPr lang="ru-RU" b="1"/>
              <a:t>Действия </a:t>
            </a:r>
            <a:r>
              <a:rPr lang="ru-RU" i="1"/>
              <a:t>свободного поиска</a:t>
            </a:r>
            <a:endParaRPr lang="LID4096" dirty="0"/>
          </a:p>
        </p:txBody>
      </p:sp>
      <p:sp>
        <p:nvSpPr>
          <p:cNvPr id="3" name="Content Placeholder 2">
            <a:extLst>
              <a:ext uri="{FF2B5EF4-FFF2-40B4-BE49-F238E27FC236}">
                <a16:creationId xmlns:a16="http://schemas.microsoft.com/office/drawing/2014/main" id="{34A9054E-BB04-7C25-B94D-504B95A6BA8F}"/>
              </a:ext>
            </a:extLst>
          </p:cNvPr>
          <p:cNvSpPr>
            <a:spLocks noGrp="1"/>
          </p:cNvSpPr>
          <p:nvPr>
            <p:ph idx="1"/>
          </p:nvPr>
        </p:nvSpPr>
        <p:spPr>
          <a:xfrm>
            <a:off x="5827048" y="1868487"/>
            <a:ext cx="5721484" cy="4351338"/>
          </a:xfrm>
        </p:spPr>
        <p:txBody>
          <a:bodyPr>
            <a:normAutofit/>
          </a:bodyPr>
          <a:lstStyle/>
          <a:p>
            <a:r>
              <a:rPr lang="ru-RU" sz="2000">
                <a:effectLst/>
                <a:latin typeface="Verdana" panose="020B0604030504040204" pitchFamily="34" charset="0"/>
                <a:ea typeface="Times New Roman" panose="02020603050405020304" pitchFamily="18" charset="0"/>
              </a:rPr>
              <a:t>выявление </a:t>
            </a:r>
            <a:r>
              <a:rPr lang="ru-RU" sz="2000" i="1">
                <a:effectLst/>
                <a:latin typeface="Verdana" panose="020B0604030504040204" pitchFamily="34" charset="0"/>
                <a:ea typeface="Times New Roman" panose="02020603050405020304" pitchFamily="18" charset="0"/>
              </a:rPr>
              <a:t>закономерностей</a:t>
            </a:r>
            <a:r>
              <a:rPr lang="ru-RU" sz="2000">
                <a:effectLst/>
                <a:latin typeface="Verdana" panose="020B0604030504040204" pitchFamily="34" charset="0"/>
                <a:ea typeface="Times New Roman" panose="02020603050405020304" pitchFamily="18" charset="0"/>
              </a:rPr>
              <a:t> условной логики (</a:t>
            </a:r>
            <a:r>
              <a:rPr lang="en-US" sz="2000">
                <a:effectLst/>
                <a:latin typeface="Verdana" panose="020B0604030504040204" pitchFamily="34" charset="0"/>
                <a:ea typeface="Times New Roman" panose="02020603050405020304" pitchFamily="18" charset="0"/>
              </a:rPr>
              <a:t>conditional logic) - </a:t>
            </a:r>
            <a:r>
              <a:rPr lang="ru-RU" sz="2000"/>
              <a:t>индукция правил условной логики (задачи классификации и кластеризации, описание в компактной форме близких или схожих групп объектов);</a:t>
            </a:r>
            <a:endParaRPr lang="en-US" sz="2000"/>
          </a:p>
          <a:p>
            <a:r>
              <a:rPr lang="ru-RU" sz="2000">
                <a:effectLst/>
                <a:latin typeface="Verdana" panose="020B0604030504040204" pitchFamily="34" charset="0"/>
                <a:ea typeface="Times New Roman" panose="02020603050405020304" pitchFamily="18" charset="0"/>
              </a:rPr>
              <a:t>выявление </a:t>
            </a:r>
            <a:r>
              <a:rPr lang="ru-RU" sz="2000" i="1">
                <a:effectLst/>
                <a:latin typeface="Verdana" panose="020B0604030504040204" pitchFamily="34" charset="0"/>
                <a:ea typeface="Times New Roman" panose="02020603050405020304" pitchFamily="18" charset="0"/>
              </a:rPr>
              <a:t>закономерностей</a:t>
            </a:r>
            <a:r>
              <a:rPr lang="ru-RU" sz="2000">
                <a:effectLst/>
                <a:latin typeface="Verdana" panose="020B0604030504040204" pitchFamily="34" charset="0"/>
                <a:ea typeface="Times New Roman" panose="02020603050405020304" pitchFamily="18" charset="0"/>
              </a:rPr>
              <a:t> ассоциативной логики (</a:t>
            </a:r>
            <a:r>
              <a:rPr lang="en-US" sz="2000">
                <a:effectLst/>
                <a:latin typeface="Verdana" panose="020B0604030504040204" pitchFamily="34" charset="0"/>
                <a:ea typeface="Times New Roman" panose="02020603050405020304" pitchFamily="18" charset="0"/>
              </a:rPr>
              <a:t>associations and affinities) - </a:t>
            </a:r>
            <a:r>
              <a:rPr lang="ru-RU" sz="2000"/>
              <a:t>индукция правил ассоциативной логики (задачи ассоциации и последовательности и извлекаемая при их помощи информация);</a:t>
            </a:r>
            <a:endParaRPr lang="en-US" sz="2000"/>
          </a:p>
          <a:p>
            <a:r>
              <a:rPr lang="ru-RU" sz="2000">
                <a:effectLst/>
                <a:latin typeface="Verdana" panose="020B0604030504040204" pitchFamily="34" charset="0"/>
                <a:ea typeface="Times New Roman" panose="02020603050405020304" pitchFamily="18" charset="0"/>
              </a:rPr>
              <a:t>выявление трендов и колебаний (</a:t>
            </a:r>
            <a:r>
              <a:rPr lang="en-US" sz="2000">
                <a:effectLst/>
                <a:latin typeface="Verdana" panose="020B0604030504040204" pitchFamily="34" charset="0"/>
                <a:ea typeface="Times New Roman" panose="02020603050405020304" pitchFamily="18" charset="0"/>
              </a:rPr>
              <a:t>trends and variations) </a:t>
            </a:r>
            <a:r>
              <a:rPr lang="ru-RU" sz="2000"/>
              <a:t>(исходный этап задачи прогнозирования).</a:t>
            </a:r>
          </a:p>
          <a:p>
            <a:pPr marL="0" marR="0" lvl="0" indent="0">
              <a:spcBef>
                <a:spcPts val="0"/>
              </a:spcBef>
              <a:spcAft>
                <a:spcPts val="0"/>
              </a:spcAft>
              <a:buSzPts val="1000"/>
              <a:buNone/>
              <a:tabLst>
                <a:tab pos="457200" algn="l"/>
              </a:tabLst>
            </a:pPr>
            <a:endParaRPr lang="en-US" sz="2000">
              <a:effectLst/>
              <a:latin typeface="Verdana" panose="020B0604030504040204" pitchFamily="34" charset="0"/>
              <a:ea typeface="Times New Roman" panose="02020603050405020304" pitchFamily="18" charset="0"/>
            </a:endParaRPr>
          </a:p>
          <a:p>
            <a:pPr marL="0" indent="0">
              <a:buNone/>
            </a:pPr>
            <a:endParaRPr lang="LID4096" sz="2000"/>
          </a:p>
        </p:txBody>
      </p:sp>
    </p:spTree>
    <p:extLst>
      <p:ext uri="{BB962C8B-B14F-4D97-AF65-F5344CB8AC3E}">
        <p14:creationId xmlns:p14="http://schemas.microsoft.com/office/powerpoint/2010/main" val="4090908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60B0EFB-53ED-4F35-B05D-F658EA021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Документ с графиком и ручкой">
            <a:extLst>
              <a:ext uri="{FF2B5EF4-FFF2-40B4-BE49-F238E27FC236}">
                <a16:creationId xmlns:a16="http://schemas.microsoft.com/office/drawing/2014/main" id="{7C02B110-31F3-7D5F-757E-74C52D0D86D8}"/>
              </a:ext>
            </a:extLst>
          </p:cNvPr>
          <p:cNvPicPr>
            <a:picLocks noChangeAspect="1"/>
          </p:cNvPicPr>
          <p:nvPr/>
        </p:nvPicPr>
        <p:blipFill rotWithShape="1">
          <a:blip r:embed="rId2"/>
          <a:srcRect l="33231" r="19508" b="-1"/>
          <a:stretch/>
        </p:blipFill>
        <p:spPr>
          <a:xfrm>
            <a:off x="-7366" y="10"/>
            <a:ext cx="4855591" cy="6857990"/>
          </a:xfrm>
          <a:custGeom>
            <a:avLst/>
            <a:gdLst/>
            <a:ahLst/>
            <a:cxnLst/>
            <a:rect l="l" t="t" r="r" b="b"/>
            <a:pathLst>
              <a:path w="4636517" h="6858000">
                <a:moveTo>
                  <a:pt x="0" y="0"/>
                </a:moveTo>
                <a:lnTo>
                  <a:pt x="4636517" y="0"/>
                </a:lnTo>
                <a:lnTo>
                  <a:pt x="4636517" y="6858000"/>
                </a:lnTo>
                <a:lnTo>
                  <a:pt x="0" y="6858000"/>
                </a:lnTo>
                <a:close/>
              </a:path>
            </a:pathLst>
          </a:custGeom>
        </p:spPr>
      </p:pic>
      <p:sp>
        <p:nvSpPr>
          <p:cNvPr id="11" name="!!Arc">
            <a:extLst>
              <a:ext uri="{FF2B5EF4-FFF2-40B4-BE49-F238E27FC236}">
                <a16:creationId xmlns:a16="http://schemas.microsoft.com/office/drawing/2014/main" id="{835EF3DD-7D43-4A27-8967-A92FD8CC93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3531" y="407987"/>
            <a:ext cx="2987899" cy="2987899"/>
          </a:xfrm>
          <a:prstGeom prst="arc">
            <a:avLst>
              <a:gd name="adj1" fmla="val 16200000"/>
              <a:gd name="adj2" fmla="val 256372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5583202-F79C-128D-B3D1-76E1153E0461}"/>
              </a:ext>
            </a:extLst>
          </p:cNvPr>
          <p:cNvSpPr>
            <a:spLocks noGrp="1"/>
          </p:cNvSpPr>
          <p:nvPr>
            <p:ph type="title"/>
          </p:nvPr>
        </p:nvSpPr>
        <p:spPr>
          <a:xfrm>
            <a:off x="5827048" y="407987"/>
            <a:ext cx="5721484" cy="1325563"/>
          </a:xfrm>
        </p:spPr>
        <p:txBody>
          <a:bodyPr>
            <a:normAutofit/>
          </a:bodyPr>
          <a:lstStyle/>
          <a:p>
            <a:r>
              <a:rPr lang="ru-RU" dirty="0"/>
              <a:t>Пример свободного поиска</a:t>
            </a:r>
            <a:endParaRPr lang="LID4096" dirty="0"/>
          </a:p>
        </p:txBody>
      </p:sp>
      <p:sp>
        <p:nvSpPr>
          <p:cNvPr id="3" name="Content Placeholder 2">
            <a:extLst>
              <a:ext uri="{FF2B5EF4-FFF2-40B4-BE49-F238E27FC236}">
                <a16:creationId xmlns:a16="http://schemas.microsoft.com/office/drawing/2014/main" id="{4C2F4299-23E8-1DB9-0DBE-78CDDF4D5B80}"/>
              </a:ext>
            </a:extLst>
          </p:cNvPr>
          <p:cNvSpPr>
            <a:spLocks noGrp="1"/>
          </p:cNvSpPr>
          <p:nvPr>
            <p:ph idx="1"/>
          </p:nvPr>
        </p:nvSpPr>
        <p:spPr>
          <a:xfrm>
            <a:off x="5827048" y="1868487"/>
            <a:ext cx="5721484" cy="4351338"/>
          </a:xfrm>
        </p:spPr>
        <p:txBody>
          <a:bodyPr>
            <a:normAutofit/>
          </a:bodyPr>
          <a:lstStyle/>
          <a:p>
            <a:pPr marL="0" marR="0" indent="0">
              <a:buNone/>
            </a:pPr>
            <a:r>
              <a:rPr lang="ru-RU" sz="1300">
                <a:latin typeface="Verdana" panose="020B0604030504040204" pitchFamily="34" charset="0"/>
                <a:ea typeface="Times New Roman" panose="02020603050405020304" pitchFamily="18" charset="0"/>
                <a:cs typeface="Times New Roman" panose="02020603050405020304" pitchFamily="18" charset="0"/>
              </a:rPr>
              <a:t>Пусть</a:t>
            </a:r>
            <a:r>
              <a:rPr lang="ru-RU" sz="1300">
                <a:effectLst/>
                <a:latin typeface="Verdana" panose="020B0604030504040204" pitchFamily="34" charset="0"/>
                <a:ea typeface="Times New Roman" panose="02020603050405020304" pitchFamily="18" charset="0"/>
                <a:cs typeface="Times New Roman" panose="02020603050405020304" pitchFamily="18" charset="0"/>
              </a:rPr>
              <a:t> имеется база данных кадрового агентства с данными о профессии, стаже, возрасте и желаемом уровне вознаграждения. В случае самостоятельного задания запросов аналитик может получить приблизительно такие результаты: средний желаемый уровень вознаграждения специалистов в возрасте от 25 до 35 лет равен 1200 условных единиц. В случае </a:t>
            </a:r>
            <a:r>
              <a:rPr lang="ru-RU" sz="1300" i="1">
                <a:effectLst/>
                <a:latin typeface="Verdana" panose="020B0604030504040204" pitchFamily="34" charset="0"/>
                <a:ea typeface="Times New Roman" panose="02020603050405020304" pitchFamily="18" charset="0"/>
                <a:cs typeface="Times New Roman" panose="02020603050405020304" pitchFamily="18" charset="0"/>
              </a:rPr>
              <a:t>свободного поиска</a:t>
            </a:r>
            <a:r>
              <a:rPr lang="ru-RU" sz="1300">
                <a:effectLst/>
                <a:latin typeface="Verdana" panose="020B0604030504040204" pitchFamily="34" charset="0"/>
                <a:ea typeface="Times New Roman" panose="02020603050405020304" pitchFamily="18" charset="0"/>
                <a:cs typeface="Times New Roman" panose="02020603050405020304" pitchFamily="18" charset="0"/>
              </a:rPr>
              <a:t> система сама ищет </a:t>
            </a:r>
            <a:r>
              <a:rPr lang="ru-RU" sz="1300" i="1">
                <a:effectLst/>
                <a:latin typeface="Verdana" panose="020B0604030504040204" pitchFamily="34" charset="0"/>
                <a:ea typeface="Times New Roman" panose="02020603050405020304" pitchFamily="18" charset="0"/>
                <a:cs typeface="Times New Roman" panose="02020603050405020304" pitchFamily="18" charset="0"/>
              </a:rPr>
              <a:t>закономерности</a:t>
            </a:r>
            <a:r>
              <a:rPr lang="ru-RU" sz="1300">
                <a:effectLst/>
                <a:latin typeface="Verdana" panose="020B0604030504040204" pitchFamily="34" charset="0"/>
                <a:ea typeface="Times New Roman" panose="02020603050405020304" pitchFamily="18" charset="0"/>
                <a:cs typeface="Times New Roman" panose="02020603050405020304" pitchFamily="18" charset="0"/>
              </a:rPr>
              <a:t>, необходимо лишь задать целевую переменную. В результате поиска </a:t>
            </a:r>
            <a:r>
              <a:rPr lang="ru-RU" sz="1300" i="1">
                <a:effectLst/>
                <a:latin typeface="Verdana" panose="020B0604030504040204" pitchFamily="34" charset="0"/>
                <a:ea typeface="Times New Roman" panose="02020603050405020304" pitchFamily="18" charset="0"/>
                <a:cs typeface="Times New Roman" panose="02020603050405020304" pitchFamily="18" charset="0"/>
              </a:rPr>
              <a:t>закономерностей</a:t>
            </a:r>
            <a:r>
              <a:rPr lang="ru-RU" sz="1300">
                <a:effectLst/>
                <a:latin typeface="Verdana" panose="020B0604030504040204" pitchFamily="34" charset="0"/>
                <a:ea typeface="Times New Roman" panose="02020603050405020304" pitchFamily="18" charset="0"/>
                <a:cs typeface="Times New Roman" panose="02020603050405020304" pitchFamily="18" charset="0"/>
              </a:rPr>
              <a:t> система сформирует набор логических правил "если ..., то ...".</a:t>
            </a:r>
          </a:p>
          <a:p>
            <a:pPr marL="0" marR="0"/>
            <a:r>
              <a:rPr lang="ru-RU" sz="1300">
                <a:effectLst/>
                <a:latin typeface="Verdana" panose="020B0604030504040204" pitchFamily="34" charset="0"/>
                <a:ea typeface="Times New Roman" panose="02020603050405020304" pitchFamily="18" charset="0"/>
                <a:cs typeface="Times New Roman" panose="02020603050405020304" pitchFamily="18" charset="0"/>
              </a:rPr>
              <a:t>Могут быть найдены, например, такие </a:t>
            </a:r>
            <a:r>
              <a:rPr lang="ru-RU" sz="1300" i="1">
                <a:effectLst/>
                <a:latin typeface="Verdana" panose="020B0604030504040204" pitchFamily="34" charset="0"/>
                <a:ea typeface="Times New Roman" panose="02020603050405020304" pitchFamily="18" charset="0"/>
                <a:cs typeface="Times New Roman" panose="02020603050405020304" pitchFamily="18" charset="0"/>
              </a:rPr>
              <a:t>закономерности</a:t>
            </a:r>
            <a:r>
              <a:rPr lang="ru-RU" sz="1300">
                <a:effectLst/>
                <a:latin typeface="Verdana" panose="020B0604030504040204" pitchFamily="34" charset="0"/>
                <a:ea typeface="Times New Roman" panose="02020603050405020304" pitchFamily="18" charset="0"/>
                <a:cs typeface="Times New Roman" panose="02020603050405020304" pitchFamily="18" charset="0"/>
              </a:rPr>
              <a:t> </a:t>
            </a:r>
            <a:r>
              <a:rPr lang="ru-RU" sz="1300">
                <a:effectLst/>
                <a:highlight>
                  <a:srgbClr val="FFFF00"/>
                </a:highlight>
                <a:latin typeface="Verdana" panose="020B0604030504040204" pitchFamily="34" charset="0"/>
                <a:ea typeface="Times New Roman" panose="02020603050405020304" pitchFamily="18" charset="0"/>
                <a:cs typeface="Times New Roman" panose="02020603050405020304" pitchFamily="18" charset="0"/>
              </a:rPr>
              <a:t>"</a:t>
            </a:r>
            <a:r>
              <a:rPr lang="ru-RU" sz="1300" b="1">
                <a:effectLst/>
                <a:highlight>
                  <a:srgbClr val="FFFF00"/>
                </a:highlight>
                <a:latin typeface="Verdana" panose="020B0604030504040204" pitchFamily="34" charset="0"/>
                <a:ea typeface="Times New Roman" panose="02020603050405020304" pitchFamily="18" charset="0"/>
                <a:cs typeface="Times New Roman" panose="02020603050405020304" pitchFamily="18" charset="0"/>
              </a:rPr>
              <a:t>Если</a:t>
            </a:r>
            <a:r>
              <a:rPr lang="ru-RU" sz="1300">
                <a:effectLst/>
                <a:highlight>
                  <a:srgbClr val="FFFF00"/>
                </a:highlight>
                <a:latin typeface="Verdana" panose="020B0604030504040204" pitchFamily="34" charset="0"/>
                <a:ea typeface="Times New Roman" panose="02020603050405020304" pitchFamily="18" charset="0"/>
                <a:cs typeface="Times New Roman" panose="02020603050405020304" pitchFamily="18" charset="0"/>
              </a:rPr>
              <a:t> возраст &lt; 20 лет и желаемый уровень вознаграждения &gt; 700 условных единиц, то в 75% случаев соискатель ищет работу программиста"</a:t>
            </a:r>
            <a:r>
              <a:rPr lang="ru-RU" sz="1300">
                <a:effectLst/>
                <a:latin typeface="Verdana" panose="020B0604030504040204" pitchFamily="34" charset="0"/>
                <a:ea typeface="Times New Roman" panose="02020603050405020304" pitchFamily="18" charset="0"/>
                <a:cs typeface="Times New Roman" panose="02020603050405020304" pitchFamily="18" charset="0"/>
              </a:rPr>
              <a:t> или </a:t>
            </a:r>
            <a:r>
              <a:rPr lang="ru-RU" sz="1300">
                <a:effectLst/>
                <a:highlight>
                  <a:srgbClr val="00FF00"/>
                </a:highlight>
                <a:latin typeface="Verdana" panose="020B0604030504040204" pitchFamily="34" charset="0"/>
                <a:ea typeface="Times New Roman" panose="02020603050405020304" pitchFamily="18" charset="0"/>
                <a:cs typeface="Times New Roman" panose="02020603050405020304" pitchFamily="18" charset="0"/>
              </a:rPr>
              <a:t>"</a:t>
            </a:r>
            <a:r>
              <a:rPr lang="ru-RU" sz="1300" b="1">
                <a:effectLst/>
                <a:highlight>
                  <a:srgbClr val="00FF00"/>
                </a:highlight>
                <a:latin typeface="Verdana" panose="020B0604030504040204" pitchFamily="34" charset="0"/>
                <a:ea typeface="Times New Roman" panose="02020603050405020304" pitchFamily="18" charset="0"/>
                <a:cs typeface="Times New Roman" panose="02020603050405020304" pitchFamily="18" charset="0"/>
              </a:rPr>
              <a:t>Если</a:t>
            </a:r>
            <a:r>
              <a:rPr lang="ru-RU" sz="1300">
                <a:effectLst/>
                <a:highlight>
                  <a:srgbClr val="00FF00"/>
                </a:highlight>
                <a:latin typeface="Verdana" panose="020B0604030504040204" pitchFamily="34" charset="0"/>
                <a:ea typeface="Times New Roman" panose="02020603050405020304" pitchFamily="18" charset="0"/>
                <a:cs typeface="Times New Roman" panose="02020603050405020304" pitchFamily="18" charset="0"/>
              </a:rPr>
              <a:t> возраст &gt;35 лет и желаемый уровень вознаграждения &gt; 1200 условных единиц, то в 90% случаев соискатель ищет руководящую работу"</a:t>
            </a:r>
            <a:r>
              <a:rPr lang="ru-RU" sz="1300">
                <a:effectLst/>
                <a:latin typeface="Verdana" panose="020B0604030504040204" pitchFamily="34" charset="0"/>
                <a:ea typeface="Times New Roman" panose="02020603050405020304" pitchFamily="18" charset="0"/>
                <a:cs typeface="Times New Roman" panose="02020603050405020304" pitchFamily="18" charset="0"/>
              </a:rPr>
              <a:t>. Целевой переменной в описанных правилах выступает </a:t>
            </a:r>
            <a:r>
              <a:rPr lang="ru-RU" sz="1300" b="1">
                <a:effectLst/>
                <a:latin typeface="Verdana" panose="020B0604030504040204" pitchFamily="34" charset="0"/>
                <a:ea typeface="Times New Roman" panose="02020603050405020304" pitchFamily="18" charset="0"/>
                <a:cs typeface="Times New Roman" panose="02020603050405020304" pitchFamily="18" charset="0"/>
              </a:rPr>
              <a:t>профессия</a:t>
            </a:r>
            <a:r>
              <a:rPr lang="ru-RU" sz="1300">
                <a:effectLst/>
                <a:latin typeface="Verdana" panose="020B0604030504040204" pitchFamily="34" charset="0"/>
                <a:ea typeface="Times New Roman" panose="02020603050405020304" pitchFamily="18" charset="0"/>
                <a:cs typeface="Times New Roman" panose="02020603050405020304" pitchFamily="18" charset="0"/>
              </a:rPr>
              <a:t>.</a:t>
            </a:r>
          </a:p>
          <a:p>
            <a:pPr marL="0"/>
            <a:r>
              <a:rPr lang="ru-RU" sz="1300">
                <a:latin typeface="Verdana" panose="020B0604030504040204" pitchFamily="34" charset="0"/>
                <a:cs typeface="Times New Roman" panose="02020603050405020304" pitchFamily="18" charset="0"/>
              </a:rPr>
              <a:t>При задании другой целевой переменной, например, возраста, получаем такие правила: </a:t>
            </a:r>
            <a:r>
              <a:rPr lang="ru-RU" sz="1300">
                <a:highlight>
                  <a:srgbClr val="FF00FF"/>
                </a:highlight>
                <a:latin typeface="Verdana" panose="020B0604030504040204" pitchFamily="34" charset="0"/>
                <a:cs typeface="Times New Roman" panose="02020603050405020304" pitchFamily="18" charset="0"/>
              </a:rPr>
              <a:t>"Если соискатель ищет руководящую работу и его стаж &gt; 15 лет, то возраст соискателя &gt; 35 лет в 65 % случаев"</a:t>
            </a:r>
            <a:endParaRPr lang="LID4096" sz="1300">
              <a:highlight>
                <a:srgbClr val="FF00FF"/>
              </a:highlight>
              <a:latin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8949297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7024687B-3153-123C-0A8C-D7D007FAF1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23" name="Rectangle 22">
              <a:extLst>
                <a:ext uri="{FF2B5EF4-FFF2-40B4-BE49-F238E27FC236}">
                  <a16:creationId xmlns:a16="http://schemas.microsoft.com/office/drawing/2014/main" id="{8D6305F5-7509-0BF5-12D3-30451FCD73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71C5C7A-6D55-5B27-646E-39C962693C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3B3B1F4-948C-963C-E6EA-60CF7FBFA2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9ED45A3D-D660-70DB-A524-A084387F72B8}"/>
              </a:ext>
            </a:extLst>
          </p:cNvPr>
          <p:cNvSpPr>
            <a:spLocks noGrp="1"/>
          </p:cNvSpPr>
          <p:nvPr>
            <p:ph type="title"/>
          </p:nvPr>
        </p:nvSpPr>
        <p:spPr>
          <a:xfrm>
            <a:off x="876691" y="301843"/>
            <a:ext cx="10477109" cy="1003532"/>
          </a:xfrm>
        </p:spPr>
        <p:txBody>
          <a:bodyPr vert="horz" lIns="91440" tIns="45720" rIns="91440" bIns="45720" rtlCol="0" anchor="ctr">
            <a:normAutofit/>
          </a:bodyPr>
          <a:lstStyle/>
          <a:p>
            <a:r>
              <a:rPr lang="en-US" sz="3200" b="1" kern="1200" dirty="0" err="1">
                <a:solidFill>
                  <a:srgbClr val="FFFFFF"/>
                </a:solidFill>
                <a:effectLst/>
                <a:latin typeface="+mj-lt"/>
                <a:ea typeface="+mj-ea"/>
                <a:cs typeface="+mj-cs"/>
              </a:rPr>
              <a:t>Прогностическое</a:t>
            </a:r>
            <a:r>
              <a:rPr lang="en-US" sz="3200" b="1" kern="1200" dirty="0">
                <a:solidFill>
                  <a:srgbClr val="FFFFFF"/>
                </a:solidFill>
                <a:effectLst/>
                <a:latin typeface="+mj-lt"/>
                <a:ea typeface="+mj-ea"/>
                <a:cs typeface="+mj-cs"/>
              </a:rPr>
              <a:t> </a:t>
            </a:r>
            <a:r>
              <a:rPr lang="en-US" sz="3200" b="1" kern="1200" dirty="0" err="1">
                <a:solidFill>
                  <a:srgbClr val="FFFFFF"/>
                </a:solidFill>
                <a:effectLst/>
                <a:latin typeface="+mj-lt"/>
                <a:ea typeface="+mj-ea"/>
                <a:cs typeface="+mj-cs"/>
              </a:rPr>
              <a:t>моделирование</a:t>
            </a:r>
            <a:r>
              <a:rPr lang="en-US" sz="3200" b="1" kern="1200" dirty="0">
                <a:solidFill>
                  <a:srgbClr val="FFFFFF"/>
                </a:solidFill>
                <a:effectLst/>
                <a:latin typeface="+mj-lt"/>
                <a:ea typeface="+mj-ea"/>
                <a:cs typeface="+mj-cs"/>
              </a:rPr>
              <a:t> (Predictive Modeling)</a:t>
            </a:r>
            <a:endParaRPr lang="en-US" sz="3200" kern="1200" dirty="0">
              <a:solidFill>
                <a:srgbClr val="FFFFFF"/>
              </a:solidFill>
              <a:latin typeface="+mj-lt"/>
              <a:ea typeface="+mj-ea"/>
              <a:cs typeface="+mj-cs"/>
            </a:endParaRPr>
          </a:p>
        </p:txBody>
      </p:sp>
      <p:sp>
        <p:nvSpPr>
          <p:cNvPr id="6" name="TextBox 5">
            <a:extLst>
              <a:ext uri="{FF2B5EF4-FFF2-40B4-BE49-F238E27FC236}">
                <a16:creationId xmlns:a16="http://schemas.microsoft.com/office/drawing/2014/main" id="{5FC8A0D2-4C98-6DF2-7FCC-394FB9B0BDB8}"/>
              </a:ext>
            </a:extLst>
          </p:cNvPr>
          <p:cNvSpPr txBox="1"/>
          <p:nvPr/>
        </p:nvSpPr>
        <p:spPr>
          <a:xfrm>
            <a:off x="876301" y="2308124"/>
            <a:ext cx="5025735" cy="3673576"/>
          </a:xfrm>
          <a:prstGeom prst="rect">
            <a:avLst/>
          </a:prstGeom>
        </p:spPr>
        <p:txBody>
          <a:bodyPr vert="horz" lIns="91440" tIns="45720" rIns="91440" bIns="45720" rtlCol="0">
            <a:normAutofit/>
          </a:bodyPr>
          <a:lstStyle/>
          <a:p>
            <a:pPr marR="0">
              <a:lnSpc>
                <a:spcPct val="90000"/>
              </a:lnSpc>
              <a:spcAft>
                <a:spcPts val="600"/>
              </a:spcAft>
            </a:pPr>
            <a:r>
              <a:rPr lang="en-US" sz="1600" dirty="0" err="1">
                <a:effectLst/>
              </a:rPr>
              <a:t>Вторая</a:t>
            </a:r>
            <a:r>
              <a:rPr lang="en-US" sz="1600" dirty="0">
                <a:effectLst/>
              </a:rPr>
              <a:t> </a:t>
            </a:r>
            <a:r>
              <a:rPr lang="en-US" sz="1600" dirty="0" err="1">
                <a:effectLst/>
              </a:rPr>
              <a:t>стадия</a:t>
            </a:r>
            <a:r>
              <a:rPr lang="en-US" sz="1600" dirty="0">
                <a:effectLst/>
              </a:rPr>
              <a:t> Data Mining - </a:t>
            </a:r>
            <a:r>
              <a:rPr lang="en-US" sz="1600" i="1" dirty="0" err="1">
                <a:effectLst/>
              </a:rPr>
              <a:t>прогностическое</a:t>
            </a:r>
            <a:r>
              <a:rPr lang="en-US" sz="1600" i="1" dirty="0">
                <a:effectLst/>
              </a:rPr>
              <a:t> </a:t>
            </a:r>
            <a:r>
              <a:rPr lang="en-US" sz="1600" i="1" dirty="0" err="1">
                <a:effectLst/>
              </a:rPr>
              <a:t>моделирование</a:t>
            </a:r>
            <a:r>
              <a:rPr lang="en-US" sz="1600" dirty="0">
                <a:effectLst/>
              </a:rPr>
              <a:t> - </a:t>
            </a:r>
            <a:r>
              <a:rPr lang="en-US" sz="1600" dirty="0" err="1">
                <a:effectLst/>
              </a:rPr>
              <a:t>использует</a:t>
            </a:r>
            <a:r>
              <a:rPr lang="en-US" sz="1600" dirty="0">
                <a:effectLst/>
              </a:rPr>
              <a:t> </a:t>
            </a:r>
            <a:r>
              <a:rPr lang="en-US" sz="1600" dirty="0" err="1">
                <a:effectLst/>
              </a:rPr>
              <a:t>результаты</a:t>
            </a:r>
            <a:r>
              <a:rPr lang="en-US" sz="1600" dirty="0">
                <a:effectLst/>
              </a:rPr>
              <a:t> </a:t>
            </a:r>
            <a:r>
              <a:rPr lang="en-US" sz="1600" dirty="0" err="1">
                <a:effectLst/>
              </a:rPr>
              <a:t>работы</a:t>
            </a:r>
            <a:r>
              <a:rPr lang="en-US" sz="1600" dirty="0">
                <a:effectLst/>
              </a:rPr>
              <a:t> </a:t>
            </a:r>
            <a:r>
              <a:rPr lang="en-US" sz="1600" dirty="0" err="1">
                <a:effectLst/>
              </a:rPr>
              <a:t>первой</a:t>
            </a:r>
            <a:r>
              <a:rPr lang="en-US" sz="1600" dirty="0">
                <a:effectLst/>
              </a:rPr>
              <a:t> </a:t>
            </a:r>
            <a:r>
              <a:rPr lang="en-US" sz="1600" dirty="0" err="1">
                <a:effectLst/>
              </a:rPr>
              <a:t>стадии</a:t>
            </a:r>
            <a:r>
              <a:rPr lang="en-US" sz="1600" dirty="0">
                <a:effectLst/>
              </a:rPr>
              <a:t>. </a:t>
            </a:r>
            <a:r>
              <a:rPr lang="en-US" sz="1600" dirty="0" err="1"/>
              <a:t>О</a:t>
            </a:r>
            <a:r>
              <a:rPr lang="en-US" sz="1600" dirty="0" err="1">
                <a:effectLst/>
              </a:rPr>
              <a:t>бнаруженные</a:t>
            </a:r>
            <a:r>
              <a:rPr lang="en-US" sz="1600" dirty="0">
                <a:effectLst/>
              </a:rPr>
              <a:t> </a:t>
            </a:r>
            <a:r>
              <a:rPr lang="en-US" sz="1600" i="1" dirty="0" err="1">
                <a:effectLst/>
              </a:rPr>
              <a:t>закономерности</a:t>
            </a:r>
            <a:r>
              <a:rPr lang="en-US" sz="1600" dirty="0">
                <a:effectLst/>
              </a:rPr>
              <a:t> </a:t>
            </a:r>
            <a:r>
              <a:rPr lang="en-US" sz="1600" dirty="0" err="1">
                <a:effectLst/>
              </a:rPr>
              <a:t>используются</a:t>
            </a:r>
            <a:r>
              <a:rPr lang="en-US" sz="1600" dirty="0">
                <a:effectLst/>
              </a:rPr>
              <a:t> </a:t>
            </a:r>
            <a:r>
              <a:rPr lang="en-US" sz="1600" dirty="0" err="1">
                <a:effectLst/>
              </a:rPr>
              <a:t>непосредственно</a:t>
            </a:r>
            <a:r>
              <a:rPr lang="en-US" sz="1600" dirty="0">
                <a:effectLst/>
              </a:rPr>
              <a:t> </a:t>
            </a:r>
            <a:r>
              <a:rPr lang="en-US" sz="1600" dirty="0" err="1">
                <a:effectLst/>
              </a:rPr>
              <a:t>для</a:t>
            </a:r>
            <a:r>
              <a:rPr lang="en-US" sz="1600" dirty="0">
                <a:effectLst/>
              </a:rPr>
              <a:t> </a:t>
            </a:r>
            <a:r>
              <a:rPr lang="en-US" sz="1600" dirty="0" err="1">
                <a:effectLst/>
              </a:rPr>
              <a:t>прогнозирования</a:t>
            </a:r>
            <a:r>
              <a:rPr lang="en-US" sz="1600" dirty="0">
                <a:effectLst/>
              </a:rPr>
              <a:t>.</a:t>
            </a:r>
          </a:p>
          <a:p>
            <a:pPr marL="0" marR="0" indent="-228600">
              <a:lnSpc>
                <a:spcPct val="90000"/>
              </a:lnSpc>
              <a:spcAft>
                <a:spcPts val="600"/>
              </a:spcAft>
              <a:buFont typeface="Arial" panose="020B0604020202020204" pitchFamily="34" charset="0"/>
              <a:buChar char="•"/>
            </a:pPr>
            <a:endParaRPr lang="en-US" sz="1600" dirty="0">
              <a:effectLst/>
            </a:endParaRPr>
          </a:p>
          <a:p>
            <a:pPr marR="0">
              <a:lnSpc>
                <a:spcPct val="90000"/>
              </a:lnSpc>
              <a:spcAft>
                <a:spcPts val="600"/>
              </a:spcAft>
            </a:pPr>
            <a:r>
              <a:rPr lang="en-US" sz="1600" dirty="0" err="1">
                <a:effectLst/>
              </a:rPr>
              <a:t>Прогностическое</a:t>
            </a:r>
            <a:r>
              <a:rPr lang="en-US" sz="1600" dirty="0">
                <a:effectLst/>
              </a:rPr>
              <a:t> </a:t>
            </a:r>
            <a:r>
              <a:rPr lang="en-US" sz="1600" dirty="0" err="1">
                <a:effectLst/>
              </a:rPr>
              <a:t>моделирование</a:t>
            </a:r>
            <a:r>
              <a:rPr lang="en-US" sz="1600" dirty="0">
                <a:effectLst/>
              </a:rPr>
              <a:t> </a:t>
            </a:r>
            <a:r>
              <a:rPr lang="en-US" sz="1600" dirty="0" err="1">
                <a:effectLst/>
              </a:rPr>
              <a:t>включает</a:t>
            </a:r>
            <a:r>
              <a:rPr lang="en-US" sz="1600" dirty="0">
                <a:effectLst/>
              </a:rPr>
              <a:t> </a:t>
            </a:r>
            <a:r>
              <a:rPr lang="en-US" sz="1600" dirty="0" err="1">
                <a:effectLst/>
              </a:rPr>
              <a:t>такие</a:t>
            </a:r>
            <a:r>
              <a:rPr lang="en-US" sz="1600" dirty="0">
                <a:effectLst/>
              </a:rPr>
              <a:t> </a:t>
            </a:r>
            <a:r>
              <a:rPr lang="en-US" sz="1600" b="1" dirty="0" err="1">
                <a:effectLst/>
              </a:rPr>
              <a:t>действия</a:t>
            </a:r>
            <a:r>
              <a:rPr lang="en-US" sz="1600" dirty="0">
                <a:effectLst/>
              </a:rPr>
              <a:t>:</a:t>
            </a:r>
          </a:p>
          <a:p>
            <a:pPr marL="342900" marR="0" lvl="0" indent="-228600">
              <a:lnSpc>
                <a:spcPct val="90000"/>
              </a:lnSpc>
              <a:spcBef>
                <a:spcPts val="0"/>
              </a:spcBef>
              <a:spcAft>
                <a:spcPts val="600"/>
              </a:spcAft>
              <a:buSzPts val="1000"/>
              <a:buFont typeface="Arial" panose="020B0604020202020204" pitchFamily="34" charset="0"/>
              <a:buChar char="•"/>
              <a:tabLst>
                <a:tab pos="457200" algn="l"/>
              </a:tabLst>
            </a:pPr>
            <a:r>
              <a:rPr lang="en-US" sz="1600" dirty="0" err="1">
                <a:effectLst/>
              </a:rPr>
              <a:t>предсказание</a:t>
            </a:r>
            <a:r>
              <a:rPr lang="en-US" sz="1600" dirty="0">
                <a:effectLst/>
              </a:rPr>
              <a:t> </a:t>
            </a:r>
            <a:r>
              <a:rPr lang="en-US" sz="1600" dirty="0" err="1">
                <a:effectLst/>
              </a:rPr>
              <a:t>неизвестных</a:t>
            </a:r>
            <a:r>
              <a:rPr lang="en-US" sz="1600" dirty="0">
                <a:effectLst/>
              </a:rPr>
              <a:t> </a:t>
            </a:r>
            <a:r>
              <a:rPr lang="en-US" sz="1600" dirty="0" err="1">
                <a:effectLst/>
              </a:rPr>
              <a:t>значений</a:t>
            </a:r>
            <a:r>
              <a:rPr lang="en-US" sz="1600" dirty="0">
                <a:effectLst/>
              </a:rPr>
              <a:t> (outcome prediction); </a:t>
            </a:r>
          </a:p>
          <a:p>
            <a:pPr marL="342900" marR="0" lvl="0" indent="-228600">
              <a:lnSpc>
                <a:spcPct val="90000"/>
              </a:lnSpc>
              <a:spcBef>
                <a:spcPts val="0"/>
              </a:spcBef>
              <a:spcAft>
                <a:spcPts val="600"/>
              </a:spcAft>
              <a:buSzPts val="1000"/>
              <a:buFont typeface="Arial" panose="020B0604020202020204" pitchFamily="34" charset="0"/>
              <a:buChar char="•"/>
              <a:tabLst>
                <a:tab pos="457200" algn="l"/>
              </a:tabLst>
            </a:pPr>
            <a:r>
              <a:rPr lang="en-US" sz="1600" dirty="0" err="1">
                <a:effectLst/>
              </a:rPr>
              <a:t>прогнозирование</a:t>
            </a:r>
            <a:r>
              <a:rPr lang="en-US" sz="1600" dirty="0">
                <a:effectLst/>
              </a:rPr>
              <a:t> </a:t>
            </a:r>
            <a:r>
              <a:rPr lang="en-US" sz="1600" dirty="0" err="1">
                <a:effectLst/>
              </a:rPr>
              <a:t>развития</a:t>
            </a:r>
            <a:r>
              <a:rPr lang="en-US" sz="1600" dirty="0">
                <a:effectLst/>
              </a:rPr>
              <a:t> </a:t>
            </a:r>
            <a:r>
              <a:rPr lang="en-US" sz="1600" dirty="0" err="1">
                <a:effectLst/>
              </a:rPr>
              <a:t>процессов</a:t>
            </a:r>
            <a:r>
              <a:rPr lang="en-US" sz="1600" dirty="0">
                <a:effectLst/>
              </a:rPr>
              <a:t> (forecasting).</a:t>
            </a:r>
          </a:p>
          <a:p>
            <a:pPr marR="0" indent="-228600">
              <a:lnSpc>
                <a:spcPct val="90000"/>
              </a:lnSpc>
              <a:spcAft>
                <a:spcPts val="600"/>
              </a:spcAft>
              <a:buFont typeface="Arial" panose="020B0604020202020204" pitchFamily="34" charset="0"/>
              <a:buChar char="•"/>
            </a:pPr>
            <a:endParaRPr lang="en-US" sz="1600" dirty="0">
              <a:effectLst/>
            </a:endParaRPr>
          </a:p>
          <a:p>
            <a:pPr marR="0">
              <a:lnSpc>
                <a:spcPct val="90000"/>
              </a:lnSpc>
              <a:spcAft>
                <a:spcPts val="600"/>
              </a:spcAft>
            </a:pPr>
            <a:r>
              <a:rPr lang="en-US" sz="1600" dirty="0">
                <a:effectLst/>
              </a:rPr>
              <a:t>В </a:t>
            </a:r>
            <a:r>
              <a:rPr lang="en-US" sz="1600" dirty="0" err="1">
                <a:effectLst/>
              </a:rPr>
              <a:t>процессе</a:t>
            </a:r>
            <a:r>
              <a:rPr lang="en-US" sz="1600" dirty="0">
                <a:effectLst/>
              </a:rPr>
              <a:t> </a:t>
            </a:r>
            <a:r>
              <a:rPr lang="en-US" sz="1600" i="1" dirty="0" err="1">
                <a:effectLst/>
              </a:rPr>
              <a:t>прогностического</a:t>
            </a:r>
            <a:r>
              <a:rPr lang="en-US" sz="1600" i="1" dirty="0">
                <a:effectLst/>
              </a:rPr>
              <a:t> </a:t>
            </a:r>
            <a:r>
              <a:rPr lang="en-US" sz="1600" i="1" dirty="0" err="1">
                <a:effectLst/>
              </a:rPr>
              <a:t>моделирования</a:t>
            </a:r>
            <a:r>
              <a:rPr lang="en-US" sz="1600" dirty="0">
                <a:effectLst/>
              </a:rPr>
              <a:t> </a:t>
            </a:r>
            <a:r>
              <a:rPr lang="en-US" sz="1600" dirty="0" err="1">
                <a:effectLst/>
              </a:rPr>
              <a:t>решаются</a:t>
            </a:r>
            <a:r>
              <a:rPr lang="en-US" sz="1600" dirty="0">
                <a:effectLst/>
              </a:rPr>
              <a:t> </a:t>
            </a:r>
            <a:r>
              <a:rPr lang="en-US" sz="1600" dirty="0" err="1">
                <a:effectLst/>
              </a:rPr>
              <a:t>задачи</a:t>
            </a:r>
            <a:r>
              <a:rPr lang="en-US" sz="1600" dirty="0">
                <a:effectLst/>
              </a:rPr>
              <a:t> </a:t>
            </a:r>
            <a:r>
              <a:rPr lang="en-US" sz="1600" dirty="0" err="1">
                <a:effectLst/>
              </a:rPr>
              <a:t>классификации</a:t>
            </a:r>
            <a:r>
              <a:rPr lang="en-US" sz="1600" dirty="0">
                <a:effectLst/>
              </a:rPr>
              <a:t> и </a:t>
            </a:r>
            <a:r>
              <a:rPr lang="en-US" sz="1600" dirty="0" err="1">
                <a:effectLst/>
              </a:rPr>
              <a:t>прогнозирования</a:t>
            </a:r>
            <a:r>
              <a:rPr lang="en-US" sz="1600" dirty="0">
                <a:effectLst/>
              </a:rPr>
              <a:t>.</a:t>
            </a:r>
          </a:p>
        </p:txBody>
      </p:sp>
      <p:pic>
        <p:nvPicPr>
          <p:cNvPr id="4" name="Content Placeholder 3">
            <a:extLst>
              <a:ext uri="{FF2B5EF4-FFF2-40B4-BE49-F238E27FC236}">
                <a16:creationId xmlns:a16="http://schemas.microsoft.com/office/drawing/2014/main" id="{4392D2A8-8F2F-4BB2-7CA0-0AE2ADF7B449}"/>
              </a:ext>
            </a:extLst>
          </p:cNvPr>
          <p:cNvPicPr>
            <a:picLocks noGrp="1" noChangeAspect="1"/>
          </p:cNvPicPr>
          <p:nvPr>
            <p:ph idx="1"/>
          </p:nvPr>
        </p:nvPicPr>
        <p:blipFill>
          <a:blip r:embed="rId3"/>
          <a:stretch>
            <a:fillRect/>
          </a:stretch>
        </p:blipFill>
        <p:spPr>
          <a:xfrm>
            <a:off x="6784258" y="2825129"/>
            <a:ext cx="4531442" cy="2639565"/>
          </a:xfrm>
          <a:prstGeom prst="rect">
            <a:avLst/>
          </a:prstGeom>
        </p:spPr>
      </p:pic>
    </p:spTree>
    <p:extLst>
      <p:ext uri="{BB962C8B-B14F-4D97-AF65-F5344CB8AC3E}">
        <p14:creationId xmlns:p14="http://schemas.microsoft.com/office/powerpoint/2010/main" val="294033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F11A6AE-7C75-368B-BCFC-8C4DB94B07A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98FFC36-3591-574C-00AC-FD3A041A87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Документ с графиком и ручкой">
            <a:extLst>
              <a:ext uri="{FF2B5EF4-FFF2-40B4-BE49-F238E27FC236}">
                <a16:creationId xmlns:a16="http://schemas.microsoft.com/office/drawing/2014/main" id="{7CE741C2-7DFA-4930-6818-F9C858304F8C}"/>
              </a:ext>
            </a:extLst>
          </p:cNvPr>
          <p:cNvPicPr>
            <a:picLocks noChangeAspect="1"/>
          </p:cNvPicPr>
          <p:nvPr/>
        </p:nvPicPr>
        <p:blipFill rotWithShape="1">
          <a:blip r:embed="rId3"/>
          <a:srcRect l="33231" r="19508" b="-1"/>
          <a:stretch/>
        </p:blipFill>
        <p:spPr>
          <a:xfrm>
            <a:off x="-7366" y="10"/>
            <a:ext cx="4855591" cy="6857990"/>
          </a:xfrm>
          <a:custGeom>
            <a:avLst/>
            <a:gdLst/>
            <a:ahLst/>
            <a:cxnLst/>
            <a:rect l="l" t="t" r="r" b="b"/>
            <a:pathLst>
              <a:path w="4636517" h="6858000">
                <a:moveTo>
                  <a:pt x="0" y="0"/>
                </a:moveTo>
                <a:lnTo>
                  <a:pt x="4636517" y="0"/>
                </a:lnTo>
                <a:lnTo>
                  <a:pt x="4636517" y="6858000"/>
                </a:lnTo>
                <a:lnTo>
                  <a:pt x="0" y="6858000"/>
                </a:lnTo>
                <a:close/>
              </a:path>
            </a:pathLst>
          </a:custGeom>
        </p:spPr>
      </p:pic>
      <p:sp>
        <p:nvSpPr>
          <p:cNvPr id="11" name="!!Arc">
            <a:extLst>
              <a:ext uri="{FF2B5EF4-FFF2-40B4-BE49-F238E27FC236}">
                <a16:creationId xmlns:a16="http://schemas.microsoft.com/office/drawing/2014/main" id="{BD8D5C5C-E10F-5D2A-BBF3-D1D1360DAF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3531" y="407987"/>
            <a:ext cx="2987899" cy="2987899"/>
          </a:xfrm>
          <a:prstGeom prst="arc">
            <a:avLst>
              <a:gd name="adj1" fmla="val 16200000"/>
              <a:gd name="adj2" fmla="val 256372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531FFF4-19A4-A857-70B1-98DE12BF5146}"/>
              </a:ext>
            </a:extLst>
          </p:cNvPr>
          <p:cNvSpPr>
            <a:spLocks noGrp="1"/>
          </p:cNvSpPr>
          <p:nvPr>
            <p:ph type="title"/>
          </p:nvPr>
        </p:nvSpPr>
        <p:spPr>
          <a:xfrm>
            <a:off x="5827048" y="407987"/>
            <a:ext cx="5721484" cy="1325563"/>
          </a:xfrm>
        </p:spPr>
        <p:txBody>
          <a:bodyPr>
            <a:normAutofit/>
          </a:bodyPr>
          <a:lstStyle/>
          <a:p>
            <a:r>
              <a:rPr lang="ru-RU" dirty="0"/>
              <a:t>Пример свободного поиска</a:t>
            </a:r>
            <a:endParaRPr lang="LID4096" dirty="0"/>
          </a:p>
        </p:txBody>
      </p:sp>
      <p:sp>
        <p:nvSpPr>
          <p:cNvPr id="3" name="Content Placeholder 2">
            <a:extLst>
              <a:ext uri="{FF2B5EF4-FFF2-40B4-BE49-F238E27FC236}">
                <a16:creationId xmlns:a16="http://schemas.microsoft.com/office/drawing/2014/main" id="{DEBE0052-9B60-4042-7F98-9AC61FBF8EB4}"/>
              </a:ext>
            </a:extLst>
          </p:cNvPr>
          <p:cNvSpPr>
            <a:spLocks noGrp="1"/>
          </p:cNvSpPr>
          <p:nvPr>
            <p:ph idx="1"/>
          </p:nvPr>
        </p:nvSpPr>
        <p:spPr>
          <a:xfrm>
            <a:off x="5827048" y="1868487"/>
            <a:ext cx="5721484" cy="4351338"/>
          </a:xfrm>
        </p:spPr>
        <p:txBody>
          <a:bodyPr>
            <a:normAutofit/>
          </a:bodyPr>
          <a:lstStyle/>
          <a:p>
            <a:pPr marL="0" indent="0">
              <a:buNone/>
            </a:pP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Продолжая рассмотренный пример первой стадии, можем сделать следующий вывод.</a:t>
            </a:r>
          </a:p>
          <a:p>
            <a:pPr marL="0" marR="0" indent="0">
              <a:buNone/>
            </a:pPr>
            <a:endParaRPr lang="ru-RU" sz="1300" dirty="0">
              <a:effectLst/>
              <a:latin typeface="Verdana" panose="020B0604030504040204" pitchFamily="34" charset="0"/>
              <a:ea typeface="Times New Roman" panose="02020603050405020304" pitchFamily="18" charset="0"/>
              <a:cs typeface="Times New Roman" panose="02020603050405020304" pitchFamily="18" charset="0"/>
            </a:endParaRPr>
          </a:p>
          <a:p>
            <a:pPr marL="0" marR="0" indent="0">
              <a:buNone/>
            </a:pPr>
            <a:r>
              <a:rPr lang="ru-RU" sz="1800" dirty="0">
                <a:effectLst/>
                <a:latin typeface="Times New Roman" panose="02020603050405020304" pitchFamily="18" charset="0"/>
                <a:ea typeface="Times New Roman" panose="02020603050405020304" pitchFamily="18" charset="0"/>
              </a:rPr>
              <a:t>Зная, что соискатель ищет руководящую работу и его стаж &gt; 15 лет, на 65 % можно быть уверенным в том, что возраст соискателя &gt; 35 лет. </a:t>
            </a:r>
          </a:p>
          <a:p>
            <a:pPr marL="0" marR="0" indent="0">
              <a:buNone/>
            </a:pPr>
            <a:r>
              <a:rPr lang="ru-RU" sz="1800" dirty="0">
                <a:effectLst/>
                <a:latin typeface="Times New Roman" panose="02020603050405020304" pitchFamily="18" charset="0"/>
                <a:ea typeface="Times New Roman" panose="02020603050405020304" pitchFamily="18" charset="0"/>
              </a:rPr>
              <a:t>Или же, если возраст соискателя &gt; 35 лет и желаемый уровень вознаграждения &gt; 1200 условных единиц, на 90% можно быть уверенным в том, что соискатель ищет руководящую работу</a:t>
            </a:r>
            <a:endParaRPr lang="ru-RU" sz="1300" dirty="0">
              <a:effectLst/>
              <a:latin typeface="Verdana" panose="020B060403050404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1167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FF09FF-22EC-97D7-B821-BCA1422E1E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45FEE5-8E28-0B56-2A0F-6BCEF78C2C5C}"/>
              </a:ext>
            </a:extLst>
          </p:cNvPr>
          <p:cNvSpPr>
            <a:spLocks noGrp="1"/>
          </p:cNvSpPr>
          <p:nvPr>
            <p:ph type="title"/>
          </p:nvPr>
        </p:nvSpPr>
        <p:spPr>
          <a:xfrm>
            <a:off x="876693" y="741391"/>
            <a:ext cx="5219307" cy="1616203"/>
          </a:xfrm>
        </p:spPr>
        <p:txBody>
          <a:bodyPr vert="horz" lIns="91440" tIns="45720" rIns="91440" bIns="45720" rtlCol="0" anchor="b">
            <a:normAutofit/>
          </a:bodyPr>
          <a:lstStyle/>
          <a:p>
            <a:r>
              <a:rPr lang="en-US" sz="3200" b="1" kern="1200" dirty="0" err="1">
                <a:solidFill>
                  <a:schemeClr val="tx1"/>
                </a:solidFill>
                <a:effectLst/>
                <a:latin typeface="+mj-lt"/>
                <a:ea typeface="+mj-ea"/>
                <a:cs typeface="+mj-cs"/>
              </a:rPr>
              <a:t>Анализ</a:t>
            </a:r>
            <a:r>
              <a:rPr lang="en-US" sz="3200" b="1" kern="1200" dirty="0">
                <a:solidFill>
                  <a:schemeClr val="tx1"/>
                </a:solidFill>
                <a:effectLst/>
                <a:latin typeface="+mj-lt"/>
                <a:ea typeface="+mj-ea"/>
                <a:cs typeface="+mj-cs"/>
              </a:rPr>
              <a:t> </a:t>
            </a:r>
            <a:r>
              <a:rPr lang="en-US" sz="3200" b="1" kern="1200" dirty="0" err="1">
                <a:solidFill>
                  <a:schemeClr val="tx1"/>
                </a:solidFill>
                <a:effectLst/>
                <a:latin typeface="+mj-lt"/>
                <a:ea typeface="+mj-ea"/>
                <a:cs typeface="+mj-cs"/>
              </a:rPr>
              <a:t>исключений</a:t>
            </a:r>
            <a:r>
              <a:rPr lang="en-US" sz="3200" b="1" kern="1200" dirty="0">
                <a:solidFill>
                  <a:schemeClr val="tx1"/>
                </a:solidFill>
                <a:effectLst/>
                <a:latin typeface="+mj-lt"/>
                <a:ea typeface="+mj-ea"/>
                <a:cs typeface="+mj-cs"/>
              </a:rPr>
              <a:t> (Forensic Analysis)</a:t>
            </a:r>
            <a:endParaRPr lang="en-US" sz="3200" kern="1200" dirty="0">
              <a:solidFill>
                <a:schemeClr val="tx1"/>
              </a:solidFill>
              <a:latin typeface="+mj-lt"/>
              <a:ea typeface="+mj-ea"/>
              <a:cs typeface="+mj-cs"/>
            </a:endParaRPr>
          </a:p>
        </p:txBody>
      </p:sp>
      <p:sp>
        <p:nvSpPr>
          <p:cNvPr id="5" name="TextBox 4">
            <a:extLst>
              <a:ext uri="{FF2B5EF4-FFF2-40B4-BE49-F238E27FC236}">
                <a16:creationId xmlns:a16="http://schemas.microsoft.com/office/drawing/2014/main" id="{6424DD19-928E-DC28-AA91-7DACCDC99179}"/>
              </a:ext>
            </a:extLst>
          </p:cNvPr>
          <p:cNvSpPr txBox="1"/>
          <p:nvPr/>
        </p:nvSpPr>
        <p:spPr>
          <a:xfrm>
            <a:off x="876692" y="2533476"/>
            <a:ext cx="5219307" cy="3537410"/>
          </a:xfrm>
          <a:prstGeom prst="rect">
            <a:avLst/>
          </a:prstGeom>
        </p:spPr>
        <p:txBody>
          <a:bodyPr vert="horz" lIns="91440" tIns="45720" rIns="91440" bIns="45720" rtlCol="0" anchor="t">
            <a:normAutofit/>
          </a:bodyPr>
          <a:lstStyle/>
          <a:p>
            <a:pPr marR="0">
              <a:lnSpc>
                <a:spcPct val="90000"/>
              </a:lnSpc>
              <a:spcAft>
                <a:spcPts val="600"/>
              </a:spcAft>
            </a:pPr>
            <a:r>
              <a:rPr lang="en-US" sz="2000" dirty="0" err="1">
                <a:effectLst/>
              </a:rPr>
              <a:t>На</a:t>
            </a:r>
            <a:r>
              <a:rPr lang="en-US" sz="2000" dirty="0">
                <a:effectLst/>
              </a:rPr>
              <a:t> </a:t>
            </a:r>
            <a:r>
              <a:rPr lang="en-US" sz="2000" dirty="0" err="1">
                <a:effectLst/>
              </a:rPr>
              <a:t>третьей</a:t>
            </a:r>
            <a:r>
              <a:rPr lang="en-US" sz="2000" dirty="0">
                <a:effectLst/>
              </a:rPr>
              <a:t> </a:t>
            </a:r>
            <a:r>
              <a:rPr lang="en-US" sz="2000" dirty="0" err="1">
                <a:effectLst/>
              </a:rPr>
              <a:t>стадии</a:t>
            </a:r>
            <a:r>
              <a:rPr lang="en-US" sz="2000" dirty="0">
                <a:effectLst/>
              </a:rPr>
              <a:t> Data Mining </a:t>
            </a:r>
            <a:r>
              <a:rPr lang="en-US" sz="2000" dirty="0" err="1">
                <a:effectLst/>
              </a:rPr>
              <a:t>анализируются</a:t>
            </a:r>
            <a:r>
              <a:rPr lang="en-US" sz="2000" dirty="0">
                <a:effectLst/>
              </a:rPr>
              <a:t> </a:t>
            </a:r>
            <a:r>
              <a:rPr lang="en-US" sz="2000" dirty="0" err="1">
                <a:effectLst/>
              </a:rPr>
              <a:t>исключения</a:t>
            </a:r>
            <a:r>
              <a:rPr lang="en-US" sz="2000" dirty="0">
                <a:effectLst/>
              </a:rPr>
              <a:t> </a:t>
            </a:r>
            <a:r>
              <a:rPr lang="en-US" sz="2000" dirty="0" err="1">
                <a:effectLst/>
              </a:rPr>
              <a:t>или</a:t>
            </a:r>
            <a:r>
              <a:rPr lang="en-US" sz="2000" dirty="0">
                <a:effectLst/>
              </a:rPr>
              <a:t> </a:t>
            </a:r>
            <a:r>
              <a:rPr lang="en-US" sz="2000" dirty="0" err="1">
                <a:effectLst/>
              </a:rPr>
              <a:t>аномалии</a:t>
            </a:r>
            <a:r>
              <a:rPr lang="en-US" sz="2000" dirty="0">
                <a:effectLst/>
              </a:rPr>
              <a:t>, </a:t>
            </a:r>
            <a:r>
              <a:rPr lang="en-US" sz="2000" dirty="0" err="1">
                <a:effectLst/>
              </a:rPr>
              <a:t>выявленные</a:t>
            </a:r>
            <a:r>
              <a:rPr lang="en-US" sz="2000" dirty="0">
                <a:effectLst/>
              </a:rPr>
              <a:t> в </a:t>
            </a:r>
            <a:r>
              <a:rPr lang="en-US" sz="2000" dirty="0" err="1">
                <a:effectLst/>
              </a:rPr>
              <a:t>найденных</a:t>
            </a:r>
            <a:r>
              <a:rPr lang="en-US" sz="2000" dirty="0">
                <a:effectLst/>
              </a:rPr>
              <a:t> </a:t>
            </a:r>
            <a:r>
              <a:rPr lang="en-US" sz="2000" i="1" dirty="0" err="1">
                <a:effectLst/>
              </a:rPr>
              <a:t>закономерностях</a:t>
            </a:r>
            <a:r>
              <a:rPr lang="en-US" sz="2000" dirty="0">
                <a:effectLst/>
              </a:rPr>
              <a:t>. </a:t>
            </a:r>
          </a:p>
          <a:p>
            <a:pPr>
              <a:lnSpc>
                <a:spcPct val="90000"/>
              </a:lnSpc>
              <a:spcAft>
                <a:spcPts val="600"/>
              </a:spcAft>
            </a:pPr>
            <a:endParaRPr lang="ru-RU" sz="2000" b="1" dirty="0">
              <a:effectLst/>
            </a:endParaRPr>
          </a:p>
          <a:p>
            <a:pPr>
              <a:lnSpc>
                <a:spcPct val="90000"/>
              </a:lnSpc>
              <a:spcAft>
                <a:spcPts val="600"/>
              </a:spcAft>
            </a:pPr>
            <a:r>
              <a:rPr lang="en-US" sz="2000" b="1" dirty="0" err="1">
                <a:effectLst/>
              </a:rPr>
              <a:t>Действие</a:t>
            </a:r>
            <a:r>
              <a:rPr lang="en-US" sz="2000" dirty="0">
                <a:effectLst/>
              </a:rPr>
              <a:t>, </a:t>
            </a:r>
            <a:r>
              <a:rPr lang="en-US" sz="2000" dirty="0" err="1">
                <a:effectLst/>
              </a:rPr>
              <a:t>выполняемое</a:t>
            </a:r>
            <a:r>
              <a:rPr lang="en-US" sz="2000" dirty="0">
                <a:effectLst/>
              </a:rPr>
              <a:t> </a:t>
            </a:r>
            <a:r>
              <a:rPr lang="en-US" sz="2000" dirty="0" err="1">
                <a:effectLst/>
              </a:rPr>
              <a:t>на</a:t>
            </a:r>
            <a:r>
              <a:rPr lang="en-US" sz="2000" dirty="0">
                <a:effectLst/>
              </a:rPr>
              <a:t> </a:t>
            </a:r>
            <a:r>
              <a:rPr lang="en-US" sz="2000" dirty="0" err="1">
                <a:effectLst/>
              </a:rPr>
              <a:t>этой</a:t>
            </a:r>
            <a:r>
              <a:rPr lang="en-US" sz="2000" dirty="0">
                <a:effectLst/>
              </a:rPr>
              <a:t> </a:t>
            </a:r>
            <a:r>
              <a:rPr lang="en-US" sz="2000" dirty="0" err="1">
                <a:effectLst/>
              </a:rPr>
              <a:t>стадии</a:t>
            </a:r>
            <a:r>
              <a:rPr lang="en-US" sz="2000" dirty="0">
                <a:effectLst/>
              </a:rPr>
              <a:t>, - </a:t>
            </a:r>
            <a:r>
              <a:rPr lang="en-US" sz="2000" dirty="0" err="1">
                <a:effectLst/>
              </a:rPr>
              <a:t>выявление</a:t>
            </a:r>
            <a:r>
              <a:rPr lang="en-US" sz="2000" dirty="0">
                <a:effectLst/>
              </a:rPr>
              <a:t> </a:t>
            </a:r>
            <a:r>
              <a:rPr lang="en-US" sz="2000" dirty="0" err="1">
                <a:effectLst/>
              </a:rPr>
              <a:t>отклонений</a:t>
            </a:r>
            <a:r>
              <a:rPr lang="en-US" sz="2000" dirty="0">
                <a:effectLst/>
              </a:rPr>
              <a:t> (deviation detection). </a:t>
            </a:r>
            <a:endParaRPr lang="ru-RU" sz="2000" dirty="0">
              <a:effectLst/>
            </a:endParaRPr>
          </a:p>
          <a:p>
            <a:pPr>
              <a:lnSpc>
                <a:spcPct val="90000"/>
              </a:lnSpc>
              <a:spcAft>
                <a:spcPts val="600"/>
              </a:spcAft>
            </a:pPr>
            <a:r>
              <a:rPr lang="en-US" sz="2000" dirty="0" err="1">
                <a:effectLst/>
              </a:rPr>
              <a:t>Для</a:t>
            </a:r>
            <a:r>
              <a:rPr lang="en-US" sz="2000" dirty="0">
                <a:effectLst/>
              </a:rPr>
              <a:t> </a:t>
            </a:r>
            <a:r>
              <a:rPr lang="en-US" sz="2000" dirty="0" err="1">
                <a:effectLst/>
              </a:rPr>
              <a:t>выявления</a:t>
            </a:r>
            <a:r>
              <a:rPr lang="en-US" sz="2000" dirty="0">
                <a:effectLst/>
              </a:rPr>
              <a:t> </a:t>
            </a:r>
            <a:r>
              <a:rPr lang="en-US" sz="2000" dirty="0" err="1">
                <a:effectLst/>
              </a:rPr>
              <a:t>отклонений</a:t>
            </a:r>
            <a:r>
              <a:rPr lang="en-US" sz="2000" dirty="0">
                <a:effectLst/>
              </a:rPr>
              <a:t> </a:t>
            </a:r>
            <a:r>
              <a:rPr lang="en-US" sz="2000" dirty="0" err="1">
                <a:effectLst/>
              </a:rPr>
              <a:t>необходимо</a:t>
            </a:r>
            <a:r>
              <a:rPr lang="en-US" sz="2000" dirty="0">
                <a:effectLst/>
              </a:rPr>
              <a:t> </a:t>
            </a:r>
            <a:r>
              <a:rPr lang="en-US" sz="2000" dirty="0" err="1">
                <a:effectLst/>
              </a:rPr>
              <a:t>определить</a:t>
            </a:r>
            <a:r>
              <a:rPr lang="en-US" sz="2000" dirty="0">
                <a:effectLst/>
              </a:rPr>
              <a:t> </a:t>
            </a:r>
            <a:r>
              <a:rPr lang="en-US" sz="2000" dirty="0" err="1">
                <a:effectLst/>
              </a:rPr>
              <a:t>норму</a:t>
            </a:r>
            <a:r>
              <a:rPr lang="en-US" sz="2000" dirty="0">
                <a:effectLst/>
              </a:rPr>
              <a:t>, </a:t>
            </a:r>
            <a:r>
              <a:rPr lang="en-US" sz="2000" dirty="0" err="1">
                <a:effectLst/>
              </a:rPr>
              <a:t>которая</a:t>
            </a:r>
            <a:r>
              <a:rPr lang="en-US" sz="2000" dirty="0">
                <a:effectLst/>
              </a:rPr>
              <a:t> </a:t>
            </a:r>
            <a:r>
              <a:rPr lang="en-US" sz="2000" dirty="0" err="1">
                <a:effectLst/>
              </a:rPr>
              <a:t>рассчитывается</a:t>
            </a:r>
            <a:r>
              <a:rPr lang="en-US" sz="2000" dirty="0">
                <a:effectLst/>
              </a:rPr>
              <a:t> </a:t>
            </a:r>
            <a:r>
              <a:rPr lang="en-US" sz="2000" dirty="0" err="1">
                <a:effectLst/>
              </a:rPr>
              <a:t>на</a:t>
            </a:r>
            <a:r>
              <a:rPr lang="en-US" sz="2000" dirty="0">
                <a:effectLst/>
              </a:rPr>
              <a:t> </a:t>
            </a:r>
            <a:r>
              <a:rPr lang="en-US" sz="2000" dirty="0" err="1">
                <a:effectLst/>
              </a:rPr>
              <a:t>стадии</a:t>
            </a:r>
            <a:r>
              <a:rPr lang="en-US" sz="2000" dirty="0">
                <a:effectLst/>
              </a:rPr>
              <a:t> </a:t>
            </a:r>
            <a:r>
              <a:rPr lang="en-US" sz="2000" i="1" dirty="0" err="1">
                <a:effectLst/>
              </a:rPr>
              <a:t>свободного</a:t>
            </a:r>
            <a:r>
              <a:rPr lang="en-US" sz="2000" i="1" dirty="0">
                <a:effectLst/>
              </a:rPr>
              <a:t> </a:t>
            </a:r>
            <a:r>
              <a:rPr lang="en-US" sz="2000" i="1" dirty="0" err="1">
                <a:effectLst/>
              </a:rPr>
              <a:t>поиска</a:t>
            </a:r>
            <a:endParaRPr lang="en-US" sz="2000" dirty="0"/>
          </a:p>
        </p:txBody>
      </p:sp>
      <p:pic>
        <p:nvPicPr>
          <p:cNvPr id="4" name="Content Placeholder 3" descr="A diagram of a process&#10;&#10;Description automatically generated">
            <a:extLst>
              <a:ext uri="{FF2B5EF4-FFF2-40B4-BE49-F238E27FC236}">
                <a16:creationId xmlns:a16="http://schemas.microsoft.com/office/drawing/2014/main" id="{888B1EBE-BCC9-7B80-5217-CEB55EFD7CEF}"/>
              </a:ext>
            </a:extLst>
          </p:cNvPr>
          <p:cNvPicPr>
            <a:picLocks noGrp="1" noChangeAspect="1"/>
          </p:cNvPicPr>
          <p:nvPr>
            <p:ph idx="1"/>
          </p:nvPr>
        </p:nvPicPr>
        <p:blipFill>
          <a:blip r:embed="rId3"/>
          <a:stretch>
            <a:fillRect/>
          </a:stretch>
        </p:blipFill>
        <p:spPr>
          <a:xfrm>
            <a:off x="7008019" y="2184354"/>
            <a:ext cx="4273463" cy="2489292"/>
          </a:xfrm>
          <a:prstGeom prst="rect">
            <a:avLst/>
          </a:prstGeom>
        </p:spPr>
      </p:pic>
      <p:grpSp>
        <p:nvGrpSpPr>
          <p:cNvPr id="29" name="Group 28">
            <a:extLst>
              <a:ext uri="{FF2B5EF4-FFF2-40B4-BE49-F238E27FC236}">
                <a16:creationId xmlns:a16="http://schemas.microsoft.com/office/drawing/2014/main" id="{C54A2A4D-19EF-3552-F383-6AD9587C8AF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30" name="Rectangle 29">
              <a:extLst>
                <a:ext uri="{FF2B5EF4-FFF2-40B4-BE49-F238E27FC236}">
                  <a16:creationId xmlns:a16="http://schemas.microsoft.com/office/drawing/2014/main" id="{A9208F0F-2734-3945-8FD0-EEB19CF41A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62CFF5D9-43B9-9D58-6F3F-25041716D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94390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70F6A-C251-EBAB-CD5F-0FD47AF4A886}"/>
              </a:ext>
            </a:extLst>
          </p:cNvPr>
          <p:cNvSpPr>
            <a:spLocks noGrp="1"/>
          </p:cNvSpPr>
          <p:nvPr>
            <p:ph type="title"/>
          </p:nvPr>
        </p:nvSpPr>
        <p:spPr/>
        <p:txBody>
          <a:bodyPr/>
          <a:lstStyle/>
          <a:p>
            <a:r>
              <a:rPr lang="ru-RU" sz="4400" b="1" dirty="0">
                <a:latin typeface="Arial" pitchFamily="34" charset="0"/>
                <a:cs typeface="Arial" pitchFamily="34" charset="0"/>
              </a:rPr>
              <a:t>Классификация методов </a:t>
            </a:r>
            <a:br>
              <a:rPr lang="ru-RU" sz="4400" b="1" dirty="0">
                <a:latin typeface="Arial" pitchFamily="34" charset="0"/>
                <a:cs typeface="Arial" pitchFamily="34" charset="0"/>
              </a:rPr>
            </a:br>
            <a:r>
              <a:rPr lang="ru-RU" sz="4400" b="1" dirty="0">
                <a:latin typeface="Arial" pitchFamily="34" charset="0"/>
                <a:cs typeface="Arial" pitchFamily="34" charset="0"/>
              </a:rPr>
              <a:t>Data Mining</a:t>
            </a:r>
            <a:endParaRPr lang="LID4096" dirty="0"/>
          </a:p>
        </p:txBody>
      </p:sp>
      <p:graphicFrame>
        <p:nvGraphicFramePr>
          <p:cNvPr id="5" name="Content Placeholder 2">
            <a:extLst>
              <a:ext uri="{FF2B5EF4-FFF2-40B4-BE49-F238E27FC236}">
                <a16:creationId xmlns:a16="http://schemas.microsoft.com/office/drawing/2014/main" id="{C6BC0F07-2BB7-6488-BAEE-5B60977F0FAA}"/>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450685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9F0BF5-517E-070E-05B2-B6B6F1C02D38}"/>
              </a:ext>
            </a:extLst>
          </p:cNvPr>
          <p:cNvSpPr>
            <a:spLocks noGrp="1"/>
          </p:cNvSpPr>
          <p:nvPr>
            <p:ph type="title"/>
          </p:nvPr>
        </p:nvSpPr>
        <p:spPr>
          <a:xfrm>
            <a:off x="630936" y="640080"/>
            <a:ext cx="4818888" cy="1481328"/>
          </a:xfrm>
        </p:spPr>
        <p:txBody>
          <a:bodyPr anchor="b">
            <a:normAutofit/>
          </a:bodyPr>
          <a:lstStyle/>
          <a:p>
            <a:r>
              <a:rPr lang="ru-RU" sz="3400">
                <a:latin typeface="Verdana" panose="020B0604030504040204" pitchFamily="34" charset="0"/>
                <a:ea typeface="Times New Roman" panose="02020603050405020304" pitchFamily="18" charset="0"/>
                <a:cs typeface="Times New Roman" panose="02020603050405020304" pitchFamily="18" charset="0"/>
              </a:rPr>
              <a:t>Т</a:t>
            </a:r>
            <a:r>
              <a:rPr lang="ru-RU" sz="3400">
                <a:effectLst/>
                <a:latin typeface="Verdana" panose="020B0604030504040204" pitchFamily="34" charset="0"/>
                <a:ea typeface="Times New Roman" panose="02020603050405020304" pitchFamily="18" charset="0"/>
                <a:cs typeface="Times New Roman" panose="02020603050405020304" pitchFamily="18" charset="0"/>
              </a:rPr>
              <a:t>ехнологические методы Data Mining</a:t>
            </a:r>
            <a:endParaRPr lang="LID4096" sz="3400"/>
          </a:p>
        </p:txBody>
      </p:sp>
      <p:sp>
        <p:nvSpPr>
          <p:cNvPr id="14"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2">
            <a:extLst>
              <a:ext uri="{FF2B5EF4-FFF2-40B4-BE49-F238E27FC236}">
                <a16:creationId xmlns:a16="http://schemas.microsoft.com/office/drawing/2014/main" id="{38CFC7F8-C2E9-86AA-26F0-7032F6B7AC4C}"/>
              </a:ext>
            </a:extLst>
          </p:cNvPr>
          <p:cNvSpPr>
            <a:spLocks noGrp="1" noChangeArrowheads="1"/>
          </p:cNvSpPr>
          <p:nvPr>
            <p:ph idx="1"/>
          </p:nvPr>
        </p:nvSpPr>
        <p:spPr bwMode="auto">
          <a:xfrm>
            <a:off x="630936" y="2660904"/>
            <a:ext cx="4818888" cy="3547872"/>
          </a:xfrm>
          <a:prstGeom prst="rect">
            <a:avLst/>
          </a:prstGeom>
        </p:spPr>
        <p:txBody>
          <a:bodyPr anchor="t">
            <a:normAutofit/>
          </a:bodyPr>
          <a:lstStyle/>
          <a:p>
            <a:pPr marL="0" indent="0">
              <a:buNone/>
            </a:pPr>
            <a:r>
              <a:rPr lang="ru-RU" sz="1700" b="1" dirty="0"/>
              <a:t>1. Непосредственное использование данных, или </a:t>
            </a:r>
            <a:r>
              <a:rPr lang="ru-RU" sz="1700" b="1" i="1" dirty="0"/>
              <a:t>сохранение данных</a:t>
            </a:r>
            <a:r>
              <a:rPr lang="ru-RU" sz="1700" b="1" dirty="0"/>
              <a:t>.</a:t>
            </a:r>
          </a:p>
          <a:p>
            <a:r>
              <a:rPr lang="ru-RU" sz="1700" dirty="0"/>
              <a:t>В этом случае исходные данные хранятся в явном детализированном виде и непосредственно используются на стадиях </a:t>
            </a:r>
            <a:r>
              <a:rPr lang="ru-RU" sz="1700" i="1" dirty="0"/>
              <a:t>прогностического моделирования</a:t>
            </a:r>
            <a:r>
              <a:rPr lang="ru-RU" sz="1700" dirty="0"/>
              <a:t>  и/или </a:t>
            </a:r>
            <a:r>
              <a:rPr lang="ru-RU" sz="1700" i="1" dirty="0"/>
              <a:t>анализа исключений</a:t>
            </a:r>
            <a:r>
              <a:rPr lang="ru-RU" sz="1700" dirty="0"/>
              <a:t>. </a:t>
            </a:r>
          </a:p>
          <a:p>
            <a:r>
              <a:rPr lang="ru-RU" sz="1700" dirty="0"/>
              <a:t>Проблема этой группы </a:t>
            </a:r>
            <a:r>
              <a:rPr lang="ru-RU" sz="1700" i="1" dirty="0"/>
              <a:t>методов</a:t>
            </a:r>
            <a:r>
              <a:rPr lang="ru-RU" sz="1700" dirty="0"/>
              <a:t> - могут возникнуть сложности анализа сверхбольших баз данных.</a:t>
            </a:r>
          </a:p>
          <a:p>
            <a:r>
              <a:rPr lang="ru-RU" sz="1700" i="1" dirty="0"/>
              <a:t>Методы</a:t>
            </a:r>
            <a:r>
              <a:rPr lang="ru-RU" sz="1700" dirty="0"/>
              <a:t> этой группы: кластерный анализ, метод ближайшего соседа, метод k-ближайшего соседа, рассуждение по аналогии.</a:t>
            </a:r>
          </a:p>
          <a:p>
            <a:endParaRPr lang="ru-RU" sz="1700" b="1" i="1" dirty="0"/>
          </a:p>
          <a:p>
            <a:pPr marL="514350" indent="-514350">
              <a:buFontTx/>
              <a:buAutoNum type="arabicPeriod"/>
            </a:pPr>
            <a:endParaRPr lang="ru-RU" sz="1700" b="1" i="1" dirty="0"/>
          </a:p>
          <a:p>
            <a:pPr marL="514350" indent="-514350">
              <a:buAutoNum type="arabicPeriod"/>
            </a:pPr>
            <a:endParaRPr lang="ru-RU" sz="1700" b="1" i="1" dirty="0"/>
          </a:p>
        </p:txBody>
      </p:sp>
      <p:pic>
        <p:nvPicPr>
          <p:cNvPr id="7" name="Picture 6" descr="A black and white diagram with white text&#10;&#10;Description automatically generated">
            <a:extLst>
              <a:ext uri="{FF2B5EF4-FFF2-40B4-BE49-F238E27FC236}">
                <a16:creationId xmlns:a16="http://schemas.microsoft.com/office/drawing/2014/main" id="{051F0C84-2428-492A-CC87-31F28984219E}"/>
              </a:ext>
            </a:extLst>
          </p:cNvPr>
          <p:cNvPicPr>
            <a:picLocks noChangeAspect="1"/>
          </p:cNvPicPr>
          <p:nvPr/>
        </p:nvPicPr>
        <p:blipFill>
          <a:blip r:embed="rId3"/>
          <a:stretch>
            <a:fillRect/>
          </a:stretch>
        </p:blipFill>
        <p:spPr>
          <a:xfrm>
            <a:off x="6099048" y="1613892"/>
            <a:ext cx="5458968" cy="3630215"/>
          </a:xfrm>
          <a:prstGeom prst="rect">
            <a:avLst/>
          </a:prstGeom>
        </p:spPr>
      </p:pic>
    </p:spTree>
    <p:extLst>
      <p:ext uri="{BB962C8B-B14F-4D97-AF65-F5344CB8AC3E}">
        <p14:creationId xmlns:p14="http://schemas.microsoft.com/office/powerpoint/2010/main" val="3977789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918CE7-E2F8-5D26-5F8D-A24557B3B7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09860C-55C4-E20E-4C20-0641CF527279}"/>
              </a:ext>
            </a:extLst>
          </p:cNvPr>
          <p:cNvSpPr>
            <a:spLocks noGrp="1"/>
          </p:cNvSpPr>
          <p:nvPr>
            <p:ph type="title"/>
          </p:nvPr>
        </p:nvSpPr>
        <p:spPr>
          <a:xfrm>
            <a:off x="876693" y="741391"/>
            <a:ext cx="5727307" cy="1107729"/>
          </a:xfrm>
        </p:spPr>
        <p:txBody>
          <a:bodyPr anchor="b">
            <a:normAutofit/>
          </a:bodyPr>
          <a:lstStyle/>
          <a:p>
            <a:r>
              <a:rPr lang="ru-RU" sz="3200" dirty="0">
                <a:latin typeface="Verdana" panose="020B0604030504040204" pitchFamily="34" charset="0"/>
                <a:ea typeface="Times New Roman" panose="02020603050405020304" pitchFamily="18" charset="0"/>
                <a:cs typeface="Times New Roman" panose="02020603050405020304" pitchFamily="18" charset="0"/>
              </a:rPr>
              <a:t>Т</a:t>
            </a:r>
            <a:r>
              <a:rPr lang="ru-RU" sz="3200" dirty="0">
                <a:effectLst/>
                <a:latin typeface="Verdana" panose="020B0604030504040204" pitchFamily="34" charset="0"/>
                <a:ea typeface="Times New Roman" panose="02020603050405020304" pitchFamily="18" charset="0"/>
                <a:cs typeface="Times New Roman" panose="02020603050405020304" pitchFamily="18" charset="0"/>
              </a:rPr>
              <a:t>ехнологические методы Data Mining</a:t>
            </a:r>
            <a:endParaRPr lang="LID4096" sz="3200" dirty="0"/>
          </a:p>
        </p:txBody>
      </p:sp>
      <p:sp>
        <p:nvSpPr>
          <p:cNvPr id="6" name="Rectangle 2">
            <a:extLst>
              <a:ext uri="{FF2B5EF4-FFF2-40B4-BE49-F238E27FC236}">
                <a16:creationId xmlns:a16="http://schemas.microsoft.com/office/drawing/2014/main" id="{A20D6582-02B4-7A8F-BBA1-22733D132D2D}"/>
              </a:ext>
            </a:extLst>
          </p:cNvPr>
          <p:cNvSpPr>
            <a:spLocks noGrp="1" noChangeArrowheads="1"/>
          </p:cNvSpPr>
          <p:nvPr>
            <p:ph idx="1"/>
          </p:nvPr>
        </p:nvSpPr>
        <p:spPr bwMode="auto">
          <a:xfrm>
            <a:off x="876693" y="1849120"/>
            <a:ext cx="4597746" cy="4132188"/>
          </a:xfrm>
          <a:prstGeom prst="rect">
            <a:avLst/>
          </a:prstGeom>
        </p:spPr>
        <p:txBody>
          <a:bodyPr anchor="t">
            <a:normAutofit/>
          </a:bodyPr>
          <a:lstStyle/>
          <a:p>
            <a:pPr marL="0" indent="0">
              <a:buNone/>
            </a:pPr>
            <a:r>
              <a:rPr lang="ru-RU" sz="1400" b="1" dirty="0"/>
              <a:t>2. Выявление и использование формализованных закономерностей, или дистилляция шаблонов.</a:t>
            </a:r>
          </a:p>
          <a:p>
            <a:r>
              <a:rPr lang="ru-RU" sz="1400" kern="0" dirty="0">
                <a:latin typeface="Times New Roman" panose="02020603050405020304" pitchFamily="18" charset="0"/>
                <a:cs typeface="Times New Roman" panose="02020603050405020304" pitchFamily="18" charset="0"/>
              </a:rPr>
              <a:t>В этом случае </a:t>
            </a:r>
            <a:r>
              <a:rPr lang="ru-RU" sz="1400" dirty="0">
                <a:effectLst/>
                <a:latin typeface="Times New Roman" panose="02020603050405020304" pitchFamily="18" charset="0"/>
                <a:ea typeface="Times New Roman" panose="02020603050405020304" pitchFamily="18" charset="0"/>
              </a:rPr>
              <a:t>один образец (шаблон) информации</a:t>
            </a:r>
            <a:r>
              <a:rPr lang="ru-RU" sz="1400" kern="0" dirty="0">
                <a:latin typeface="Times New Roman" panose="02020603050405020304" pitchFamily="18" charset="0"/>
                <a:cs typeface="Times New Roman" panose="02020603050405020304" pitchFamily="18" charset="0"/>
              </a:rPr>
              <a:t> вначале извлекается из первичных данных и преобразуется в некоторые формальные конструкции (их вид зависит от конкретного метода). Согласно предыдущей </a:t>
            </a:r>
            <a:r>
              <a:rPr lang="ru-RU" sz="1400" kern="0" dirty="0">
                <a:effectLst/>
                <a:latin typeface="Times New Roman" panose="02020603050405020304" pitchFamily="18" charset="0"/>
                <a:ea typeface="Times New Roman" panose="02020603050405020304" pitchFamily="18" charset="0"/>
                <a:cs typeface="Times New Roman" panose="02020603050405020304" pitchFamily="18" charset="0"/>
              </a:rPr>
              <a:t>классификации, этот этап выполняется на стадии свободного поиска, которая у методов первой группы в принципе отсутствует. </a:t>
            </a:r>
          </a:p>
          <a:p>
            <a:r>
              <a:rPr lang="ru-RU" sz="1400" kern="0" dirty="0">
                <a:effectLst/>
                <a:latin typeface="Times New Roman" panose="02020603050405020304" pitchFamily="18" charset="0"/>
                <a:ea typeface="Times New Roman" panose="02020603050405020304" pitchFamily="18" charset="0"/>
                <a:cs typeface="Times New Roman" panose="02020603050405020304" pitchFamily="18" charset="0"/>
              </a:rPr>
              <a:t>Таким образом, для прогностического моделирования и анализа исключений используются результаты этой стадии, которые гораздо более компактны, чем сами массивы исходных данных. </a:t>
            </a:r>
          </a:p>
          <a:p>
            <a:pPr marL="0" indent="0">
              <a:buNone/>
            </a:pPr>
            <a:r>
              <a:rPr lang="ru-RU" sz="1400" kern="0" dirty="0">
                <a:effectLst/>
                <a:latin typeface="Times New Roman" panose="02020603050405020304" pitchFamily="18" charset="0"/>
                <a:ea typeface="Times New Roman" panose="02020603050405020304" pitchFamily="18" charset="0"/>
                <a:cs typeface="Times New Roman" panose="02020603050405020304" pitchFamily="18" charset="0"/>
              </a:rPr>
              <a:t>При этом полученные конструкции могут быть либо "прозрачными" (интерпретируемыми), либо "черными ящиками" (</a:t>
            </a:r>
            <a:r>
              <a:rPr lang="ru-RU" sz="1400" kern="0" dirty="0" err="1">
                <a:effectLst/>
                <a:latin typeface="Times New Roman" panose="02020603050405020304" pitchFamily="18" charset="0"/>
                <a:ea typeface="Times New Roman" panose="02020603050405020304" pitchFamily="18" charset="0"/>
                <a:cs typeface="Times New Roman" panose="02020603050405020304" pitchFamily="18" charset="0"/>
              </a:rPr>
              <a:t>нетрактуемыми</a:t>
            </a:r>
            <a:r>
              <a:rPr lang="ru-RU" sz="14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ru-RU" sz="1100" b="1" i="1" dirty="0"/>
          </a:p>
        </p:txBody>
      </p:sp>
      <p:pic>
        <p:nvPicPr>
          <p:cNvPr id="7" name="Picture 6" descr="A black and white diagram with white text&#10;&#10;Description automatically generated">
            <a:extLst>
              <a:ext uri="{FF2B5EF4-FFF2-40B4-BE49-F238E27FC236}">
                <a16:creationId xmlns:a16="http://schemas.microsoft.com/office/drawing/2014/main" id="{37364804-E110-9258-F661-195057203CDD}"/>
              </a:ext>
            </a:extLst>
          </p:cNvPr>
          <p:cNvPicPr>
            <a:picLocks noChangeAspect="1"/>
          </p:cNvPicPr>
          <p:nvPr/>
        </p:nvPicPr>
        <p:blipFill>
          <a:blip r:embed="rId3"/>
          <a:stretch>
            <a:fillRect/>
          </a:stretch>
        </p:blipFill>
        <p:spPr>
          <a:xfrm>
            <a:off x="6096001" y="1622870"/>
            <a:ext cx="5319062" cy="3537177"/>
          </a:xfrm>
          <a:prstGeom prst="rect">
            <a:avLst/>
          </a:prstGeom>
        </p:spPr>
      </p:pic>
      <p:grpSp>
        <p:nvGrpSpPr>
          <p:cNvPr id="23" name="Group 22">
            <a:extLst>
              <a:ext uri="{FF2B5EF4-FFF2-40B4-BE49-F238E27FC236}">
                <a16:creationId xmlns:a16="http://schemas.microsoft.com/office/drawing/2014/main" id="{1FD67D68-9B83-C338-8342-3348D8F223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24" name="Rectangle 23">
              <a:extLst>
                <a:ext uri="{FF2B5EF4-FFF2-40B4-BE49-F238E27FC236}">
                  <a16:creationId xmlns:a16="http://schemas.microsoft.com/office/drawing/2014/main" id="{1E397F34-6B84-0D3B-0F29-B1D134B3B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BD98075-BFC1-BE9C-7FB7-23FE55E43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658414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4437C1A-1191-BABE-560D-EE5D869CB1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AEB8AA-BEC7-C6FB-1C7B-4C29BB4F9270}"/>
              </a:ext>
            </a:extLst>
          </p:cNvPr>
          <p:cNvSpPr>
            <a:spLocks noGrp="1"/>
          </p:cNvSpPr>
          <p:nvPr>
            <p:ph type="title"/>
          </p:nvPr>
        </p:nvSpPr>
        <p:spPr>
          <a:xfrm>
            <a:off x="876693" y="741391"/>
            <a:ext cx="5727307" cy="1107729"/>
          </a:xfrm>
        </p:spPr>
        <p:txBody>
          <a:bodyPr anchor="b">
            <a:normAutofit/>
          </a:bodyPr>
          <a:lstStyle/>
          <a:p>
            <a:r>
              <a:rPr lang="ru-RU" sz="3200" dirty="0">
                <a:latin typeface="Verdana" panose="020B0604030504040204" pitchFamily="34" charset="0"/>
                <a:ea typeface="Times New Roman" panose="02020603050405020304" pitchFamily="18" charset="0"/>
                <a:cs typeface="Times New Roman" panose="02020603050405020304" pitchFamily="18" charset="0"/>
              </a:rPr>
              <a:t>Т</a:t>
            </a:r>
            <a:r>
              <a:rPr lang="ru-RU" sz="3200" dirty="0">
                <a:effectLst/>
                <a:latin typeface="Verdana" panose="020B0604030504040204" pitchFamily="34" charset="0"/>
                <a:ea typeface="Times New Roman" panose="02020603050405020304" pitchFamily="18" charset="0"/>
                <a:cs typeface="Times New Roman" panose="02020603050405020304" pitchFamily="18" charset="0"/>
              </a:rPr>
              <a:t>ехнологические методы Data Mining</a:t>
            </a:r>
            <a:endParaRPr lang="LID4096" sz="3200" dirty="0"/>
          </a:p>
        </p:txBody>
      </p:sp>
      <p:sp>
        <p:nvSpPr>
          <p:cNvPr id="6" name="Rectangle 2">
            <a:extLst>
              <a:ext uri="{FF2B5EF4-FFF2-40B4-BE49-F238E27FC236}">
                <a16:creationId xmlns:a16="http://schemas.microsoft.com/office/drawing/2014/main" id="{A1B07967-94F4-2972-D1BF-0C5B109087DE}"/>
              </a:ext>
            </a:extLst>
          </p:cNvPr>
          <p:cNvSpPr>
            <a:spLocks noGrp="1" noChangeArrowheads="1"/>
          </p:cNvSpPr>
          <p:nvPr>
            <p:ph idx="1"/>
          </p:nvPr>
        </p:nvSpPr>
        <p:spPr bwMode="auto">
          <a:xfrm>
            <a:off x="876693" y="1849120"/>
            <a:ext cx="4597746" cy="4132188"/>
          </a:xfrm>
          <a:prstGeom prst="rect">
            <a:avLst/>
          </a:prstGeom>
        </p:spPr>
        <p:txBody>
          <a:bodyPr anchor="t">
            <a:normAutofit/>
          </a:bodyPr>
          <a:lstStyle/>
          <a:p>
            <a:pPr marL="0" indent="0">
              <a:buNone/>
            </a:pPr>
            <a:r>
              <a:rPr lang="ru-RU" sz="1600" b="1" dirty="0"/>
              <a:t>Методы дистилляции шаблонов</a:t>
            </a:r>
          </a:p>
          <a:p>
            <a:r>
              <a:rPr lang="ru-RU" sz="1600" dirty="0"/>
              <a:t>логические </a:t>
            </a:r>
            <a:r>
              <a:rPr lang="ru-RU" sz="1600" i="1" dirty="0"/>
              <a:t>методы</a:t>
            </a:r>
            <a:r>
              <a:rPr lang="ru-RU" sz="1600" dirty="0"/>
              <a:t>; </a:t>
            </a:r>
          </a:p>
          <a:p>
            <a:r>
              <a:rPr lang="ru-RU" sz="1600" i="1" dirty="0"/>
              <a:t>методы</a:t>
            </a:r>
            <a:r>
              <a:rPr lang="ru-RU" sz="1600" dirty="0"/>
              <a:t> визуализации; </a:t>
            </a:r>
          </a:p>
          <a:p>
            <a:r>
              <a:rPr lang="ru-RU" sz="1600" i="1" dirty="0"/>
              <a:t>методы</a:t>
            </a:r>
            <a:r>
              <a:rPr lang="ru-RU" sz="1600" dirty="0"/>
              <a:t> кросс-табуляции; </a:t>
            </a:r>
          </a:p>
          <a:p>
            <a:r>
              <a:rPr lang="ru-RU" sz="1600" i="1" dirty="0"/>
              <a:t>методы</a:t>
            </a:r>
            <a:r>
              <a:rPr lang="ru-RU" sz="1600" dirty="0"/>
              <a:t>, основанные на уравнениях</a:t>
            </a:r>
            <a:r>
              <a:rPr lang="ru-RU" sz="1600" kern="0" dirty="0">
                <a:effectLst/>
                <a:latin typeface="Times New Roman" panose="02020603050405020304" pitchFamily="18" charset="0"/>
                <a:ea typeface="Times New Roman" panose="02020603050405020304" pitchFamily="18" charset="0"/>
                <a:cs typeface="Times New Roman" panose="02020603050405020304" pitchFamily="18" charset="0"/>
              </a:rPr>
              <a:t>. </a:t>
            </a:r>
          </a:p>
          <a:p>
            <a:pPr marL="0" indent="0">
              <a:buNone/>
            </a:pPr>
            <a:endParaRPr lang="ru-RU" sz="1600" dirty="0"/>
          </a:p>
          <a:p>
            <a:pPr marL="0" indent="0">
              <a:buNone/>
            </a:pPr>
            <a:r>
              <a:rPr lang="ru-RU" sz="1600" b="1" dirty="0"/>
              <a:t>Логические </a:t>
            </a:r>
            <a:r>
              <a:rPr lang="ru-RU" sz="1600" b="1" i="1" dirty="0"/>
              <a:t>методы</a:t>
            </a:r>
            <a:r>
              <a:rPr lang="ru-RU" sz="1600" b="1" dirty="0"/>
              <a:t>, или </a:t>
            </a:r>
            <a:r>
              <a:rPr lang="ru-RU" sz="1600" b="1" i="1" dirty="0"/>
              <a:t>методы</a:t>
            </a:r>
            <a:r>
              <a:rPr lang="ru-RU" sz="1600" b="1" dirty="0"/>
              <a:t> логической индукции</a:t>
            </a:r>
            <a:r>
              <a:rPr lang="ru-RU" sz="1600" dirty="0"/>
              <a:t>, включают:</a:t>
            </a:r>
          </a:p>
          <a:p>
            <a:r>
              <a:rPr lang="ru-RU" sz="1600" dirty="0"/>
              <a:t>нечеткие запросы и анализы; </a:t>
            </a:r>
          </a:p>
          <a:p>
            <a:r>
              <a:rPr lang="ru-RU" sz="1600" dirty="0"/>
              <a:t>символьные правила; </a:t>
            </a:r>
          </a:p>
          <a:p>
            <a:r>
              <a:rPr lang="ru-RU" sz="1600" dirty="0"/>
              <a:t>деревья решений; </a:t>
            </a:r>
          </a:p>
          <a:p>
            <a:r>
              <a:rPr lang="ru-RU" sz="1600" dirty="0"/>
              <a:t>генетические </a:t>
            </a:r>
            <a:r>
              <a:rPr lang="ru-RU" sz="1600" i="1" dirty="0"/>
              <a:t>алгоритмы</a:t>
            </a:r>
            <a:endParaRPr lang="ru-RU" sz="1600" b="1" i="1" dirty="0"/>
          </a:p>
          <a:p>
            <a:endParaRPr lang="ru-RU" sz="1100" b="1" i="1" dirty="0"/>
          </a:p>
          <a:p>
            <a:pPr marL="514350" indent="-514350">
              <a:buAutoNum type="arabicPeriod"/>
            </a:pPr>
            <a:endParaRPr lang="ru-RU" sz="1100" b="1" i="1" dirty="0"/>
          </a:p>
        </p:txBody>
      </p:sp>
      <p:pic>
        <p:nvPicPr>
          <p:cNvPr id="7" name="Picture 6" descr="A black and white diagram with white text&#10;&#10;Description automatically generated">
            <a:extLst>
              <a:ext uri="{FF2B5EF4-FFF2-40B4-BE49-F238E27FC236}">
                <a16:creationId xmlns:a16="http://schemas.microsoft.com/office/drawing/2014/main" id="{66D64B07-1404-7BAC-353E-BC58969D3465}"/>
              </a:ext>
            </a:extLst>
          </p:cNvPr>
          <p:cNvPicPr>
            <a:picLocks noChangeAspect="1"/>
          </p:cNvPicPr>
          <p:nvPr/>
        </p:nvPicPr>
        <p:blipFill>
          <a:blip r:embed="rId3"/>
          <a:stretch>
            <a:fillRect/>
          </a:stretch>
        </p:blipFill>
        <p:spPr>
          <a:xfrm>
            <a:off x="6096001" y="1622870"/>
            <a:ext cx="5319062" cy="3537177"/>
          </a:xfrm>
          <a:prstGeom prst="rect">
            <a:avLst/>
          </a:prstGeom>
        </p:spPr>
      </p:pic>
      <p:grpSp>
        <p:nvGrpSpPr>
          <p:cNvPr id="23" name="Group 22">
            <a:extLst>
              <a:ext uri="{FF2B5EF4-FFF2-40B4-BE49-F238E27FC236}">
                <a16:creationId xmlns:a16="http://schemas.microsoft.com/office/drawing/2014/main" id="{87BF51CA-30FC-7F82-6929-23D776B966D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24" name="Rectangle 23">
              <a:extLst>
                <a:ext uri="{FF2B5EF4-FFF2-40B4-BE49-F238E27FC236}">
                  <a16:creationId xmlns:a16="http://schemas.microsoft.com/office/drawing/2014/main" id="{C32498E0-6F0F-1501-4573-ACA48D5BE3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7EB40535-E17C-2C54-0E89-88B1ED395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0630754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33A16C3-8AD2-0FD8-2B04-C46D8C39A4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11E44A-1CC8-855E-C861-F883CEEA3341}"/>
              </a:ext>
            </a:extLst>
          </p:cNvPr>
          <p:cNvSpPr>
            <a:spLocks noGrp="1"/>
          </p:cNvSpPr>
          <p:nvPr>
            <p:ph type="title"/>
          </p:nvPr>
        </p:nvSpPr>
        <p:spPr>
          <a:xfrm>
            <a:off x="876693" y="741391"/>
            <a:ext cx="3455821" cy="1616203"/>
          </a:xfrm>
        </p:spPr>
        <p:txBody>
          <a:bodyPr anchor="b">
            <a:normAutofit/>
          </a:bodyPr>
          <a:lstStyle/>
          <a:p>
            <a:r>
              <a:rPr lang="ru-RU" sz="2700">
                <a:latin typeface="Verdana" panose="020B0604030504040204" pitchFamily="34" charset="0"/>
                <a:ea typeface="Times New Roman" panose="02020603050405020304" pitchFamily="18" charset="0"/>
                <a:cs typeface="Times New Roman" panose="02020603050405020304" pitchFamily="18" charset="0"/>
              </a:rPr>
              <a:t>Т</a:t>
            </a:r>
            <a:r>
              <a:rPr lang="ru-RU" sz="2700">
                <a:effectLst/>
                <a:latin typeface="Verdana" panose="020B0604030504040204" pitchFamily="34" charset="0"/>
                <a:ea typeface="Times New Roman" panose="02020603050405020304" pitchFamily="18" charset="0"/>
                <a:cs typeface="Times New Roman" panose="02020603050405020304" pitchFamily="18" charset="0"/>
              </a:rPr>
              <a:t>ехнологические методы Data Mining</a:t>
            </a:r>
            <a:endParaRPr lang="LID4096" sz="2700"/>
          </a:p>
        </p:txBody>
      </p:sp>
      <p:sp>
        <p:nvSpPr>
          <p:cNvPr id="6" name="Rectangle 2">
            <a:extLst>
              <a:ext uri="{FF2B5EF4-FFF2-40B4-BE49-F238E27FC236}">
                <a16:creationId xmlns:a16="http://schemas.microsoft.com/office/drawing/2014/main" id="{500DF4F1-270D-3FDB-3813-0358602EB9FF}"/>
              </a:ext>
            </a:extLst>
          </p:cNvPr>
          <p:cNvSpPr>
            <a:spLocks noGrp="1" noChangeArrowheads="1"/>
          </p:cNvSpPr>
          <p:nvPr>
            <p:ph idx="1"/>
          </p:nvPr>
        </p:nvSpPr>
        <p:spPr bwMode="auto">
          <a:xfrm>
            <a:off x="876693" y="2533476"/>
            <a:ext cx="3455821" cy="3447832"/>
          </a:xfrm>
          <a:prstGeom prst="rect">
            <a:avLst/>
          </a:prstGeom>
        </p:spPr>
        <p:txBody>
          <a:bodyPr anchor="t">
            <a:normAutofit/>
          </a:bodyPr>
          <a:lstStyle/>
          <a:p>
            <a:pPr marL="0" indent="0">
              <a:buNone/>
            </a:pPr>
            <a:r>
              <a:rPr lang="ru-RU" sz="1300" b="1" i="1"/>
              <a:t>Методы</a:t>
            </a:r>
            <a:r>
              <a:rPr lang="ru-RU" sz="1300" b="1"/>
              <a:t> кросс-табуляции </a:t>
            </a:r>
            <a:r>
              <a:rPr lang="ru-RU" sz="1300"/>
              <a:t>включают:</a:t>
            </a:r>
          </a:p>
          <a:p>
            <a:r>
              <a:rPr lang="ru-RU" sz="1300"/>
              <a:t>агенты, </a:t>
            </a:r>
          </a:p>
          <a:p>
            <a:r>
              <a:rPr lang="ru-RU" sz="1300"/>
              <a:t>баесовские (доверительные) сети, </a:t>
            </a:r>
          </a:p>
          <a:p>
            <a:r>
              <a:rPr lang="ru-RU" sz="1300"/>
              <a:t>кросс-табличная визуализация</a:t>
            </a:r>
          </a:p>
          <a:p>
            <a:endParaRPr lang="ru-RU" sz="1300" b="1" i="1"/>
          </a:p>
          <a:p>
            <a:pPr marL="0" indent="0">
              <a:buNone/>
            </a:pPr>
            <a:r>
              <a:rPr lang="ru-RU" sz="1300"/>
              <a:t>Последний метод не совсем отвечает одному из свойств </a:t>
            </a:r>
            <a:r>
              <a:rPr lang="ru-RU" sz="1300" i="1"/>
              <a:t>Data Mining</a:t>
            </a:r>
            <a:r>
              <a:rPr lang="ru-RU" sz="1300"/>
              <a:t> - самостоятельному поиску </a:t>
            </a:r>
            <a:r>
              <a:rPr lang="ru-RU" sz="1300" i="1"/>
              <a:t>закономерностей </a:t>
            </a:r>
            <a:r>
              <a:rPr lang="ru-RU" sz="1300"/>
              <a:t>аналитической системой. Однако, предоставление информации в виде кросс-таблиц обеспечивает реализацию основной задачи </a:t>
            </a:r>
            <a:r>
              <a:rPr lang="ru-RU" sz="1300" i="1"/>
              <a:t>Data Mining</a:t>
            </a:r>
            <a:r>
              <a:rPr lang="ru-RU" sz="1300"/>
              <a:t> - поиск шаблонов, поэтому этот </a:t>
            </a:r>
            <a:r>
              <a:rPr lang="ru-RU" sz="1300" i="1"/>
              <a:t>метод</a:t>
            </a:r>
            <a:r>
              <a:rPr lang="ru-RU" sz="1300"/>
              <a:t> можно также считать одним из </a:t>
            </a:r>
            <a:r>
              <a:rPr lang="ru-RU" sz="1300" i="1"/>
              <a:t>методов</a:t>
            </a:r>
            <a:r>
              <a:rPr lang="ru-RU" sz="1300"/>
              <a:t> </a:t>
            </a:r>
            <a:r>
              <a:rPr lang="ru-RU" sz="1300" i="1"/>
              <a:t>Data Mining</a:t>
            </a:r>
            <a:endParaRPr lang="ru-RU" sz="1300" b="1" i="1"/>
          </a:p>
        </p:txBody>
      </p:sp>
      <p:pic>
        <p:nvPicPr>
          <p:cNvPr id="7" name="Picture 6" descr="A black and white diagram with white text&#10;&#10;Description automatically generated">
            <a:extLst>
              <a:ext uri="{FF2B5EF4-FFF2-40B4-BE49-F238E27FC236}">
                <a16:creationId xmlns:a16="http://schemas.microsoft.com/office/drawing/2014/main" id="{B8F74E8C-D747-7C55-79A4-567559C88B62}"/>
              </a:ext>
            </a:extLst>
          </p:cNvPr>
          <p:cNvPicPr>
            <a:picLocks noChangeAspect="1"/>
          </p:cNvPicPr>
          <p:nvPr/>
        </p:nvPicPr>
        <p:blipFill>
          <a:blip r:embed="rId3"/>
          <a:stretch>
            <a:fillRect/>
          </a:stretch>
        </p:blipFill>
        <p:spPr>
          <a:xfrm>
            <a:off x="4987672" y="1309197"/>
            <a:ext cx="6389346" cy="4248916"/>
          </a:xfrm>
          <a:prstGeom prst="rect">
            <a:avLst/>
          </a:prstGeom>
        </p:spPr>
      </p:pic>
      <p:grpSp>
        <p:nvGrpSpPr>
          <p:cNvPr id="30" name="Group 29">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31" name="Rectangle 30">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442110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B0AB89-6F5E-4E99-045C-A0444F225D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74442F-3CF6-BC99-2381-CEE7FBE1E024}"/>
              </a:ext>
            </a:extLst>
          </p:cNvPr>
          <p:cNvSpPr>
            <a:spLocks noGrp="1"/>
          </p:cNvSpPr>
          <p:nvPr>
            <p:ph type="title"/>
          </p:nvPr>
        </p:nvSpPr>
        <p:spPr>
          <a:xfrm>
            <a:off x="876693" y="741391"/>
            <a:ext cx="3455821" cy="1616203"/>
          </a:xfrm>
        </p:spPr>
        <p:txBody>
          <a:bodyPr anchor="b">
            <a:normAutofit/>
          </a:bodyPr>
          <a:lstStyle/>
          <a:p>
            <a:r>
              <a:rPr lang="ru-RU" sz="2700">
                <a:latin typeface="Verdana" panose="020B0604030504040204" pitchFamily="34" charset="0"/>
                <a:ea typeface="Times New Roman" panose="02020603050405020304" pitchFamily="18" charset="0"/>
                <a:cs typeface="Times New Roman" panose="02020603050405020304" pitchFamily="18" charset="0"/>
              </a:rPr>
              <a:t>Т</a:t>
            </a:r>
            <a:r>
              <a:rPr lang="ru-RU" sz="2700">
                <a:effectLst/>
                <a:latin typeface="Verdana" panose="020B0604030504040204" pitchFamily="34" charset="0"/>
                <a:ea typeface="Times New Roman" panose="02020603050405020304" pitchFamily="18" charset="0"/>
                <a:cs typeface="Times New Roman" panose="02020603050405020304" pitchFamily="18" charset="0"/>
              </a:rPr>
              <a:t>ехнологические методы Data Mining</a:t>
            </a:r>
            <a:endParaRPr lang="LID4096" sz="2700"/>
          </a:p>
        </p:txBody>
      </p:sp>
      <p:sp>
        <p:nvSpPr>
          <p:cNvPr id="6" name="Rectangle 2">
            <a:extLst>
              <a:ext uri="{FF2B5EF4-FFF2-40B4-BE49-F238E27FC236}">
                <a16:creationId xmlns:a16="http://schemas.microsoft.com/office/drawing/2014/main" id="{35C29A95-3F22-9172-0FEC-B8AE9524DAD1}"/>
              </a:ext>
            </a:extLst>
          </p:cNvPr>
          <p:cNvSpPr>
            <a:spLocks noGrp="1" noChangeArrowheads="1"/>
          </p:cNvSpPr>
          <p:nvPr>
            <p:ph idx="1"/>
          </p:nvPr>
        </p:nvSpPr>
        <p:spPr bwMode="auto">
          <a:xfrm>
            <a:off x="876693" y="2533476"/>
            <a:ext cx="3455821" cy="3447832"/>
          </a:xfrm>
          <a:prstGeom prst="rect">
            <a:avLst/>
          </a:prstGeom>
        </p:spPr>
        <p:txBody>
          <a:bodyPr anchor="t">
            <a:normAutofit/>
          </a:bodyPr>
          <a:lstStyle/>
          <a:p>
            <a:pPr marL="0" indent="0">
              <a:buNone/>
            </a:pPr>
            <a:r>
              <a:rPr lang="ru-RU" sz="1400" b="1" i="1" dirty="0"/>
              <a:t>Методы</a:t>
            </a:r>
            <a:r>
              <a:rPr lang="ru-RU" sz="1400" b="1" dirty="0"/>
              <a:t> на основе уравнений</a:t>
            </a:r>
            <a:r>
              <a:rPr lang="ru-RU" sz="1400" b="1"/>
              <a:t> </a:t>
            </a:r>
          </a:p>
          <a:p>
            <a:pPr marL="0" indent="0">
              <a:buNone/>
            </a:pPr>
            <a:endParaRPr lang="ru-RU" sz="1400" b="1" i="1"/>
          </a:p>
          <a:p>
            <a:pPr marL="0" indent="0">
              <a:buNone/>
            </a:pPr>
            <a:r>
              <a:rPr lang="ru-RU" sz="1400" i="1" dirty="0"/>
              <a:t>Методы</a:t>
            </a:r>
            <a:r>
              <a:rPr lang="ru-RU" sz="1400" dirty="0"/>
              <a:t> этой группы выражают выявленные </a:t>
            </a:r>
            <a:r>
              <a:rPr lang="ru-RU" sz="1400" i="1" dirty="0"/>
              <a:t>закономерности</a:t>
            </a:r>
            <a:r>
              <a:rPr lang="ru-RU" sz="1400" dirty="0"/>
              <a:t> в виде математических выражений - уравнений. </a:t>
            </a:r>
          </a:p>
          <a:p>
            <a:pPr marL="0" indent="0">
              <a:buNone/>
            </a:pPr>
            <a:r>
              <a:rPr lang="ru-RU" sz="1400" dirty="0"/>
              <a:t>Они могут работать лишь с численными переменными, и переменные других типов должны быть закодированы соответствующим образом. Это несколько ограничивает применение </a:t>
            </a:r>
            <a:r>
              <a:rPr lang="ru-RU" sz="1400" i="1" dirty="0"/>
              <a:t>методов</a:t>
            </a:r>
            <a:r>
              <a:rPr lang="ru-RU" sz="1400" dirty="0"/>
              <a:t> данной группы, тем не менее они широко используются при решении различных задач, особенно задач прогнозирования</a:t>
            </a:r>
            <a:endParaRPr lang="ru-RU" sz="1400" b="1" i="1"/>
          </a:p>
        </p:txBody>
      </p:sp>
      <p:pic>
        <p:nvPicPr>
          <p:cNvPr id="7" name="Picture 6" descr="A black and white diagram with white text&#10;&#10;Description automatically generated">
            <a:extLst>
              <a:ext uri="{FF2B5EF4-FFF2-40B4-BE49-F238E27FC236}">
                <a16:creationId xmlns:a16="http://schemas.microsoft.com/office/drawing/2014/main" id="{055A099C-8EC8-107F-2D1C-E2546AE8F196}"/>
              </a:ext>
            </a:extLst>
          </p:cNvPr>
          <p:cNvPicPr>
            <a:picLocks noChangeAspect="1"/>
          </p:cNvPicPr>
          <p:nvPr/>
        </p:nvPicPr>
        <p:blipFill>
          <a:blip r:embed="rId3"/>
          <a:stretch>
            <a:fillRect/>
          </a:stretch>
        </p:blipFill>
        <p:spPr>
          <a:xfrm>
            <a:off x="4987672" y="1309197"/>
            <a:ext cx="6389346" cy="4248916"/>
          </a:xfrm>
          <a:prstGeom prst="rect">
            <a:avLst/>
          </a:prstGeom>
        </p:spPr>
      </p:pic>
      <p:grpSp>
        <p:nvGrpSpPr>
          <p:cNvPr id="37" name="Group 36">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38" name="Rectangle 37">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486940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4759FED-9EA9-6AED-2703-BB97738C6250}"/>
            </a:ext>
          </a:extLst>
        </p:cNvPr>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84C6C9-2A9E-FC5D-5E2C-372353F75378}"/>
              </a:ext>
            </a:extLst>
          </p:cNvPr>
          <p:cNvSpPr>
            <a:spLocks noGrp="1"/>
          </p:cNvSpPr>
          <p:nvPr>
            <p:ph type="title"/>
          </p:nvPr>
        </p:nvSpPr>
        <p:spPr>
          <a:xfrm>
            <a:off x="4654296" y="329184"/>
            <a:ext cx="6894576" cy="1783080"/>
          </a:xfrm>
        </p:spPr>
        <p:txBody>
          <a:bodyPr anchor="b">
            <a:normAutofit/>
          </a:bodyPr>
          <a:lstStyle/>
          <a:p>
            <a:r>
              <a:rPr lang="ru-RU" sz="3800">
                <a:latin typeface="Verdana" panose="020B0604030504040204" pitchFamily="34" charset="0"/>
                <a:ea typeface="Times New Roman" panose="02020603050405020304" pitchFamily="18" charset="0"/>
                <a:cs typeface="Times New Roman" panose="02020603050405020304" pitchFamily="18" charset="0"/>
              </a:rPr>
              <a:t>Классификация т</a:t>
            </a:r>
            <a:r>
              <a:rPr lang="ru-RU" sz="3800">
                <a:effectLst/>
                <a:latin typeface="Verdana" panose="020B0604030504040204" pitchFamily="34" charset="0"/>
                <a:ea typeface="Times New Roman" panose="02020603050405020304" pitchFamily="18" charset="0"/>
                <a:cs typeface="Times New Roman" panose="02020603050405020304" pitchFamily="18" charset="0"/>
              </a:rPr>
              <a:t>ехнологических методов Data Mining</a:t>
            </a:r>
            <a:endParaRPr lang="LID4096" sz="3800"/>
          </a:p>
        </p:txBody>
      </p:sp>
      <p:pic>
        <p:nvPicPr>
          <p:cNvPr id="41" name="Picture 40" descr="Закат строительныелеса на сайте разработки">
            <a:extLst>
              <a:ext uri="{FF2B5EF4-FFF2-40B4-BE49-F238E27FC236}">
                <a16:creationId xmlns:a16="http://schemas.microsoft.com/office/drawing/2014/main" id="{A9740731-6780-8813-C1C9-B520B89E9E25}"/>
              </a:ext>
            </a:extLst>
          </p:cNvPr>
          <p:cNvPicPr>
            <a:picLocks noChangeAspect="1"/>
          </p:cNvPicPr>
          <p:nvPr/>
        </p:nvPicPr>
        <p:blipFill rotWithShape="1">
          <a:blip r:embed="rId3"/>
          <a:srcRect l="32206" r="28350" b="-2"/>
          <a:stretch/>
        </p:blipFill>
        <p:spPr>
          <a:xfrm>
            <a:off x="20" y="1"/>
            <a:ext cx="4052522" cy="6858000"/>
          </a:xfrm>
          <a:custGeom>
            <a:avLst/>
            <a:gdLst/>
            <a:ahLst/>
            <a:cxnLst/>
            <a:rect l="l" t="t" r="r" b="b"/>
            <a:pathLst>
              <a:path w="4052542" h="6858000">
                <a:moveTo>
                  <a:pt x="0" y="0"/>
                </a:moveTo>
                <a:lnTo>
                  <a:pt x="4020923" y="0"/>
                </a:lnTo>
                <a:lnTo>
                  <a:pt x="4022656" y="14697"/>
                </a:lnTo>
                <a:cubicBezTo>
                  <a:pt x="4037606" y="98462"/>
                  <a:pt x="4035072" y="183369"/>
                  <a:pt x="4039126" y="267642"/>
                </a:cubicBezTo>
                <a:cubicBezTo>
                  <a:pt x="4043941" y="370699"/>
                  <a:pt x="4037860" y="474136"/>
                  <a:pt x="4035579" y="577446"/>
                </a:cubicBezTo>
                <a:cubicBezTo>
                  <a:pt x="4033805" y="665399"/>
                  <a:pt x="4025063" y="753226"/>
                  <a:pt x="4027724" y="841306"/>
                </a:cubicBezTo>
                <a:cubicBezTo>
                  <a:pt x="4027914" y="844352"/>
                  <a:pt x="4027914" y="847398"/>
                  <a:pt x="4027724" y="850444"/>
                </a:cubicBezTo>
                <a:cubicBezTo>
                  <a:pt x="4019615" y="947281"/>
                  <a:pt x="4019615" y="1044626"/>
                  <a:pt x="4027724" y="1141464"/>
                </a:cubicBezTo>
                <a:cubicBezTo>
                  <a:pt x="4030296" y="1181772"/>
                  <a:pt x="4029574" y="1222221"/>
                  <a:pt x="4025570" y="1262415"/>
                </a:cubicBezTo>
                <a:cubicBezTo>
                  <a:pt x="4021769" y="1313563"/>
                  <a:pt x="4009606" y="1365472"/>
                  <a:pt x="4018348" y="1416238"/>
                </a:cubicBezTo>
                <a:cubicBezTo>
                  <a:pt x="4024037" y="1458058"/>
                  <a:pt x="4027166" y="1500194"/>
                  <a:pt x="4027724" y="1542394"/>
                </a:cubicBezTo>
                <a:cubicBezTo>
                  <a:pt x="4032158" y="1636820"/>
                  <a:pt x="4027977" y="1731753"/>
                  <a:pt x="4026330" y="1826433"/>
                </a:cubicBezTo>
                <a:cubicBezTo>
                  <a:pt x="4024556" y="1936724"/>
                  <a:pt x="4027344" y="2047015"/>
                  <a:pt x="4018475" y="2157432"/>
                </a:cubicBezTo>
                <a:cubicBezTo>
                  <a:pt x="4013597" y="2246629"/>
                  <a:pt x="4013597" y="2336029"/>
                  <a:pt x="4018475" y="2425226"/>
                </a:cubicBezTo>
                <a:cubicBezTo>
                  <a:pt x="4020882" y="2506961"/>
                  <a:pt x="4033172" y="2587934"/>
                  <a:pt x="4031145" y="2670557"/>
                </a:cubicBezTo>
                <a:cubicBezTo>
                  <a:pt x="4028737" y="2766886"/>
                  <a:pt x="4017335" y="2862962"/>
                  <a:pt x="4020882" y="2959546"/>
                </a:cubicBezTo>
                <a:cubicBezTo>
                  <a:pt x="4022529" y="3005617"/>
                  <a:pt x="4022656" y="3051688"/>
                  <a:pt x="4023543" y="3097758"/>
                </a:cubicBezTo>
                <a:cubicBezTo>
                  <a:pt x="4024683" y="3153221"/>
                  <a:pt x="4034692" y="3208556"/>
                  <a:pt x="4029117" y="3263892"/>
                </a:cubicBezTo>
                <a:cubicBezTo>
                  <a:pt x="4019869" y="3356161"/>
                  <a:pt x="3995923" y="3446906"/>
                  <a:pt x="4010873" y="3541459"/>
                </a:cubicBezTo>
                <a:cubicBezTo>
                  <a:pt x="4019108" y="3593495"/>
                  <a:pt x="4028357" y="3645658"/>
                  <a:pt x="4033172" y="3698201"/>
                </a:cubicBezTo>
                <a:cubicBezTo>
                  <a:pt x="4037353" y="3745160"/>
                  <a:pt x="4047868" y="3792881"/>
                  <a:pt x="4039886" y="3839586"/>
                </a:cubicBezTo>
                <a:cubicBezTo>
                  <a:pt x="4033045" y="3879565"/>
                  <a:pt x="4036592" y="3919544"/>
                  <a:pt x="4031271" y="3959523"/>
                </a:cubicBezTo>
                <a:cubicBezTo>
                  <a:pt x="4024303" y="4011939"/>
                  <a:pt x="4020629" y="4065244"/>
                  <a:pt x="4015308" y="4118042"/>
                </a:cubicBezTo>
                <a:cubicBezTo>
                  <a:pt x="4010620" y="4165889"/>
                  <a:pt x="4006946" y="4213610"/>
                  <a:pt x="4019615" y="4258539"/>
                </a:cubicBezTo>
                <a:cubicBezTo>
                  <a:pt x="4050656" y="4371622"/>
                  <a:pt x="4033679" y="4484070"/>
                  <a:pt x="4022023" y="4596391"/>
                </a:cubicBezTo>
                <a:cubicBezTo>
                  <a:pt x="4016321" y="4650965"/>
                  <a:pt x="4007959" y="4708712"/>
                  <a:pt x="4020629" y="4758718"/>
                </a:cubicBezTo>
                <a:cubicBezTo>
                  <a:pt x="4043941" y="4847432"/>
                  <a:pt x="4025697" y="4931705"/>
                  <a:pt x="4015561" y="5016866"/>
                </a:cubicBezTo>
                <a:cubicBezTo>
                  <a:pt x="4003335" y="5100174"/>
                  <a:pt x="4005096" y="5184929"/>
                  <a:pt x="4020756" y="5267654"/>
                </a:cubicBezTo>
                <a:cubicBezTo>
                  <a:pt x="4033172" y="5326035"/>
                  <a:pt x="4033172" y="5385432"/>
                  <a:pt x="4034692" y="5444194"/>
                </a:cubicBezTo>
                <a:cubicBezTo>
                  <a:pt x="4035579" y="5481001"/>
                  <a:pt x="4022023" y="5518441"/>
                  <a:pt x="4013027" y="5555120"/>
                </a:cubicBezTo>
                <a:cubicBezTo>
                  <a:pt x="3996937" y="5621371"/>
                  <a:pt x="3991109" y="5688636"/>
                  <a:pt x="4013027" y="5753237"/>
                </a:cubicBezTo>
                <a:cubicBezTo>
                  <a:pt x="4043561" y="5842713"/>
                  <a:pt x="4061045" y="5932189"/>
                  <a:pt x="4048375" y="6026870"/>
                </a:cubicBezTo>
                <a:cubicBezTo>
                  <a:pt x="4041027" y="6085251"/>
                  <a:pt x="4039380" y="6144902"/>
                  <a:pt x="4028357" y="6202522"/>
                </a:cubicBezTo>
                <a:cubicBezTo>
                  <a:pt x="4010240" y="6298091"/>
                  <a:pt x="4016701" y="6393024"/>
                  <a:pt x="4031145" y="6487196"/>
                </a:cubicBezTo>
                <a:cubicBezTo>
                  <a:pt x="4041293" y="6565885"/>
                  <a:pt x="4042395" y="6645474"/>
                  <a:pt x="4034439" y="6724403"/>
                </a:cubicBezTo>
                <a:lnTo>
                  <a:pt x="4025206" y="6858000"/>
                </a:lnTo>
                <a:lnTo>
                  <a:pt x="0" y="6858000"/>
                </a:lnTo>
                <a:close/>
              </a:path>
            </a:pathLst>
          </a:custGeom>
        </p:spPr>
      </p:pic>
      <p:sp>
        <p:nvSpPr>
          <p:cNvPr id="47" name="sketchy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812C51BE-BBA2-D446-C867-E4BB1B1CCE8E}"/>
              </a:ext>
            </a:extLst>
          </p:cNvPr>
          <p:cNvSpPr>
            <a:spLocks noGrp="1"/>
          </p:cNvSpPr>
          <p:nvPr>
            <p:ph idx="1"/>
          </p:nvPr>
        </p:nvSpPr>
        <p:spPr>
          <a:xfrm>
            <a:off x="4654296" y="2706624"/>
            <a:ext cx="6894576" cy="3483864"/>
          </a:xfrm>
        </p:spPr>
        <p:txBody>
          <a:bodyPr>
            <a:normAutofit/>
          </a:bodyPr>
          <a:lstStyle/>
          <a:p>
            <a:pPr marL="0" indent="0">
              <a:buNone/>
            </a:pPr>
            <a:r>
              <a:rPr lang="ru-RU" sz="2200"/>
              <a:t>Все </a:t>
            </a:r>
            <a:r>
              <a:rPr lang="ru-RU" sz="2200" i="1"/>
              <a:t>методы</a:t>
            </a:r>
            <a:r>
              <a:rPr lang="ru-RU" sz="2200"/>
              <a:t> </a:t>
            </a:r>
            <a:r>
              <a:rPr lang="ru-RU" sz="2200" i="1"/>
              <a:t>Data Mining</a:t>
            </a:r>
            <a:r>
              <a:rPr lang="ru-RU" sz="2200"/>
              <a:t> подразделяются на две большие группы по принципу работы с исходными обучающими данными. </a:t>
            </a:r>
          </a:p>
          <a:p>
            <a:pPr marL="0" indent="0">
              <a:buNone/>
            </a:pPr>
            <a:endParaRPr lang="ru-RU" sz="2200"/>
          </a:p>
          <a:p>
            <a:pPr marL="0" indent="0">
              <a:buNone/>
            </a:pPr>
            <a:r>
              <a:rPr lang="ru-RU" sz="2200"/>
              <a:t>В этой классификации верхний уровень определяется на основании того, сохраняются ли данные после </a:t>
            </a:r>
            <a:r>
              <a:rPr lang="ru-RU" sz="2200" i="1"/>
              <a:t>Data Mining</a:t>
            </a:r>
            <a:r>
              <a:rPr lang="ru-RU" sz="2200"/>
              <a:t> либо они дистиллируются для последующего использования</a:t>
            </a:r>
            <a:endParaRPr lang="LID4096" sz="2200"/>
          </a:p>
        </p:txBody>
      </p:sp>
    </p:spTree>
    <p:extLst>
      <p:ext uri="{BB962C8B-B14F-4D97-AF65-F5344CB8AC3E}">
        <p14:creationId xmlns:p14="http://schemas.microsoft.com/office/powerpoint/2010/main" val="24180775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7BE2271-B1D6-414B-B185-FA0046B8CB2A}"/>
            </a:ext>
          </a:extLst>
        </p:cNvPr>
        <p:cNvGrpSpPr/>
        <p:nvPr/>
      </p:nvGrpSpPr>
      <p:grpSpPr>
        <a:xfrm>
          <a:off x="0" y="0"/>
          <a:ext cx="0" cy="0"/>
          <a:chOff x="0" y="0"/>
          <a:chExt cx="0" cy="0"/>
        </a:xfrm>
      </p:grpSpPr>
      <p:sp useBgFill="1">
        <p:nvSpPr>
          <p:cNvPr id="45"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47" name="Rectangle 46">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E81C1B-BC04-D16F-B811-E8130DDFAACD}"/>
              </a:ext>
            </a:extLst>
          </p:cNvPr>
          <p:cNvSpPr>
            <a:spLocks noGrp="1"/>
          </p:cNvSpPr>
          <p:nvPr>
            <p:ph type="title"/>
          </p:nvPr>
        </p:nvSpPr>
        <p:spPr>
          <a:xfrm>
            <a:off x="761803" y="350196"/>
            <a:ext cx="4646904" cy="1624520"/>
          </a:xfrm>
        </p:spPr>
        <p:txBody>
          <a:bodyPr anchor="ctr">
            <a:normAutofit/>
          </a:bodyPr>
          <a:lstStyle/>
          <a:p>
            <a:r>
              <a:rPr lang="ru-RU" sz="3700">
                <a:effectLst/>
                <a:latin typeface="Verdana" panose="020B0604030504040204" pitchFamily="34" charset="0"/>
                <a:ea typeface="Times New Roman" panose="02020603050405020304" pitchFamily="18" charset="0"/>
                <a:cs typeface="Times New Roman" panose="02020603050405020304" pitchFamily="18" charset="0"/>
              </a:rPr>
              <a:t>Статистические методы Data Mining</a:t>
            </a:r>
            <a:endParaRPr lang="LID4096" sz="3700"/>
          </a:p>
        </p:txBody>
      </p:sp>
      <p:sp>
        <p:nvSpPr>
          <p:cNvPr id="4" name="Content Placeholder 3">
            <a:extLst>
              <a:ext uri="{FF2B5EF4-FFF2-40B4-BE49-F238E27FC236}">
                <a16:creationId xmlns:a16="http://schemas.microsoft.com/office/drawing/2014/main" id="{38D78F66-FEA4-ED96-BD86-062EC0CFFFFA}"/>
              </a:ext>
            </a:extLst>
          </p:cNvPr>
          <p:cNvSpPr>
            <a:spLocks noGrp="1"/>
          </p:cNvSpPr>
          <p:nvPr>
            <p:ph idx="1"/>
          </p:nvPr>
        </p:nvSpPr>
        <p:spPr>
          <a:xfrm>
            <a:off x="761802" y="2743200"/>
            <a:ext cx="4646905" cy="3613149"/>
          </a:xfrm>
        </p:spPr>
        <p:txBody>
          <a:bodyPr anchor="ctr">
            <a:normAutofit/>
          </a:bodyPr>
          <a:lstStyle/>
          <a:p>
            <a:pPr lvl="0"/>
            <a:r>
              <a:rPr lang="ru-RU" sz="1700">
                <a:latin typeface="Arial" pitchFamily="34" charset="0"/>
                <a:cs typeface="Arial" pitchFamily="34" charset="0"/>
              </a:rPr>
              <a:t>предварительный анализ природы статистических данных (проверка гипотез стационарности, нормальности, независимости, однородности и т.п.);</a:t>
            </a:r>
          </a:p>
          <a:p>
            <a:pPr lvl="0"/>
            <a:r>
              <a:rPr lang="ru-RU" sz="1700">
                <a:latin typeface="Arial" pitchFamily="34" charset="0"/>
                <a:cs typeface="Arial" pitchFamily="34" charset="0"/>
              </a:rPr>
              <a:t>выявление связей и </a:t>
            </a:r>
            <a:r>
              <a:rPr lang="ru-RU" sz="1700" i="1">
                <a:latin typeface="Arial" pitchFamily="34" charset="0"/>
                <a:cs typeface="Arial" pitchFamily="34" charset="0"/>
              </a:rPr>
              <a:t>закономерностей</a:t>
            </a:r>
            <a:r>
              <a:rPr lang="ru-RU" sz="1700">
                <a:latin typeface="Arial" pitchFamily="34" charset="0"/>
                <a:cs typeface="Arial" pitchFamily="34" charset="0"/>
              </a:rPr>
              <a:t> ( регрессионный и корреляционный анализ и др.);</a:t>
            </a:r>
          </a:p>
          <a:p>
            <a:pPr lvl="0"/>
            <a:r>
              <a:rPr lang="ru-RU" sz="1700">
                <a:latin typeface="Arial" pitchFamily="34" charset="0"/>
                <a:cs typeface="Arial" pitchFamily="34" charset="0"/>
              </a:rPr>
              <a:t>многомерный статистический анализ ( дискриминантный анализ, кластерный анализ, компонентный анализ, </a:t>
            </a:r>
            <a:r>
              <a:rPr lang="ru-RU" sz="1700" i="1">
                <a:latin typeface="Arial" pitchFamily="34" charset="0"/>
                <a:cs typeface="Arial" pitchFamily="34" charset="0"/>
              </a:rPr>
              <a:t>факторный анализ</a:t>
            </a:r>
            <a:r>
              <a:rPr lang="ru-RU" sz="1700">
                <a:latin typeface="Arial" pitchFamily="34" charset="0"/>
                <a:cs typeface="Arial" pitchFamily="34" charset="0"/>
              </a:rPr>
              <a:t> и др.);</a:t>
            </a:r>
          </a:p>
          <a:p>
            <a:pPr lvl="0"/>
            <a:r>
              <a:rPr lang="ru-RU" sz="1700" i="1">
                <a:latin typeface="Arial" pitchFamily="34" charset="0"/>
                <a:cs typeface="Arial" pitchFamily="34" charset="0"/>
              </a:rPr>
              <a:t>динамические модели</a:t>
            </a:r>
            <a:r>
              <a:rPr lang="ru-RU" sz="1700">
                <a:latin typeface="Arial" pitchFamily="34" charset="0"/>
                <a:cs typeface="Arial" pitchFamily="34" charset="0"/>
              </a:rPr>
              <a:t> и прогноз на основе временных рядов.</a:t>
            </a:r>
          </a:p>
        </p:txBody>
      </p:sp>
      <p:pic>
        <p:nvPicPr>
          <p:cNvPr id="41" name="Picture 40" descr="Пипетка Добавление ДНКного образца в Петри блюдо">
            <a:extLst>
              <a:ext uri="{FF2B5EF4-FFF2-40B4-BE49-F238E27FC236}">
                <a16:creationId xmlns:a16="http://schemas.microsoft.com/office/drawing/2014/main" id="{E175EC9A-63FC-C112-E668-A7F839E5B99A}"/>
              </a:ext>
            </a:extLst>
          </p:cNvPr>
          <p:cNvPicPr>
            <a:picLocks noChangeAspect="1"/>
          </p:cNvPicPr>
          <p:nvPr/>
        </p:nvPicPr>
        <p:blipFill rotWithShape="1">
          <a:blip r:embed="rId3"/>
          <a:srcRect l="4838" r="28421"/>
          <a:stretch/>
        </p:blipFill>
        <p:spPr>
          <a:xfrm>
            <a:off x="6096000" y="1"/>
            <a:ext cx="6102825" cy="6858000"/>
          </a:xfrm>
          <a:prstGeom prst="rect">
            <a:avLst/>
          </a:prstGeom>
        </p:spPr>
      </p:pic>
    </p:spTree>
    <p:extLst>
      <p:ext uri="{BB962C8B-B14F-4D97-AF65-F5344CB8AC3E}">
        <p14:creationId xmlns:p14="http://schemas.microsoft.com/office/powerpoint/2010/main" val="24277604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FBB6CC-681A-8848-D055-B832F41991C3}"/>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460B0EFB-53ED-4F35-B05D-F658EA021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1" name="Picture 40" descr="Пипетка Добавление ДНКного образца в Петри блюдо">
            <a:extLst>
              <a:ext uri="{FF2B5EF4-FFF2-40B4-BE49-F238E27FC236}">
                <a16:creationId xmlns:a16="http://schemas.microsoft.com/office/drawing/2014/main" id="{C21C0BA2-8BB0-A5BB-1594-3BA6604A69B1}"/>
              </a:ext>
            </a:extLst>
          </p:cNvPr>
          <p:cNvPicPr>
            <a:picLocks noChangeAspect="1"/>
          </p:cNvPicPr>
          <p:nvPr/>
        </p:nvPicPr>
        <p:blipFill rotWithShape="1">
          <a:blip r:embed="rId3"/>
          <a:srcRect l="11658" r="35241"/>
          <a:stretch/>
        </p:blipFill>
        <p:spPr>
          <a:xfrm>
            <a:off x="-7366" y="10"/>
            <a:ext cx="4855591" cy="6857990"/>
          </a:xfrm>
          <a:custGeom>
            <a:avLst/>
            <a:gdLst/>
            <a:ahLst/>
            <a:cxnLst/>
            <a:rect l="l" t="t" r="r" b="b"/>
            <a:pathLst>
              <a:path w="4636517" h="6858000">
                <a:moveTo>
                  <a:pt x="0" y="0"/>
                </a:moveTo>
                <a:lnTo>
                  <a:pt x="4636517" y="0"/>
                </a:lnTo>
                <a:lnTo>
                  <a:pt x="4636517" y="6858000"/>
                </a:lnTo>
                <a:lnTo>
                  <a:pt x="0" y="6858000"/>
                </a:lnTo>
                <a:close/>
              </a:path>
            </a:pathLst>
          </a:custGeom>
        </p:spPr>
      </p:pic>
      <p:sp>
        <p:nvSpPr>
          <p:cNvPr id="54" name="!!Arc">
            <a:extLst>
              <a:ext uri="{FF2B5EF4-FFF2-40B4-BE49-F238E27FC236}">
                <a16:creationId xmlns:a16="http://schemas.microsoft.com/office/drawing/2014/main" id="{835EF3DD-7D43-4A27-8967-A92FD8CC93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3531" y="407987"/>
            <a:ext cx="2987899" cy="2987899"/>
          </a:xfrm>
          <a:prstGeom prst="arc">
            <a:avLst>
              <a:gd name="adj1" fmla="val 16200000"/>
              <a:gd name="adj2" fmla="val 256372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0556B3D-6A3F-B936-CEF0-33D179276724}"/>
              </a:ext>
            </a:extLst>
          </p:cNvPr>
          <p:cNvSpPr>
            <a:spLocks noGrp="1"/>
          </p:cNvSpPr>
          <p:nvPr>
            <p:ph type="title"/>
          </p:nvPr>
        </p:nvSpPr>
        <p:spPr>
          <a:xfrm>
            <a:off x="5827048" y="407987"/>
            <a:ext cx="5721484" cy="1325563"/>
          </a:xfrm>
        </p:spPr>
        <p:txBody>
          <a:bodyPr>
            <a:normAutofit/>
          </a:bodyPr>
          <a:lstStyle/>
          <a:p>
            <a:r>
              <a:rPr lang="ru-RU" sz="4100">
                <a:effectLst/>
                <a:latin typeface="Verdana" panose="020B0604030504040204" pitchFamily="34" charset="0"/>
                <a:ea typeface="Times New Roman" panose="02020603050405020304" pitchFamily="18" charset="0"/>
                <a:cs typeface="Times New Roman" panose="02020603050405020304" pitchFamily="18" charset="0"/>
              </a:rPr>
              <a:t>Статистические методы Data Mining</a:t>
            </a:r>
            <a:endParaRPr lang="LID4096" sz="4100"/>
          </a:p>
        </p:txBody>
      </p:sp>
      <p:sp>
        <p:nvSpPr>
          <p:cNvPr id="5" name="Content Placeholder 4">
            <a:extLst>
              <a:ext uri="{FF2B5EF4-FFF2-40B4-BE49-F238E27FC236}">
                <a16:creationId xmlns:a16="http://schemas.microsoft.com/office/drawing/2014/main" id="{4D05E941-3944-914D-B3E0-F5D77117C2B1}"/>
              </a:ext>
            </a:extLst>
          </p:cNvPr>
          <p:cNvSpPr>
            <a:spLocks noGrp="1"/>
          </p:cNvSpPr>
          <p:nvPr>
            <p:ph idx="1"/>
          </p:nvPr>
        </p:nvSpPr>
        <p:spPr>
          <a:xfrm>
            <a:off x="5827048" y="1868487"/>
            <a:ext cx="5721484" cy="4351338"/>
          </a:xfrm>
        </p:spPr>
        <p:txBody>
          <a:bodyPr>
            <a:normAutofit/>
          </a:bodyPr>
          <a:lstStyle/>
          <a:p>
            <a:pPr>
              <a:buNone/>
            </a:pPr>
            <a:r>
              <a:rPr lang="ru-RU" sz="2000" dirty="0"/>
              <a:t>Набор статистических </a:t>
            </a:r>
            <a:r>
              <a:rPr lang="ru-RU" sz="2000" i="1" dirty="0"/>
              <a:t>методов</a:t>
            </a:r>
            <a:r>
              <a:rPr lang="ru-RU" sz="2000" dirty="0"/>
              <a:t> </a:t>
            </a:r>
            <a:r>
              <a:rPr lang="ru-RU" sz="2000" i="1" dirty="0"/>
              <a:t>Data Mining классифицирован</a:t>
            </a:r>
            <a:r>
              <a:rPr lang="ru-RU" sz="2000" dirty="0"/>
              <a:t> на четыре группы </a:t>
            </a:r>
            <a:r>
              <a:rPr lang="ru-RU" sz="2000" i="1" dirty="0"/>
              <a:t>методов</a:t>
            </a:r>
            <a:r>
              <a:rPr lang="ru-RU" sz="2000" dirty="0"/>
              <a:t>:</a:t>
            </a:r>
          </a:p>
          <a:p>
            <a:pPr lvl="0"/>
            <a:r>
              <a:rPr lang="ru-RU" sz="2000" dirty="0"/>
              <a:t>Дескриптивный анализ и описание исходных данных.</a:t>
            </a:r>
          </a:p>
          <a:p>
            <a:pPr lvl="0"/>
            <a:r>
              <a:rPr lang="ru-RU" sz="2000" i="1" dirty="0"/>
              <a:t>Анализ связей</a:t>
            </a:r>
            <a:r>
              <a:rPr lang="ru-RU" sz="2000" dirty="0"/>
              <a:t> (корреляционный и регрессионный анализ, </a:t>
            </a:r>
            <a:r>
              <a:rPr lang="ru-RU" sz="2000" i="1" dirty="0"/>
              <a:t>факторный анализ</a:t>
            </a:r>
            <a:r>
              <a:rPr lang="ru-RU" sz="2000" dirty="0"/>
              <a:t>, </a:t>
            </a:r>
            <a:r>
              <a:rPr lang="ru-RU" sz="2000" i="1" dirty="0"/>
              <a:t>дисперсионный анализ</a:t>
            </a:r>
            <a:r>
              <a:rPr lang="ru-RU" sz="2000" dirty="0"/>
              <a:t>).</a:t>
            </a:r>
          </a:p>
          <a:p>
            <a:pPr lvl="0"/>
            <a:r>
              <a:rPr lang="ru-RU" sz="2000" dirty="0"/>
              <a:t>Многомерный статистический анализ (компонентный анализ, дискриминантный анализ, многомерный регрессионный анализ и др.).</a:t>
            </a:r>
          </a:p>
          <a:p>
            <a:pPr lvl="0"/>
            <a:r>
              <a:rPr lang="ru-RU" sz="2000" dirty="0"/>
              <a:t>Анализ временных рядов (</a:t>
            </a:r>
            <a:r>
              <a:rPr lang="ru-RU" sz="2000" i="1" dirty="0"/>
              <a:t>динамические модели</a:t>
            </a:r>
            <a:r>
              <a:rPr lang="ru-RU" sz="2000" dirty="0"/>
              <a:t> и прогнозирование).</a:t>
            </a:r>
          </a:p>
          <a:p>
            <a:endParaRPr lang="LID4096" sz="2000" dirty="0"/>
          </a:p>
        </p:txBody>
      </p:sp>
    </p:spTree>
    <p:extLst>
      <p:ext uri="{BB962C8B-B14F-4D97-AF65-F5344CB8AC3E}">
        <p14:creationId xmlns:p14="http://schemas.microsoft.com/office/powerpoint/2010/main" val="34757812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E37137-AD25-386C-0C2F-2AB5BF91BF2C}"/>
            </a:ext>
          </a:extLst>
        </p:cNvPr>
        <p:cNvGrpSpPr/>
        <p:nvPr/>
      </p:nvGrpSpPr>
      <p:grpSpPr>
        <a:xfrm>
          <a:off x="0" y="0"/>
          <a:ext cx="0" cy="0"/>
          <a:chOff x="0" y="0"/>
          <a:chExt cx="0" cy="0"/>
        </a:xfrm>
      </p:grpSpPr>
      <p:sp useBgFill="1">
        <p:nvSpPr>
          <p:cNvPr id="45" name="Slide Background">
            <a:extLst>
              <a:ext uri="{FF2B5EF4-FFF2-40B4-BE49-F238E27FC236}">
                <a16:creationId xmlns:a16="http://schemas.microsoft.com/office/drawing/2014/main" id="{2558A495-A662-2AD1-448C-50A2E2419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47" name="Rectangle 46">
            <a:extLst>
              <a:ext uri="{FF2B5EF4-FFF2-40B4-BE49-F238E27FC236}">
                <a16:creationId xmlns:a16="http://schemas.microsoft.com/office/drawing/2014/main" id="{E71EAE69-A6CD-EDBB-BE9A-867978D4D0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90891F-9E76-2663-EE1C-2C09715E47C5}"/>
              </a:ext>
            </a:extLst>
          </p:cNvPr>
          <p:cNvSpPr>
            <a:spLocks noGrp="1"/>
          </p:cNvSpPr>
          <p:nvPr>
            <p:ph type="title"/>
          </p:nvPr>
        </p:nvSpPr>
        <p:spPr>
          <a:xfrm>
            <a:off x="761803" y="350196"/>
            <a:ext cx="4646904" cy="1624520"/>
          </a:xfrm>
        </p:spPr>
        <p:txBody>
          <a:bodyPr anchor="ctr">
            <a:normAutofit/>
          </a:bodyPr>
          <a:lstStyle/>
          <a:p>
            <a:r>
              <a:rPr lang="ru-RU" sz="3700" dirty="0">
                <a:effectLst/>
                <a:latin typeface="Verdana" panose="020B0604030504040204" pitchFamily="34" charset="0"/>
                <a:ea typeface="Times New Roman" panose="02020603050405020304" pitchFamily="18" charset="0"/>
                <a:cs typeface="Times New Roman" panose="02020603050405020304" pitchFamily="18" charset="0"/>
              </a:rPr>
              <a:t>Кибернетические методы Data Mining</a:t>
            </a:r>
            <a:endParaRPr lang="LID4096" sz="3700" dirty="0"/>
          </a:p>
        </p:txBody>
      </p:sp>
      <p:sp>
        <p:nvSpPr>
          <p:cNvPr id="4" name="Content Placeholder 3">
            <a:extLst>
              <a:ext uri="{FF2B5EF4-FFF2-40B4-BE49-F238E27FC236}">
                <a16:creationId xmlns:a16="http://schemas.microsoft.com/office/drawing/2014/main" id="{F6495101-DB6B-E817-AE07-772BCD223EB3}"/>
              </a:ext>
            </a:extLst>
          </p:cNvPr>
          <p:cNvSpPr>
            <a:spLocks noGrp="1"/>
          </p:cNvSpPr>
          <p:nvPr>
            <p:ph idx="1"/>
          </p:nvPr>
        </p:nvSpPr>
        <p:spPr>
          <a:xfrm>
            <a:off x="416560" y="2324912"/>
            <a:ext cx="4992147" cy="4031437"/>
          </a:xfrm>
        </p:spPr>
        <p:txBody>
          <a:bodyPr anchor="ctr">
            <a:normAutofit/>
          </a:bodyPr>
          <a:lstStyle/>
          <a:p>
            <a:pPr marL="0" marR="0" indent="0">
              <a:buNone/>
            </a:pPr>
            <a:r>
              <a:rPr lang="ru-RU" sz="16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 этой группе относятся такие </a:t>
            </a:r>
            <a:r>
              <a:rPr lang="ru-RU" sz="16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6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p>
          <a:p>
            <a:pPr marL="0" marR="0" indent="0">
              <a:buNone/>
            </a:pPr>
            <a:endParaRPr lang="ru-RU" sz="16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ru-RU" sz="1600" dirty="0">
                <a:solidFill>
                  <a:srgbClr val="000000"/>
                </a:solidFill>
                <a:effectLst/>
                <a:latin typeface="Verdana" panose="020B0604030504040204" pitchFamily="34" charset="0"/>
                <a:ea typeface="Times New Roman" panose="02020603050405020304" pitchFamily="18" charset="0"/>
              </a:rPr>
              <a:t>искусственные нейронные сети (распознавание, кластеризация, прогноз); </a:t>
            </a:r>
            <a:endParaRPr lang="ru-RU" sz="16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ru-RU" sz="1600" dirty="0">
                <a:solidFill>
                  <a:srgbClr val="000000"/>
                </a:solidFill>
                <a:effectLst/>
                <a:latin typeface="Verdana" panose="020B0604030504040204" pitchFamily="34" charset="0"/>
                <a:ea typeface="Times New Roman" panose="02020603050405020304" pitchFamily="18" charset="0"/>
              </a:rPr>
              <a:t>эволюционное программирование (в т.ч. </a:t>
            </a:r>
            <a:r>
              <a:rPr lang="ru-RU" sz="1600" i="1" dirty="0">
                <a:solidFill>
                  <a:srgbClr val="000000"/>
                </a:solidFill>
                <a:effectLst/>
                <a:latin typeface="Verdana" panose="020B0604030504040204" pitchFamily="34" charset="0"/>
                <a:ea typeface="Times New Roman" panose="02020603050405020304" pitchFamily="18" charset="0"/>
              </a:rPr>
              <a:t>алгоритмы</a:t>
            </a:r>
            <a:r>
              <a:rPr lang="ru-RU" sz="1600" dirty="0">
                <a:solidFill>
                  <a:srgbClr val="000000"/>
                </a:solidFill>
                <a:effectLst/>
                <a:latin typeface="Verdana" panose="020B0604030504040204" pitchFamily="34" charset="0"/>
                <a:ea typeface="Times New Roman" panose="02020603050405020304" pitchFamily="18" charset="0"/>
              </a:rPr>
              <a:t> метода группового учета аргументов); </a:t>
            </a:r>
            <a:endParaRPr lang="ru-RU" sz="16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ru-RU" sz="1600" dirty="0">
                <a:solidFill>
                  <a:srgbClr val="000000"/>
                </a:solidFill>
                <a:effectLst/>
                <a:latin typeface="Verdana" panose="020B0604030504040204" pitchFamily="34" charset="0"/>
                <a:ea typeface="Times New Roman" panose="02020603050405020304" pitchFamily="18" charset="0"/>
              </a:rPr>
              <a:t>генетические </a:t>
            </a:r>
            <a:r>
              <a:rPr lang="ru-RU" sz="1600" i="1" dirty="0">
                <a:solidFill>
                  <a:srgbClr val="000000"/>
                </a:solidFill>
                <a:effectLst/>
                <a:latin typeface="Verdana" panose="020B0604030504040204" pitchFamily="34" charset="0"/>
                <a:ea typeface="Times New Roman" panose="02020603050405020304" pitchFamily="18" charset="0"/>
              </a:rPr>
              <a:t>алгоритмы</a:t>
            </a:r>
            <a:r>
              <a:rPr lang="ru-RU" sz="1600" dirty="0">
                <a:solidFill>
                  <a:srgbClr val="000000"/>
                </a:solidFill>
                <a:effectLst/>
                <a:latin typeface="Verdana" panose="020B0604030504040204" pitchFamily="34" charset="0"/>
                <a:ea typeface="Times New Roman" panose="02020603050405020304" pitchFamily="18" charset="0"/>
              </a:rPr>
              <a:t> (оптимизация); </a:t>
            </a:r>
            <a:endParaRPr lang="ru-RU" sz="16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ru-RU" sz="1600" dirty="0">
                <a:solidFill>
                  <a:srgbClr val="000000"/>
                </a:solidFill>
                <a:effectLst/>
                <a:latin typeface="Verdana" panose="020B0604030504040204" pitchFamily="34" charset="0"/>
                <a:ea typeface="Times New Roman" panose="02020603050405020304" pitchFamily="18" charset="0"/>
              </a:rPr>
              <a:t>ассоциативная память (поиск аналогов, прототипов); </a:t>
            </a:r>
            <a:endParaRPr lang="ru-RU" sz="16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ru-RU" sz="1600" dirty="0">
                <a:solidFill>
                  <a:srgbClr val="000000"/>
                </a:solidFill>
                <a:effectLst/>
                <a:latin typeface="Verdana" panose="020B0604030504040204" pitchFamily="34" charset="0"/>
                <a:ea typeface="Times New Roman" panose="02020603050405020304" pitchFamily="18" charset="0"/>
              </a:rPr>
              <a:t>нечеткая логика; </a:t>
            </a:r>
            <a:endParaRPr lang="ru-RU" sz="16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ru-RU" sz="1600" dirty="0">
                <a:solidFill>
                  <a:srgbClr val="000000"/>
                </a:solidFill>
                <a:effectLst/>
                <a:latin typeface="Verdana" panose="020B0604030504040204" pitchFamily="34" charset="0"/>
                <a:ea typeface="Times New Roman" panose="02020603050405020304" pitchFamily="18" charset="0"/>
              </a:rPr>
              <a:t>деревья решений; </a:t>
            </a:r>
            <a:endParaRPr lang="ru-RU" sz="16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ru-RU" sz="1600" dirty="0">
                <a:solidFill>
                  <a:srgbClr val="000000"/>
                </a:solidFill>
                <a:effectLst/>
                <a:latin typeface="Verdana" panose="020B0604030504040204" pitchFamily="34" charset="0"/>
                <a:ea typeface="Times New Roman" panose="02020603050405020304" pitchFamily="18" charset="0"/>
              </a:rPr>
              <a:t>системы обработки экспертных знаний.</a:t>
            </a:r>
            <a:endParaRPr lang="ru-RU" sz="1600" dirty="0">
              <a:solidFill>
                <a:srgbClr val="000000"/>
              </a:solidFill>
              <a:effectLst/>
              <a:latin typeface="Times New Roman" panose="02020603050405020304" pitchFamily="18" charset="0"/>
              <a:ea typeface="Times New Roman" panose="02020603050405020304" pitchFamily="18" charset="0"/>
            </a:endParaRPr>
          </a:p>
        </p:txBody>
      </p:sp>
      <p:pic>
        <p:nvPicPr>
          <p:cNvPr id="41" name="Picture 40" descr="Пипетка Добавление ДНКного образца в Петри блюдо">
            <a:extLst>
              <a:ext uri="{FF2B5EF4-FFF2-40B4-BE49-F238E27FC236}">
                <a16:creationId xmlns:a16="http://schemas.microsoft.com/office/drawing/2014/main" id="{2B54F752-FE7F-F274-9C78-985895995314}"/>
              </a:ext>
            </a:extLst>
          </p:cNvPr>
          <p:cNvPicPr>
            <a:picLocks noChangeAspect="1"/>
          </p:cNvPicPr>
          <p:nvPr/>
        </p:nvPicPr>
        <p:blipFill rotWithShape="1">
          <a:blip r:embed="rId3"/>
          <a:srcRect l="4838" r="28421"/>
          <a:stretch/>
        </p:blipFill>
        <p:spPr>
          <a:xfrm>
            <a:off x="6096000" y="1"/>
            <a:ext cx="6102825" cy="6858000"/>
          </a:xfrm>
          <a:prstGeom prst="rect">
            <a:avLst/>
          </a:prstGeom>
        </p:spPr>
      </p:pic>
    </p:spTree>
    <p:extLst>
      <p:ext uri="{BB962C8B-B14F-4D97-AF65-F5344CB8AC3E}">
        <p14:creationId xmlns:p14="http://schemas.microsoft.com/office/powerpoint/2010/main" val="9585053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5C2240-8FF5-A650-72CA-9C91F432AC49}"/>
            </a:ext>
          </a:extLst>
        </p:cNvPr>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DC5A11-F843-E33E-C5D2-C849B8C56E79}"/>
              </a:ext>
            </a:extLst>
          </p:cNvPr>
          <p:cNvSpPr>
            <a:spLocks noGrp="1"/>
          </p:cNvSpPr>
          <p:nvPr>
            <p:ph type="title"/>
          </p:nvPr>
        </p:nvSpPr>
        <p:spPr>
          <a:xfrm>
            <a:off x="4654296" y="329184"/>
            <a:ext cx="6894576" cy="1783080"/>
          </a:xfrm>
        </p:spPr>
        <p:txBody>
          <a:bodyPr anchor="b">
            <a:normAutofit/>
          </a:bodyPr>
          <a:lstStyle/>
          <a:p>
            <a:r>
              <a:rPr lang="ru-RU" sz="5400" b="1"/>
              <a:t>Классификация по задачам </a:t>
            </a:r>
            <a:r>
              <a:rPr lang="ru-RU" sz="5400" b="1" i="1"/>
              <a:t>Data Mining</a:t>
            </a:r>
            <a:endParaRPr lang="LID4096" sz="5400" b="1"/>
          </a:p>
        </p:txBody>
      </p:sp>
      <p:pic>
        <p:nvPicPr>
          <p:cNvPr id="41" name="Picture 40" descr="Карандаш и ответный лист">
            <a:extLst>
              <a:ext uri="{FF2B5EF4-FFF2-40B4-BE49-F238E27FC236}">
                <a16:creationId xmlns:a16="http://schemas.microsoft.com/office/drawing/2014/main" id="{86106561-A96A-6C31-09BD-4922A616E5CE}"/>
              </a:ext>
            </a:extLst>
          </p:cNvPr>
          <p:cNvPicPr>
            <a:picLocks noChangeAspect="1"/>
          </p:cNvPicPr>
          <p:nvPr/>
        </p:nvPicPr>
        <p:blipFill rotWithShape="1">
          <a:blip r:embed="rId3"/>
          <a:srcRect l="63315" r="3150" b="-2"/>
          <a:stretch/>
        </p:blipFill>
        <p:spPr>
          <a:xfrm>
            <a:off x="20" y="1"/>
            <a:ext cx="4052522" cy="6858000"/>
          </a:xfrm>
          <a:custGeom>
            <a:avLst/>
            <a:gdLst/>
            <a:ahLst/>
            <a:cxnLst/>
            <a:rect l="l" t="t" r="r" b="b"/>
            <a:pathLst>
              <a:path w="4052542" h="6858000">
                <a:moveTo>
                  <a:pt x="0" y="0"/>
                </a:moveTo>
                <a:lnTo>
                  <a:pt x="4020923" y="0"/>
                </a:lnTo>
                <a:lnTo>
                  <a:pt x="4022656" y="14697"/>
                </a:lnTo>
                <a:cubicBezTo>
                  <a:pt x="4037606" y="98462"/>
                  <a:pt x="4035072" y="183369"/>
                  <a:pt x="4039126" y="267642"/>
                </a:cubicBezTo>
                <a:cubicBezTo>
                  <a:pt x="4043941" y="370699"/>
                  <a:pt x="4037860" y="474136"/>
                  <a:pt x="4035579" y="577446"/>
                </a:cubicBezTo>
                <a:cubicBezTo>
                  <a:pt x="4033805" y="665399"/>
                  <a:pt x="4025063" y="753226"/>
                  <a:pt x="4027724" y="841306"/>
                </a:cubicBezTo>
                <a:cubicBezTo>
                  <a:pt x="4027914" y="844352"/>
                  <a:pt x="4027914" y="847398"/>
                  <a:pt x="4027724" y="850444"/>
                </a:cubicBezTo>
                <a:cubicBezTo>
                  <a:pt x="4019615" y="947281"/>
                  <a:pt x="4019615" y="1044626"/>
                  <a:pt x="4027724" y="1141464"/>
                </a:cubicBezTo>
                <a:cubicBezTo>
                  <a:pt x="4030296" y="1181772"/>
                  <a:pt x="4029574" y="1222221"/>
                  <a:pt x="4025570" y="1262415"/>
                </a:cubicBezTo>
                <a:cubicBezTo>
                  <a:pt x="4021769" y="1313563"/>
                  <a:pt x="4009606" y="1365472"/>
                  <a:pt x="4018348" y="1416238"/>
                </a:cubicBezTo>
                <a:cubicBezTo>
                  <a:pt x="4024037" y="1458058"/>
                  <a:pt x="4027166" y="1500194"/>
                  <a:pt x="4027724" y="1542394"/>
                </a:cubicBezTo>
                <a:cubicBezTo>
                  <a:pt x="4032158" y="1636820"/>
                  <a:pt x="4027977" y="1731753"/>
                  <a:pt x="4026330" y="1826433"/>
                </a:cubicBezTo>
                <a:cubicBezTo>
                  <a:pt x="4024556" y="1936724"/>
                  <a:pt x="4027344" y="2047015"/>
                  <a:pt x="4018475" y="2157432"/>
                </a:cubicBezTo>
                <a:cubicBezTo>
                  <a:pt x="4013597" y="2246629"/>
                  <a:pt x="4013597" y="2336029"/>
                  <a:pt x="4018475" y="2425226"/>
                </a:cubicBezTo>
                <a:cubicBezTo>
                  <a:pt x="4020882" y="2506961"/>
                  <a:pt x="4033172" y="2587934"/>
                  <a:pt x="4031145" y="2670557"/>
                </a:cubicBezTo>
                <a:cubicBezTo>
                  <a:pt x="4028737" y="2766886"/>
                  <a:pt x="4017335" y="2862962"/>
                  <a:pt x="4020882" y="2959546"/>
                </a:cubicBezTo>
                <a:cubicBezTo>
                  <a:pt x="4022529" y="3005617"/>
                  <a:pt x="4022656" y="3051688"/>
                  <a:pt x="4023543" y="3097758"/>
                </a:cubicBezTo>
                <a:cubicBezTo>
                  <a:pt x="4024683" y="3153221"/>
                  <a:pt x="4034692" y="3208556"/>
                  <a:pt x="4029117" y="3263892"/>
                </a:cubicBezTo>
                <a:cubicBezTo>
                  <a:pt x="4019869" y="3356161"/>
                  <a:pt x="3995923" y="3446906"/>
                  <a:pt x="4010873" y="3541459"/>
                </a:cubicBezTo>
                <a:cubicBezTo>
                  <a:pt x="4019108" y="3593495"/>
                  <a:pt x="4028357" y="3645658"/>
                  <a:pt x="4033172" y="3698201"/>
                </a:cubicBezTo>
                <a:cubicBezTo>
                  <a:pt x="4037353" y="3745160"/>
                  <a:pt x="4047868" y="3792881"/>
                  <a:pt x="4039886" y="3839586"/>
                </a:cubicBezTo>
                <a:cubicBezTo>
                  <a:pt x="4033045" y="3879565"/>
                  <a:pt x="4036592" y="3919544"/>
                  <a:pt x="4031271" y="3959523"/>
                </a:cubicBezTo>
                <a:cubicBezTo>
                  <a:pt x="4024303" y="4011939"/>
                  <a:pt x="4020629" y="4065244"/>
                  <a:pt x="4015308" y="4118042"/>
                </a:cubicBezTo>
                <a:cubicBezTo>
                  <a:pt x="4010620" y="4165889"/>
                  <a:pt x="4006946" y="4213610"/>
                  <a:pt x="4019615" y="4258539"/>
                </a:cubicBezTo>
                <a:cubicBezTo>
                  <a:pt x="4050656" y="4371622"/>
                  <a:pt x="4033679" y="4484070"/>
                  <a:pt x="4022023" y="4596391"/>
                </a:cubicBezTo>
                <a:cubicBezTo>
                  <a:pt x="4016321" y="4650965"/>
                  <a:pt x="4007959" y="4708712"/>
                  <a:pt x="4020629" y="4758718"/>
                </a:cubicBezTo>
                <a:cubicBezTo>
                  <a:pt x="4043941" y="4847432"/>
                  <a:pt x="4025697" y="4931705"/>
                  <a:pt x="4015561" y="5016866"/>
                </a:cubicBezTo>
                <a:cubicBezTo>
                  <a:pt x="4003335" y="5100174"/>
                  <a:pt x="4005096" y="5184929"/>
                  <a:pt x="4020756" y="5267654"/>
                </a:cubicBezTo>
                <a:cubicBezTo>
                  <a:pt x="4033172" y="5326035"/>
                  <a:pt x="4033172" y="5385432"/>
                  <a:pt x="4034692" y="5444194"/>
                </a:cubicBezTo>
                <a:cubicBezTo>
                  <a:pt x="4035579" y="5481001"/>
                  <a:pt x="4022023" y="5518441"/>
                  <a:pt x="4013027" y="5555120"/>
                </a:cubicBezTo>
                <a:cubicBezTo>
                  <a:pt x="3996937" y="5621371"/>
                  <a:pt x="3991109" y="5688636"/>
                  <a:pt x="4013027" y="5753237"/>
                </a:cubicBezTo>
                <a:cubicBezTo>
                  <a:pt x="4043561" y="5842713"/>
                  <a:pt x="4061045" y="5932189"/>
                  <a:pt x="4048375" y="6026870"/>
                </a:cubicBezTo>
                <a:cubicBezTo>
                  <a:pt x="4041027" y="6085251"/>
                  <a:pt x="4039380" y="6144902"/>
                  <a:pt x="4028357" y="6202522"/>
                </a:cubicBezTo>
                <a:cubicBezTo>
                  <a:pt x="4010240" y="6298091"/>
                  <a:pt x="4016701" y="6393024"/>
                  <a:pt x="4031145" y="6487196"/>
                </a:cubicBezTo>
                <a:cubicBezTo>
                  <a:pt x="4041293" y="6565885"/>
                  <a:pt x="4042395" y="6645474"/>
                  <a:pt x="4034439" y="6724403"/>
                </a:cubicBezTo>
                <a:lnTo>
                  <a:pt x="4025206" y="6858000"/>
                </a:lnTo>
                <a:lnTo>
                  <a:pt x="0" y="6858000"/>
                </a:lnTo>
                <a:close/>
              </a:path>
            </a:pathLst>
          </a:custGeom>
        </p:spPr>
      </p:pic>
      <p:sp>
        <p:nvSpPr>
          <p:cNvPr id="47" name="sketchy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6AFD497A-91EF-203D-53AF-87716A086559}"/>
              </a:ext>
            </a:extLst>
          </p:cNvPr>
          <p:cNvSpPr>
            <a:spLocks noGrp="1"/>
          </p:cNvSpPr>
          <p:nvPr>
            <p:ph idx="1"/>
          </p:nvPr>
        </p:nvSpPr>
        <p:spPr>
          <a:xfrm>
            <a:off x="4654296" y="2706624"/>
            <a:ext cx="6894576" cy="3483864"/>
          </a:xfrm>
        </p:spPr>
        <p:txBody>
          <a:bodyPr>
            <a:normAutofit/>
          </a:bodyPr>
          <a:lstStyle/>
          <a:p>
            <a:pPr marL="0" indent="0">
              <a:buNone/>
            </a:pPr>
            <a:r>
              <a:rPr lang="ru-RU" sz="1200"/>
              <a:t>Выделяют две группы. </a:t>
            </a:r>
          </a:p>
          <a:p>
            <a:r>
              <a:rPr lang="ru-RU" sz="1200"/>
              <a:t>Первая из них - это подразделение </a:t>
            </a:r>
            <a:r>
              <a:rPr lang="ru-RU" sz="1200" i="1"/>
              <a:t>методов</a:t>
            </a:r>
            <a:r>
              <a:rPr lang="ru-RU" sz="1200"/>
              <a:t> </a:t>
            </a:r>
            <a:r>
              <a:rPr lang="ru-RU" sz="1200" i="1"/>
              <a:t>Data Mining</a:t>
            </a:r>
            <a:r>
              <a:rPr lang="ru-RU" sz="1200"/>
              <a:t> на решающие задачи сегментации (т.е. задачи классификации и кластеризации) и задачи прогнозирования.</a:t>
            </a:r>
          </a:p>
          <a:p>
            <a:r>
              <a:rPr lang="ru-RU" sz="1200"/>
              <a:t>Вторая - на получение описательных и прогнозирующих результатов</a:t>
            </a:r>
          </a:p>
          <a:p>
            <a:pPr marL="0" marR="0" indent="0">
              <a:buNone/>
            </a:pPr>
            <a:r>
              <a:rPr lang="ru-RU" sz="1200"/>
              <a:t>К методам, направленным на получение описательных результатов, относятся итеративные методы кластерного анализа, в том числе: алгоритм k-средних, k-медианы, иерархические методы кластерного анализа, самоорганизующиеся карты Кохонена, методы кросс-табличной визуализации, различные методы визуализации и другие.</a:t>
            </a:r>
          </a:p>
          <a:p>
            <a:pPr marL="0" marR="0" indent="0">
              <a:buNone/>
            </a:pPr>
            <a:r>
              <a:rPr lang="ru-RU" sz="1200"/>
              <a:t>Прогнозирующие методы используют значения одних переменных для предсказания/прогнозирования неизвестных (пропущенных) или будущих значений других (целевых) переменных. К методам, направленным на получение прогнозирующих результатов, относятся такие методы: нейронные сети, деревья решений, линейная регрессия, метод ближайшего соседа, метод опорных векторов и др.</a:t>
            </a:r>
            <a:endParaRPr lang="LID4096" sz="1200"/>
          </a:p>
        </p:txBody>
      </p:sp>
    </p:spTree>
    <p:extLst>
      <p:ext uri="{BB962C8B-B14F-4D97-AF65-F5344CB8AC3E}">
        <p14:creationId xmlns:p14="http://schemas.microsoft.com/office/powerpoint/2010/main" val="41008197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B2A7477-7592-EBFB-B572-271E820FAD49}"/>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5">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AF7A24-1EC3-91F1-F5DB-A127203B478D}"/>
              </a:ext>
            </a:extLst>
          </p:cNvPr>
          <p:cNvSpPr>
            <a:spLocks noGrp="1"/>
          </p:cNvSpPr>
          <p:nvPr>
            <p:ph type="title"/>
          </p:nvPr>
        </p:nvSpPr>
        <p:spPr>
          <a:xfrm>
            <a:off x="686834" y="1153572"/>
            <a:ext cx="3200400" cy="4461163"/>
          </a:xfrm>
        </p:spPr>
        <p:txBody>
          <a:bodyPr>
            <a:normAutofit/>
          </a:bodyPr>
          <a:lstStyle/>
          <a:p>
            <a:r>
              <a:rPr lang="ru-RU" sz="4100" b="1">
                <a:solidFill>
                  <a:srgbClr val="FFFFFF"/>
                </a:solidFill>
              </a:rPr>
              <a:t>Свойства методов </a:t>
            </a:r>
            <a:r>
              <a:rPr lang="ru-RU" sz="4100" b="1" i="1">
                <a:solidFill>
                  <a:srgbClr val="FFFFFF"/>
                </a:solidFill>
              </a:rPr>
              <a:t>Data Mining</a:t>
            </a:r>
            <a:endParaRPr lang="LID4096" sz="4100" b="1">
              <a:solidFill>
                <a:srgbClr val="FFFFFF"/>
              </a:solidFill>
            </a:endParaRPr>
          </a:p>
        </p:txBody>
      </p:sp>
      <p:sp>
        <p:nvSpPr>
          <p:cNvPr id="48" name="Arc 4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Content Placeholder 3">
            <a:extLst>
              <a:ext uri="{FF2B5EF4-FFF2-40B4-BE49-F238E27FC236}">
                <a16:creationId xmlns:a16="http://schemas.microsoft.com/office/drawing/2014/main" id="{012B222C-B287-D812-6A9E-E1BAD9EE2F24}"/>
              </a:ext>
            </a:extLst>
          </p:cNvPr>
          <p:cNvSpPr>
            <a:spLocks noGrp="1"/>
          </p:cNvSpPr>
          <p:nvPr>
            <p:ph idx="1"/>
          </p:nvPr>
        </p:nvSpPr>
        <p:spPr>
          <a:xfrm>
            <a:off x="4447308" y="591344"/>
            <a:ext cx="6906491" cy="5585619"/>
          </a:xfrm>
        </p:spPr>
        <p:txBody>
          <a:bodyPr anchor="ctr">
            <a:normAutofit/>
          </a:bodyPr>
          <a:lstStyle/>
          <a:p>
            <a:pPr marL="0" marR="0" indent="0">
              <a:buNone/>
            </a:pPr>
            <a:r>
              <a:rPr lang="ru-RU" sz="1500">
                <a:effectLst/>
                <a:latin typeface="Verdana" panose="020B0604030504040204" pitchFamily="34" charset="0"/>
                <a:ea typeface="Times New Roman" panose="02020603050405020304" pitchFamily="18" charset="0"/>
                <a:cs typeface="Times New Roman" panose="02020603050405020304" pitchFamily="18" charset="0"/>
              </a:rPr>
              <a:t>Различные </a:t>
            </a:r>
            <a:r>
              <a:rPr lang="ru-RU" sz="1500" i="1">
                <a:effectLst/>
                <a:latin typeface="Verdana" panose="020B0604030504040204" pitchFamily="34" charset="0"/>
                <a:ea typeface="Times New Roman" panose="02020603050405020304" pitchFamily="18" charset="0"/>
                <a:cs typeface="Times New Roman" panose="02020603050405020304" pitchFamily="18" charset="0"/>
              </a:rPr>
              <a:t>методы</a:t>
            </a:r>
            <a:r>
              <a:rPr lang="ru-RU" sz="1500">
                <a:effectLst/>
                <a:latin typeface="Verdana" panose="020B0604030504040204" pitchFamily="34" charset="0"/>
                <a:ea typeface="Times New Roman" panose="02020603050405020304" pitchFamily="18" charset="0"/>
                <a:cs typeface="Times New Roman" panose="02020603050405020304" pitchFamily="18" charset="0"/>
              </a:rPr>
              <a:t> Data Mining характеризуются определенными свойствами, которые могут быть определяющими при выборе метода анализа данных. Методы можно сравнивать между собой, оценивая характеристики их свойств.</a:t>
            </a:r>
          </a:p>
          <a:p>
            <a:pPr marL="0" indent="0">
              <a:buNone/>
            </a:pPr>
            <a:r>
              <a:rPr lang="ru-RU" sz="1500">
                <a:effectLst/>
                <a:latin typeface="Verdana" panose="020B0604030504040204" pitchFamily="34" charset="0"/>
                <a:ea typeface="Times New Roman" panose="02020603050405020304" pitchFamily="18" charset="0"/>
                <a:cs typeface="Times New Roman" panose="02020603050405020304" pitchFamily="18" charset="0"/>
              </a:rPr>
              <a:t>Основные свойств и характеристики </a:t>
            </a:r>
            <a:r>
              <a:rPr lang="ru-RU" sz="1500" i="1">
                <a:effectLst/>
                <a:latin typeface="Verdana" panose="020B0604030504040204" pitchFamily="34" charset="0"/>
                <a:ea typeface="Times New Roman" panose="02020603050405020304" pitchFamily="18" charset="0"/>
                <a:cs typeface="Times New Roman" panose="02020603050405020304" pitchFamily="18" charset="0"/>
              </a:rPr>
              <a:t>методов</a:t>
            </a:r>
            <a:r>
              <a:rPr lang="ru-RU" sz="1500">
                <a:effectLst/>
                <a:latin typeface="Verdana" panose="020B0604030504040204" pitchFamily="34" charset="0"/>
                <a:ea typeface="Times New Roman" panose="02020603050405020304" pitchFamily="18" charset="0"/>
                <a:cs typeface="Times New Roman" panose="02020603050405020304" pitchFamily="18" charset="0"/>
              </a:rPr>
              <a:t> Data Mining: </a:t>
            </a:r>
          </a:p>
          <a:p>
            <a:r>
              <a:rPr lang="ru-RU" sz="1500">
                <a:effectLst/>
                <a:latin typeface="Verdana" panose="020B0604030504040204" pitchFamily="34" charset="0"/>
                <a:ea typeface="Times New Roman" panose="02020603050405020304" pitchFamily="18" charset="0"/>
                <a:cs typeface="Times New Roman" panose="02020603050405020304" pitchFamily="18" charset="0"/>
              </a:rPr>
              <a:t>точность, </a:t>
            </a:r>
          </a:p>
          <a:p>
            <a:r>
              <a:rPr lang="ru-RU" sz="1500" i="1">
                <a:effectLst/>
                <a:latin typeface="Verdana" panose="020B0604030504040204" pitchFamily="34" charset="0"/>
                <a:ea typeface="Times New Roman" panose="02020603050405020304" pitchFamily="18" charset="0"/>
                <a:cs typeface="Times New Roman" panose="02020603050405020304" pitchFamily="18" charset="0"/>
              </a:rPr>
              <a:t>масштабируемость</a:t>
            </a:r>
            <a:r>
              <a:rPr lang="ru-RU" sz="1500">
                <a:effectLst/>
                <a:latin typeface="Verdana" panose="020B0604030504040204" pitchFamily="34" charset="0"/>
                <a:ea typeface="Times New Roman" panose="02020603050405020304" pitchFamily="18" charset="0"/>
                <a:cs typeface="Times New Roman" panose="02020603050405020304" pitchFamily="18" charset="0"/>
              </a:rPr>
              <a:t>, </a:t>
            </a:r>
          </a:p>
          <a:p>
            <a:r>
              <a:rPr lang="ru-RU" sz="1500">
                <a:effectLst/>
                <a:latin typeface="Verdana" panose="020B0604030504040204" pitchFamily="34" charset="0"/>
                <a:ea typeface="Times New Roman" panose="02020603050405020304" pitchFamily="18" charset="0"/>
                <a:cs typeface="Times New Roman" panose="02020603050405020304" pitchFamily="18" charset="0"/>
              </a:rPr>
              <a:t>интерпретируемость, </a:t>
            </a:r>
          </a:p>
          <a:p>
            <a:r>
              <a:rPr lang="ru-RU" sz="1500">
                <a:effectLst/>
                <a:latin typeface="Verdana" panose="020B0604030504040204" pitchFamily="34" charset="0"/>
                <a:ea typeface="Times New Roman" panose="02020603050405020304" pitchFamily="18" charset="0"/>
                <a:cs typeface="Times New Roman" panose="02020603050405020304" pitchFamily="18" charset="0"/>
              </a:rPr>
              <a:t>проверяемость, </a:t>
            </a:r>
          </a:p>
          <a:p>
            <a:r>
              <a:rPr lang="ru-RU" sz="1500">
                <a:effectLst/>
                <a:latin typeface="Verdana" panose="020B0604030504040204" pitchFamily="34" charset="0"/>
                <a:ea typeface="Times New Roman" panose="02020603050405020304" pitchFamily="18" charset="0"/>
                <a:cs typeface="Times New Roman" panose="02020603050405020304" pitchFamily="18" charset="0"/>
              </a:rPr>
              <a:t>трудоемкость, </a:t>
            </a:r>
          </a:p>
          <a:p>
            <a:r>
              <a:rPr lang="ru-RU" sz="1500">
                <a:effectLst/>
                <a:latin typeface="Verdana" panose="020B0604030504040204" pitchFamily="34" charset="0"/>
                <a:ea typeface="Times New Roman" panose="02020603050405020304" pitchFamily="18" charset="0"/>
                <a:cs typeface="Times New Roman" panose="02020603050405020304" pitchFamily="18" charset="0"/>
              </a:rPr>
              <a:t>гибкость, </a:t>
            </a:r>
          </a:p>
          <a:p>
            <a:r>
              <a:rPr lang="ru-RU" sz="1500">
                <a:effectLst/>
                <a:latin typeface="Verdana" panose="020B0604030504040204" pitchFamily="34" charset="0"/>
                <a:ea typeface="Times New Roman" panose="02020603050405020304" pitchFamily="18" charset="0"/>
                <a:cs typeface="Times New Roman" panose="02020603050405020304" pitchFamily="18" charset="0"/>
              </a:rPr>
              <a:t>быстрота и </a:t>
            </a:r>
          </a:p>
          <a:p>
            <a:r>
              <a:rPr lang="ru-RU" sz="1500">
                <a:effectLst/>
                <a:latin typeface="Verdana" panose="020B0604030504040204" pitchFamily="34" charset="0"/>
                <a:ea typeface="Times New Roman" panose="02020603050405020304" pitchFamily="18" charset="0"/>
                <a:cs typeface="Times New Roman" panose="02020603050405020304" pitchFamily="18" charset="0"/>
              </a:rPr>
              <a:t>популярность. </a:t>
            </a:r>
          </a:p>
          <a:p>
            <a:pPr marL="0" marR="0" indent="0">
              <a:buNone/>
            </a:pPr>
            <a:endParaRPr lang="ru-RU" sz="1500" b="1" i="1">
              <a:effectLst/>
              <a:latin typeface="Verdana" panose="020B0604030504040204" pitchFamily="34" charset="0"/>
              <a:ea typeface="Times New Roman" panose="02020603050405020304" pitchFamily="18" charset="0"/>
              <a:cs typeface="Times New Roman" panose="02020603050405020304" pitchFamily="18" charset="0"/>
            </a:endParaRPr>
          </a:p>
          <a:p>
            <a:pPr marL="0" marR="0" indent="0">
              <a:buNone/>
            </a:pPr>
            <a:r>
              <a:rPr lang="ru-RU" sz="1500" b="1" i="1">
                <a:effectLst/>
                <a:latin typeface="Verdana" panose="020B0604030504040204" pitchFamily="34" charset="0"/>
                <a:ea typeface="Times New Roman" panose="02020603050405020304" pitchFamily="18" charset="0"/>
                <a:cs typeface="Times New Roman" panose="02020603050405020304" pitchFamily="18" charset="0"/>
              </a:rPr>
              <a:t>Масштабируемость</a:t>
            </a:r>
            <a:r>
              <a:rPr lang="ru-RU" sz="1500">
                <a:effectLst/>
                <a:latin typeface="Verdana" panose="020B0604030504040204" pitchFamily="34" charset="0"/>
                <a:ea typeface="Times New Roman" panose="02020603050405020304" pitchFamily="18" charset="0"/>
                <a:cs typeface="Times New Roman" panose="02020603050405020304" pitchFamily="18" charset="0"/>
              </a:rPr>
              <a:t> - свойство вычислительной системы, которое обеспечивает предсказуемый рост системных характеристик, например, быстроты реакции, общей производительности и пр., при добавлении к ней вычислительных ресурсов</a:t>
            </a:r>
            <a:endParaRPr lang="LID4096" sz="1500"/>
          </a:p>
        </p:txBody>
      </p:sp>
    </p:spTree>
    <p:extLst>
      <p:ext uri="{BB962C8B-B14F-4D97-AF65-F5344CB8AC3E}">
        <p14:creationId xmlns:p14="http://schemas.microsoft.com/office/powerpoint/2010/main" val="19652290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45C1E1-A866-D58E-3936-957F729CC3CA}"/>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7962B61B-5BDE-401D-2CB4-58666407D3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49" name="Rectangle 48">
              <a:extLst>
                <a:ext uri="{FF2B5EF4-FFF2-40B4-BE49-F238E27FC236}">
                  <a16:creationId xmlns:a16="http://schemas.microsoft.com/office/drawing/2014/main" id="{65D4FCC9-76D1-D7E2-3EBA-863AB15062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4231579A-4264-DA67-8139-0EEB9D73AA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itle 6">
            <a:extLst>
              <a:ext uri="{FF2B5EF4-FFF2-40B4-BE49-F238E27FC236}">
                <a16:creationId xmlns:a16="http://schemas.microsoft.com/office/drawing/2014/main" id="{51F173C5-0100-D97A-1E77-A80EEB81ECDC}"/>
              </a:ext>
            </a:extLst>
          </p:cNvPr>
          <p:cNvSpPr>
            <a:spLocks noGrp="1"/>
          </p:cNvSpPr>
          <p:nvPr>
            <p:ph type="title"/>
          </p:nvPr>
        </p:nvSpPr>
        <p:spPr/>
        <p:txBody>
          <a:bodyPr/>
          <a:lstStyle/>
          <a:p>
            <a:endParaRPr lang="LID4096"/>
          </a:p>
        </p:txBody>
      </p:sp>
      <p:pic>
        <p:nvPicPr>
          <p:cNvPr id="8" name="Picture 1">
            <a:extLst>
              <a:ext uri="{FF2B5EF4-FFF2-40B4-BE49-F238E27FC236}">
                <a16:creationId xmlns:a16="http://schemas.microsoft.com/office/drawing/2014/main" id="{230B39B1-37B2-A1F2-8D28-CA9237427EA3}"/>
              </a:ext>
            </a:extLst>
          </p:cNvPr>
          <p:cNvPicPr>
            <a:picLocks noGrp="1" noChangeAspect="1" noChangeArrowheads="1"/>
          </p:cNvPicPr>
          <p:nvPr>
            <p:ph idx="1"/>
          </p:nvPr>
        </p:nvPicPr>
        <p:blipFill>
          <a:blip r:embed="rId3"/>
          <a:srcRect/>
          <a:stretch>
            <a:fillRect/>
          </a:stretch>
        </p:blipFill>
        <p:spPr bwMode="auto">
          <a:xfrm>
            <a:off x="1524000" y="365125"/>
            <a:ext cx="9194800" cy="5781675"/>
          </a:xfrm>
          <a:prstGeom prst="rect">
            <a:avLst/>
          </a:prstGeom>
          <a:noFill/>
          <a:ln w="9525">
            <a:noFill/>
            <a:miter lim="800000"/>
            <a:headEnd/>
            <a:tailEnd/>
          </a:ln>
          <a:effectLst/>
        </p:spPr>
      </p:pic>
    </p:spTree>
    <p:extLst>
      <p:ext uri="{BB962C8B-B14F-4D97-AF65-F5344CB8AC3E}">
        <p14:creationId xmlns:p14="http://schemas.microsoft.com/office/powerpoint/2010/main" val="37116429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5560E646-30AD-4BA0-97EA-A7A07DF549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0CB38EC-895A-4F8F-8F75-E263501ABB5A}">
  <ds:schemaRefs>
    <ds:schemaRef ds:uri="http://schemas.microsoft.com/sharepoint/v3/contenttype/forms"/>
  </ds:schemaRefs>
</ds:datastoreItem>
</file>

<file path=customXml/itemProps3.xml><?xml version="1.0" encoding="utf-8"?>
<ds:datastoreItem xmlns:ds="http://schemas.openxmlformats.org/officeDocument/2006/customXml" ds:itemID="{F7E70FC5-1855-47AB-8CE1-CB3C873A8988}">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0</TotalTime>
  <Words>4267</Words>
  <Application>Microsoft Office PowerPoint</Application>
  <PresentationFormat>Widescreen</PresentationFormat>
  <Paragraphs>266</Paragraphs>
  <Slides>24</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Calibri Light</vt:lpstr>
      <vt:lpstr>Symbol</vt:lpstr>
      <vt:lpstr>Times New Roman</vt:lpstr>
      <vt:lpstr>Verdana</vt:lpstr>
      <vt:lpstr>Office Theme</vt:lpstr>
      <vt:lpstr>Интеллектуальный анализ данных  Data Mining</vt:lpstr>
      <vt:lpstr>Методы и стадии Data Mining</vt:lpstr>
      <vt:lpstr>Методы и алгоритмы Data Mining</vt:lpstr>
      <vt:lpstr>Методы и алгоритмы Data Mining</vt:lpstr>
      <vt:lpstr>Стадии Data Mining</vt:lpstr>
      <vt:lpstr>Свободный поиск (Discovery)</vt:lpstr>
      <vt:lpstr>Действия свободного поиска</vt:lpstr>
      <vt:lpstr>Пример свободного поиска</vt:lpstr>
      <vt:lpstr>Прогностическое моделирование (Predictive Modeling)</vt:lpstr>
      <vt:lpstr>Пример свободного поиска</vt:lpstr>
      <vt:lpstr>Анализ исключений (Forensic Analysis)</vt:lpstr>
      <vt:lpstr>Классификация методов  Data Mining</vt:lpstr>
      <vt:lpstr>Технологические методы Data Mining</vt:lpstr>
      <vt:lpstr>Технологические методы Data Mining</vt:lpstr>
      <vt:lpstr>Технологические методы Data Mining</vt:lpstr>
      <vt:lpstr>Технологические методы Data Mining</vt:lpstr>
      <vt:lpstr>Технологические методы Data Mining</vt:lpstr>
      <vt:lpstr>Классификация технологических методов Data Mining</vt:lpstr>
      <vt:lpstr>Статистические методы Data Mining</vt:lpstr>
      <vt:lpstr>Статистические методы Data Mining</vt:lpstr>
      <vt:lpstr>Кибернетические методы Data Mining</vt:lpstr>
      <vt:lpstr>Классификация по задачам Data Mining</vt:lpstr>
      <vt:lpstr>Свойства методов Data Mining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Lorem Ipsum</dc:title>
  <dc:creator>Petrushina Tatiana</dc:creator>
  <cp:lastModifiedBy>Petrushina Tatiana</cp:lastModifiedBy>
  <cp:revision>42</cp:revision>
  <dcterms:created xsi:type="dcterms:W3CDTF">2024-02-25T14:48:52Z</dcterms:created>
  <dcterms:modified xsi:type="dcterms:W3CDTF">2025-04-10T13:53:16Z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