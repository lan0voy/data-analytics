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67" r:id="rId4"/>
  </p:sldMasterIdLst>
  <p:notesMasterIdLst>
    <p:notesMasterId r:id="rId30"/>
  </p:notesMasterIdLst>
  <p:sldIdLst>
    <p:sldId id="280" r:id="rId5"/>
    <p:sldId id="281" r:id="rId6"/>
    <p:sldId id="284" r:id="rId7"/>
    <p:sldId id="286" r:id="rId8"/>
    <p:sldId id="287" r:id="rId9"/>
    <p:sldId id="285" r:id="rId10"/>
    <p:sldId id="288" r:id="rId11"/>
    <p:sldId id="289" r:id="rId12"/>
    <p:sldId id="260" r:id="rId13"/>
    <p:sldId id="380" r:id="rId14"/>
    <p:sldId id="425" r:id="rId15"/>
    <p:sldId id="426" r:id="rId16"/>
    <p:sldId id="429" r:id="rId17"/>
    <p:sldId id="428" r:id="rId18"/>
    <p:sldId id="430" r:id="rId19"/>
    <p:sldId id="261" r:id="rId20"/>
    <p:sldId id="431" r:id="rId21"/>
    <p:sldId id="433" r:id="rId22"/>
    <p:sldId id="432" r:id="rId23"/>
    <p:sldId id="435" r:id="rId24"/>
    <p:sldId id="436" r:id="rId25"/>
    <p:sldId id="437" r:id="rId26"/>
    <p:sldId id="438" r:id="rId27"/>
    <p:sldId id="439" r:id="rId28"/>
    <p:sldId id="440" r:id="rId29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57550" autoAdjust="0"/>
  </p:normalViewPr>
  <p:slideViewPr>
    <p:cSldViewPr snapToGrid="0">
      <p:cViewPr varScale="1">
        <p:scale>
          <a:sx n="36" d="100"/>
          <a:sy n="36" d="100"/>
        </p:scale>
        <p:origin x="1804" y="44"/>
      </p:cViewPr>
      <p:guideLst/>
    </p:cSldViewPr>
  </p:slideViewPr>
  <p:notesTextViewPr>
    <p:cViewPr>
      <p:scale>
        <a:sx n="125" d="100"/>
        <a:sy n="125" d="100"/>
      </p:scale>
      <p:origin x="0" y="-824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5A59E2-B5A9-478D-86D1-BE11948EA825}" type="datetimeFigureOut">
              <a:rPr lang="LID4096" smtClean="0"/>
              <a:t>03/18/2025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615917-8825-4C11-9D2C-C82340C4B4E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47684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ntuit.ru/department/database/datamining/2/www.kdnuggets.com" TargetMode="External"/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sz="1800" b="0" i="0" u="none" strike="noStrike" baseline="0" dirty="0">
                <a:latin typeface="TimesNewRomanPSMT"/>
              </a:rPr>
              <a:t>В прошлом процесс добычи золота в горной промышленности состоял из выбора участка</a:t>
            </a:r>
          </a:p>
          <a:p>
            <a:pPr algn="l"/>
            <a:r>
              <a:rPr lang="ru-RU" sz="1800" b="0" i="0" u="none" strike="noStrike" baseline="0" dirty="0">
                <a:latin typeface="TimesNewRomanPSMT"/>
              </a:rPr>
              <a:t>земли и дальнейшего ее просеивания большое количество раз. Иногда искатель находил</a:t>
            </a:r>
          </a:p>
          <a:p>
            <a:pPr algn="l"/>
            <a:r>
              <a:rPr lang="ru-RU" sz="1800" b="0" i="0" u="none" strike="noStrike" baseline="0" dirty="0">
                <a:latin typeface="TimesNewRomanPSMT"/>
              </a:rPr>
              <a:t>несколько ценных самородков или мог натолкнуться на золотоносную жилу, но в</a:t>
            </a:r>
          </a:p>
          <a:p>
            <a:pPr algn="l"/>
            <a:r>
              <a:rPr lang="ru-RU" sz="1800" b="0" i="0" u="none" strike="noStrike" baseline="0" dirty="0">
                <a:latin typeface="TimesNewRomanPSMT"/>
              </a:rPr>
              <a:t>большинстве случаев он вообще ничего не находил и шел дальше к другому</a:t>
            </a:r>
          </a:p>
          <a:p>
            <a:pPr algn="l"/>
            <a:r>
              <a:rPr lang="ru-RU" sz="1800" b="0" i="0" u="none" strike="noStrike" baseline="0" dirty="0">
                <a:latin typeface="TimesNewRomanPSMT"/>
              </a:rPr>
              <a:t>многообещающему месту или же вовсе бросал добывать золото, считая это занятие</a:t>
            </a:r>
          </a:p>
          <a:p>
            <a:pPr algn="l"/>
            <a:r>
              <a:rPr lang="ru-RU" sz="1800" b="0" i="0" u="none" strike="noStrike" baseline="0" dirty="0">
                <a:latin typeface="TimesNewRomanPSMT"/>
              </a:rPr>
              <a:t>напрасной тратой времени.</a:t>
            </a:r>
          </a:p>
          <a:p>
            <a:pPr algn="l"/>
            <a:r>
              <a:rPr lang="ru-RU" sz="1800" b="0" i="0" u="none" strike="noStrike" baseline="0" dirty="0">
                <a:latin typeface="TimesNewRomanPSMT"/>
              </a:rPr>
              <a:t>Сегодня появились новые научные методы и специализированные инструменты,</a:t>
            </a:r>
          </a:p>
          <a:p>
            <a:pPr algn="l"/>
            <a:r>
              <a:rPr lang="ru-RU" sz="1800" b="0" i="0" u="none" strike="noStrike" baseline="0" dirty="0">
                <a:latin typeface="TimesNewRomanPSMT"/>
              </a:rPr>
              <a:t>сделавшие горную промышленность намного более точной и производительной. Data</a:t>
            </a:r>
          </a:p>
          <a:p>
            <a:pPr algn="l"/>
            <a:r>
              <a:rPr lang="ru-RU" sz="1800" b="0" i="0" u="none" strike="noStrike" baseline="0" dirty="0">
                <a:latin typeface="TimesNewRomanPSMT"/>
              </a:rPr>
              <a:t>Mining для данных развилась почти таким же способом. Старые методы, применявшиеся</a:t>
            </a:r>
          </a:p>
          <a:p>
            <a:pPr algn="l"/>
            <a:r>
              <a:rPr lang="ru-RU" sz="1800" b="0" i="0" u="none" strike="noStrike" baseline="0" dirty="0">
                <a:latin typeface="TimesNewRomanPSMT"/>
              </a:rPr>
              <a:t>математиками и статистиками, отнимали много времени, чтобы в результате получить</a:t>
            </a:r>
          </a:p>
          <a:p>
            <a:pPr algn="l"/>
            <a:r>
              <a:rPr lang="ru-RU" sz="1800" b="0" i="0" u="none" strike="noStrike" baseline="0" dirty="0">
                <a:latin typeface="TimesNewRomanPSMT"/>
              </a:rPr>
              <a:t>конструктивную и полезную информацию.</a:t>
            </a:r>
          </a:p>
          <a:p>
            <a:pPr algn="l"/>
            <a:r>
              <a:rPr lang="ru-RU" sz="1800" b="0" i="0" u="none" strike="noStrike" baseline="0" dirty="0">
                <a:latin typeface="TimesNewRomanPSMT"/>
              </a:rPr>
              <a:t>Сегодня на рынке представлено множество инструментов, включающих различные</a:t>
            </a:r>
          </a:p>
          <a:p>
            <a:pPr algn="l"/>
            <a:r>
              <a:rPr lang="ru-RU" sz="1800" b="0" i="0" u="none" strike="noStrike" baseline="0" dirty="0">
                <a:latin typeface="TimesNewRomanPSMT"/>
              </a:rPr>
              <a:t>методы, которые делают Data Mining прибыльным делом, все более доступным для</a:t>
            </a:r>
          </a:p>
          <a:p>
            <a:pPr algn="l"/>
            <a:r>
              <a:rPr lang="ru-RU" sz="1800" b="0" i="0" u="none" strike="noStrike" baseline="0" dirty="0">
                <a:latin typeface="TimesNewRomanPSMT"/>
              </a:rPr>
              <a:t>большинства компаний.</a:t>
            </a:r>
          </a:p>
          <a:p>
            <a:pPr algn="l"/>
            <a:r>
              <a:rPr lang="ru-RU" sz="1800" b="0" i="0" u="none" strike="noStrike" baseline="0" dirty="0">
                <a:latin typeface="TimesNewRomanPSMT"/>
              </a:rPr>
              <a:t>Термин Data Mining получил свое название из двух понятий: поиска ценной информации в</a:t>
            </a:r>
          </a:p>
          <a:p>
            <a:pPr algn="l"/>
            <a:r>
              <a:rPr lang="ru-RU" sz="1800" b="0" i="0" u="none" strike="noStrike" baseline="0" dirty="0">
                <a:latin typeface="TimesNewRomanPSMT"/>
              </a:rPr>
              <a:t>большой базе данных (</a:t>
            </a:r>
            <a:r>
              <a:rPr lang="ru-RU" sz="1800" b="0" i="0" u="none" strike="noStrike" baseline="0" dirty="0" err="1">
                <a:latin typeface="TimesNewRomanPSMT"/>
              </a:rPr>
              <a:t>data</a:t>
            </a:r>
            <a:r>
              <a:rPr lang="ru-RU" sz="1800" b="0" i="0" u="none" strike="noStrike" baseline="0" dirty="0">
                <a:latin typeface="TimesNewRomanPSMT"/>
              </a:rPr>
              <a:t>) и добычи горной руды (</a:t>
            </a:r>
            <a:r>
              <a:rPr lang="ru-RU" sz="1800" b="0" i="0" u="none" strike="noStrike" baseline="0" dirty="0" err="1">
                <a:latin typeface="TimesNewRomanPSMT"/>
              </a:rPr>
              <a:t>mining</a:t>
            </a:r>
            <a:r>
              <a:rPr lang="ru-RU" sz="1800" b="0" i="0" u="none" strike="noStrike" baseline="0" dirty="0">
                <a:latin typeface="TimesNewRomanPSMT"/>
              </a:rPr>
              <a:t>). Оба процесса требуют или</a:t>
            </a:r>
          </a:p>
          <a:p>
            <a:pPr algn="l"/>
            <a:r>
              <a:rPr lang="ru-RU" sz="1800" b="0" i="0" u="none" strike="noStrike" baseline="0" dirty="0">
                <a:latin typeface="TimesNewRomanPSMT"/>
              </a:rPr>
              <a:t>просеивания огромного количества сырого материала, или разумного исследования и</a:t>
            </a:r>
          </a:p>
          <a:p>
            <a:pPr algn="l"/>
            <a:r>
              <a:rPr lang="ru-RU" sz="1800" b="0" i="0" u="none" strike="noStrike" baseline="0" dirty="0">
                <a:latin typeface="TimesNewRomanPSMT"/>
              </a:rPr>
              <a:t>поиска искомых ценностей.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615917-8825-4C11-9D2C-C82340C4B4E7}" type="slidenum">
              <a:rPr lang="LID4096" smtClean="0"/>
              <a:t>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808355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В конце 80-х годов появилась концепция KDD. В отечественной среде используется термин интеллектуальный анализ данных.</a:t>
            </a:r>
          </a:p>
          <a:p>
            <a:pPr algn="l"/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l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Часто интеллектуальный анализ данных рассматривают как трансформацию термина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 Mining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(раскопка, разработка данных) и считают два этих понятия синонимами. В широком смысле это вполне допустимо. Однако считать их абсолютно идентичными было бы неверно, поскольку методы Data Mining сосредотачиваются главным образом на процессах анализа данных и интеллектуальном моделировании. В то же время считается, что интеллектуальный анализ данных рассматривает весь спектр проблем, связанных с процессом извлечения знаний из баз данных.</a:t>
            </a:r>
            <a:endParaRPr lang="ru-RU" sz="1800" b="0" i="0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algn="l"/>
            <a:endParaRPr lang="ru-RU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Интеллектуальный анализ –это процесс поддержки принятия решений, основанный на поиске в данных скрытых закономерностей, который можно охарактеризовать как новые знания.</a:t>
            </a:r>
          </a:p>
          <a:p>
            <a:pPr algn="l"/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В общем случае процесс ИАД состоит из 3 стадий: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Выявление закономерностей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Анализ исключений и толкований в найденных закономерностях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Использование найденных закономерностей для предсказания будущих значений параметра.</a:t>
            </a:r>
          </a:p>
          <a:p>
            <a:pPr algn="l"/>
            <a:endParaRPr lang="ru-RU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KDD– это процесс получения из данных знаний, в виде зависимости правил моделей позволяющих моделировать и прогнозировать различные процессы.</a:t>
            </a:r>
          </a:p>
          <a:p>
            <a:pPr algn="l"/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Причины распространения KDD: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Развитие технологий автоматизированной обработки большого объема информации.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Острая нехватка специалистов в области анализа данных.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Потребность в тиражировании знаний менее квалифицированным пользователям.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Появление на рынке программных продуктов поддерживающих KDD.</a:t>
            </a:r>
          </a:p>
          <a:p>
            <a:pPr algn="l"/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Этапы KDD:</a:t>
            </a:r>
          </a:p>
          <a:p>
            <a:pPr algn="l"/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Технологии KDD описывают не конкретный алгоритм обработки данных или математический аппарат, а последовательность действий которую необходимо выполнить с данными для построения модели и получения знаний.</a:t>
            </a:r>
          </a:p>
          <a:p>
            <a:br>
              <a:rPr lang="ru-RU" dirty="0"/>
            </a:b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615917-8825-4C11-9D2C-C82340C4B4E7}" type="slidenum">
              <a:rPr lang="LID4096" smtClean="0"/>
              <a:t>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26372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Этапы 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KDD:</a:t>
            </a:r>
            <a:endParaRPr lang="ru-RU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Выборка данных</a:t>
            </a:r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– производится подготовка данных из различных источников выбираются значимые параметры данных. Для этого используются различные инструменты доступа к данным различных типов, различные конверторы. Это реализуется лучше всего в специальных хранилищах данных. В результате мы имеет исходные данные.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Очистка данных</a:t>
            </a:r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- исходные данные не всегда бывают надлежащего качества, имеются пропуски, шумы, аномальные значения и т. д. Кроме того данные могут быть противоречивыми, недостаточными или избыточными, в этом случае эти недостатки в наборах данных устраняются либо усредняются. Например замена аномалий на среднее значения. На выходе этапа имеем очищенные данные.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Трансформация</a:t>
            </a:r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- некоторые наборы данных необходимо привести в определенный вид. Пример - преобразование непрерывных знаний в дискретные и наоборот, сортировка, группировка. На выходе имеем трансформированные знания.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Data </a:t>
            </a:r>
            <a:r>
              <a:rPr lang="ru-RU" b="1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mining</a:t>
            </a:r>
            <a:r>
              <a:rPr lang="ru-RU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- </a:t>
            </a:r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на данном этапе строятся модели и зависимости с помощью различных алгоритмов. Они позволяют моделировать процессы и получать прогнозные значения. На выходе различные модели и шаблоны.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Интерпретация – </a:t>
            </a:r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результат, полученный по построенным моделям, и применение этих моделей в качестве бизнес приложений. Пример: модель прогнозирования объемов продаж. На выходе имеем знания, например прогнозные значения.</a:t>
            </a:r>
          </a:p>
          <a:p>
            <a:pPr algn="l"/>
            <a:endParaRPr lang="ru-RU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Основное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приемущество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KDD - полученные знания (модели и зависимости) можно тиражировать. То есть полученные аналитиком модели могут использовать другие пользователи, причем не вникая в то, как эта модель была создана.</a:t>
            </a:r>
            <a:endParaRPr lang="en-US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/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l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Безусловно, "сердцем" всего этого процесса являются методы DM, позволяющие обнаруживать знания.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l"/>
            <a:endParaRPr lang="en-US" sz="1800" dirty="0">
              <a:effectLst/>
              <a:latin typeface="Times New Roman" panose="02020603050405020304" pitchFamily="18" charset="0"/>
            </a:endParaRPr>
          </a:p>
          <a:p>
            <a:pPr marL="0" marR="0"/>
            <a:r>
              <a:rPr lang="ru-RU" sz="12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Термин </a:t>
            </a:r>
            <a:r>
              <a:rPr lang="ru-RU" sz="12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Mining</a:t>
            </a:r>
            <a:r>
              <a:rPr lang="ru-RU" sz="12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часто переводится как добыча </a:t>
            </a:r>
            <a:r>
              <a:rPr lang="ru-RU" sz="12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данных</a:t>
            </a:r>
            <a:r>
              <a:rPr lang="ru-RU" sz="12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извлечение информации, раскопка </a:t>
            </a:r>
            <a:r>
              <a:rPr lang="ru-RU" sz="12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данных</a:t>
            </a:r>
            <a:r>
              <a:rPr lang="ru-RU" sz="12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интеллектуальный анализ </a:t>
            </a:r>
            <a:r>
              <a:rPr lang="ru-RU" sz="12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данных</a:t>
            </a:r>
            <a:r>
              <a:rPr lang="ru-RU" sz="12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средства поиска </a:t>
            </a:r>
            <a:r>
              <a:rPr lang="ru-RU" sz="12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закономерностей</a:t>
            </a:r>
            <a:r>
              <a:rPr lang="ru-RU" sz="12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извлечение знаний, анализ </a:t>
            </a:r>
            <a:r>
              <a:rPr lang="ru-RU" sz="12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шаблонов</a:t>
            </a:r>
            <a:r>
              <a:rPr lang="ru-RU" sz="12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"извлечение зерен знаний из гор </a:t>
            </a:r>
            <a:r>
              <a:rPr lang="ru-RU" sz="12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данных</a:t>
            </a:r>
            <a:r>
              <a:rPr lang="ru-RU" sz="12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 раскопка знаний в базах </a:t>
            </a:r>
            <a:r>
              <a:rPr lang="ru-RU" sz="12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данных</a:t>
            </a:r>
            <a:r>
              <a:rPr lang="ru-RU" sz="12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информационная проходка </a:t>
            </a:r>
            <a:r>
              <a:rPr lang="ru-RU" sz="12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данных</a:t>
            </a:r>
            <a:r>
              <a:rPr lang="ru-RU" sz="12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"промывание" </a:t>
            </a:r>
            <a:r>
              <a:rPr lang="ru-RU" sz="12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данных</a:t>
            </a:r>
            <a:r>
              <a:rPr lang="ru-RU" sz="12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1200" dirty="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/>
            <a:r>
              <a:rPr lang="ru-RU" sz="12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Понятие "обнаружение знаний в базах </a:t>
            </a:r>
            <a:r>
              <a:rPr lang="ru-RU" sz="12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данных</a:t>
            </a:r>
            <a:r>
              <a:rPr lang="ru-RU" sz="12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" (</a:t>
            </a:r>
            <a:r>
              <a:rPr lang="ru-RU" sz="120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Knowledge</a:t>
            </a:r>
            <a:r>
              <a:rPr lang="ru-RU" sz="12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Discovery </a:t>
            </a:r>
            <a:r>
              <a:rPr lang="ru-RU" sz="120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ru-RU" sz="12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Databases</a:t>
            </a:r>
            <a:r>
              <a:rPr lang="ru-RU" sz="12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KDD) можно считать синонимом </a:t>
            </a:r>
            <a:r>
              <a:rPr lang="ru-RU" sz="12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Mining</a:t>
            </a:r>
            <a:r>
              <a:rPr lang="ru-RU" sz="12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/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615917-8825-4C11-9D2C-C82340C4B4E7}" type="slidenum">
              <a:rPr lang="LID4096" smtClean="0"/>
              <a:t>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130703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/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Понятие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Mining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появившееся в 1978 году, приобрело высокую популярность в современной трактовке примерно с первой половины 1990-х годов. До этого времени обработка и анализ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данных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осуществлялся в рамках прикладной статистики, при этом в основном решались задачи обработки небольших баз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данных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/>
            <a:r>
              <a:rPr lang="ru-RU" sz="1800" b="1" i="0" u="none" strike="noStrike" baseline="0" dirty="0">
                <a:latin typeface="TimesNewRomanPS-BoldMT"/>
              </a:rPr>
              <a:t>Статистика </a:t>
            </a:r>
            <a:r>
              <a:rPr lang="ru-RU" sz="1800" b="0" i="0" u="none" strike="noStrike" baseline="0" dirty="0">
                <a:latin typeface="TimesNewRomanPSMT"/>
              </a:rPr>
              <a:t>- это наука о методах сбора данных, их обработки и анализа для выявления</a:t>
            </a:r>
          </a:p>
          <a:p>
            <a:pPr algn="l"/>
            <a:r>
              <a:rPr lang="ru-RU" sz="1800" b="0" i="0" u="none" strike="noStrike" baseline="0" dirty="0">
                <a:latin typeface="TimesNewRomanPSMT"/>
              </a:rPr>
              <a:t>закономерностей, присущих изучаемому явлению.</a:t>
            </a:r>
          </a:p>
          <a:p>
            <a:pPr algn="l"/>
            <a:r>
              <a:rPr lang="ru-RU" sz="1800" b="1" i="0" u="none" strike="noStrike" baseline="0" dirty="0">
                <a:latin typeface="TimesNewRomanPS-BoldMT"/>
              </a:rPr>
              <a:t>Статистика </a:t>
            </a:r>
            <a:r>
              <a:rPr lang="ru-RU" sz="1800" b="0" i="0" u="none" strike="noStrike" baseline="0" dirty="0">
                <a:latin typeface="TimesNewRomanPSMT"/>
              </a:rPr>
              <a:t>является совокупностью методов планирования эксперимента, сбора данных,</a:t>
            </a:r>
          </a:p>
          <a:p>
            <a:pPr algn="l"/>
            <a:r>
              <a:rPr lang="ru-RU" sz="1800" b="0" i="0" u="none" strike="noStrike" baseline="0" dirty="0">
                <a:latin typeface="TimesNewRomanPSMT"/>
              </a:rPr>
              <a:t>их представления и обобщения, а также анализа и получения выводов на основании этих</a:t>
            </a:r>
          </a:p>
          <a:p>
            <a:pPr algn="l"/>
            <a:r>
              <a:rPr lang="ru-RU" sz="1800" b="0" i="0" u="none" strike="noStrike" baseline="0" dirty="0">
                <a:latin typeface="TimesNewRomanPSMT"/>
              </a:rPr>
              <a:t>данных.</a:t>
            </a:r>
          </a:p>
          <a:p>
            <a:pPr algn="l"/>
            <a:r>
              <a:rPr lang="ru-RU" sz="1800" b="0" i="0" u="none" strike="noStrike" baseline="0" dirty="0">
                <a:latin typeface="TimesNewRomanPSMT"/>
              </a:rPr>
              <a:t>Статистика оперирует данными, полученными в результате наблюдений либо</a:t>
            </a:r>
          </a:p>
          <a:p>
            <a:pPr algn="l"/>
            <a:r>
              <a:rPr lang="ru-RU" sz="1800" b="0" i="0" u="none" strike="noStrike" baseline="0" dirty="0">
                <a:latin typeface="TimesNewRomanPSMT"/>
              </a:rPr>
              <a:t>экспериментов. Одна из последующих глав будет посвящена понятию данных.</a:t>
            </a:r>
            <a:endParaRPr lang="en-US" sz="1800" b="0" i="0" u="none" strike="noStrike" baseline="0" dirty="0">
              <a:latin typeface="TimesNewRomanPSM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="1" i="1" dirty="0">
                <a:latin typeface="Times New Roman" panose="02020603050405020304" pitchFamily="18" charset="0"/>
              </a:rPr>
              <a:t>Машинное</a:t>
            </a:r>
            <a:r>
              <a:rPr lang="ru-RU" sz="12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i="1" dirty="0">
                <a:latin typeface="Times New Roman" panose="02020603050405020304" pitchFamily="18" charset="0"/>
              </a:rPr>
              <a:t>обучение</a:t>
            </a:r>
            <a:r>
              <a:rPr lang="ru-RU" sz="12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</a:rPr>
              <a:t>(Machine Learning) </a:t>
            </a:r>
            <a:r>
              <a:rPr lang="ru-RU" dirty="0">
                <a:latin typeface="Times New Roman" panose="02020603050405020304" pitchFamily="18" charset="0"/>
              </a:rPr>
              <a:t>можно охарактеризовать как процесс получения программой новых знаний. Одним из наиболее популярных примеров алгоритма машинного обучения являются </a:t>
            </a:r>
            <a:r>
              <a:rPr lang="ru-RU" i="1" dirty="0">
                <a:latin typeface="Times New Roman" panose="02020603050405020304" pitchFamily="18" charset="0"/>
              </a:rPr>
              <a:t>нейронные сети</a:t>
            </a:r>
            <a:r>
              <a:rPr lang="ru-RU" dirty="0">
                <a:latin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k-UA" sz="12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</a:t>
            </a:r>
            <a:r>
              <a:rPr lang="ru-RU" sz="12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скусственный</a:t>
            </a:r>
            <a:r>
              <a:rPr lang="ru-RU" sz="12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интеллект </a:t>
            </a:r>
            <a:r>
              <a:rPr lang="ru-RU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(AI, </a:t>
            </a:r>
            <a:r>
              <a:rPr lang="ru-RU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Artificial</a:t>
            </a:r>
            <a:r>
              <a:rPr lang="ru-RU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Intelligence) толкуется как свойство автоматических систем брать на себя отдельные 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функции интеллекта </a:t>
            </a:r>
            <a:r>
              <a:rPr lang="ru-RU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человека. Искусственным интеллектом называют свойство интеллектуальных систем выполнять творческие функции, которые традиционно считаются прерогативой человека.</a:t>
            </a:r>
            <a:endParaRPr lang="ru-RU" dirty="0">
              <a:latin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latin typeface="Times New Roman" panose="02020603050405020304" pitchFamily="18" charset="0"/>
            </a:endParaRPr>
          </a:p>
          <a:p>
            <a:pPr algn="l"/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615917-8825-4C11-9D2C-C82340C4B4E7}" type="slidenum">
              <a:rPr lang="LID4096" smtClean="0"/>
              <a:t>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65640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Понятие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Mining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появившееся в 1978 году, приобрело высокую популярность в современной трактовке примерно с первой половины 1990-х годов. До этого времени обработка и анализ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данных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осуществлялся в рамках прикладной статистики, при этом в основном решались задачи обработки небольших баз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данных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80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Развитие технологии баз данных</a:t>
            </a:r>
            <a:endParaRPr lang="ru-RU" sz="1800" b="1" dirty="0">
              <a:effectLst/>
              <a:latin typeface="Arial" panose="020B0604020202020204" pitchFamily="34" charset="0"/>
            </a:endParaRPr>
          </a:p>
          <a:p>
            <a:pPr marL="0" marR="0"/>
            <a:r>
              <a:rPr lang="ru-RU" sz="18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1960-е гг.</a:t>
            </a:r>
            <a:endParaRPr lang="ru-RU" sz="1800" dirty="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/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 1968 году была введена в эксплуатацию первая промышленная СУБД система IMS фирмы IBM.</a:t>
            </a:r>
          </a:p>
          <a:p>
            <a:pPr marL="0" marR="0"/>
            <a:r>
              <a:rPr lang="ru-RU" sz="18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1970-е гг.</a:t>
            </a:r>
            <a:endParaRPr lang="ru-RU" sz="1800" dirty="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/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 1975 году появился первый стандарт ассоциации по языкам систем обработки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данных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Conference </a:t>
            </a:r>
            <a:r>
              <a:rPr lang="ru-RU" sz="180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Data System </a:t>
            </a:r>
            <a:r>
              <a:rPr lang="ru-RU" sz="180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Languages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(CODASYL), определивший ряд фундаментальных понятий в теории систем баз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данных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которые до сих пор являются основополагающими для сетевой модели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данных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В дальнейшее развитие теории баз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данных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большой вклад был сделан американским математиком Э.Ф. Коддом, который является создателем реляционной модели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данных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/>
            <a:r>
              <a:rPr lang="ru-RU" sz="18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1980-е гг.</a:t>
            </a:r>
            <a:endParaRPr lang="ru-RU" sz="1800" dirty="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/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 течение этого периода многие исследователи экспериментировали с новым подходом в направлениях структуризации баз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данных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и обеспечения к ним доступа. Целью этих поисков было получение реляционных прототипов для более простого моделирования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данных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В результате, в 1985 году был создан язык, названный SQL. На сегодняшний день практически все СУБД обеспечивают данный интерфейс.</a:t>
            </a:r>
          </a:p>
          <a:p>
            <a:pPr marL="0" marR="0"/>
            <a:r>
              <a:rPr lang="ru-RU" sz="18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1990-е гг.</a:t>
            </a:r>
            <a:endParaRPr lang="ru-RU" sz="1800" dirty="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/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Появились специфичные типы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данных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"графический образ", "документ", "звук", "карта". Типы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данных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для времени, интервалов времени, символьных строк с двухбайтовым представлением символов были добавлены в язык SQL. Появились технологии </a:t>
            </a:r>
            <a:r>
              <a:rPr lang="ru-RU" sz="180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DataMining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хранилища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данных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мультимедийные базы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данных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180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-базы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данных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/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Возникновение и развитие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Mining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обусловлено различными факторами, основные среди которых являются следующие: 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совершенствование аппаратного и программного обеспечения; 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совершенствование технологий хранения и записи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данных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; 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накопление большого количества ретроспективных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данных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; 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совершенствование алгоритмов обработки информации. 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/>
            <a:endParaRPr lang="ru-RU" sz="1800" dirty="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615917-8825-4C11-9D2C-C82340C4B4E7}" type="slidenum">
              <a:rPr lang="LID4096" smtClean="0"/>
              <a:t>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650084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Data Mining переводится как "добыча" или "раскопка данных". Нередко рядом с Data Mining встречаются слова "обнаружение знаний в базах данных" (</a:t>
            </a:r>
            <a:r>
              <a:rPr lang="ru-RU" sz="1200" dirty="0" err="1">
                <a:latin typeface="Arial" panose="020B0604020202020204" pitchFamily="34" charset="0"/>
                <a:cs typeface="Arial" panose="020B0604020202020204" pitchFamily="34" charset="0"/>
              </a:rPr>
              <a:t>knowledge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200" dirty="0" err="1">
                <a:latin typeface="Arial" panose="020B0604020202020204" pitchFamily="34" charset="0"/>
                <a:cs typeface="Arial" panose="020B0604020202020204" pitchFamily="34" charset="0"/>
              </a:rPr>
              <a:t>discovery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200" dirty="0" err="1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200" dirty="0" err="1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200" dirty="0" err="1">
                <a:latin typeface="Arial" panose="020B0604020202020204" pitchFamily="34" charset="0"/>
                <a:cs typeface="Arial" panose="020B0604020202020204" pitchFamily="34" charset="0"/>
              </a:rPr>
              <a:t>bases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) и "интеллектуальный анализ данных". Их можно считать синонимами Data Mining. Возникновение всех указанных терминов связано с новым витком в развитии средств и методов обработки данных.</a:t>
            </a:r>
          </a:p>
          <a:p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До начала 90-х годов, людям, не имевшем представления о распознавании образов и факторном анализе, казалось, не было особой нужды переосмысливать ситуацию в этой области. Все шло своим чередом в рамках направления, называемого прикладной статистикой. Теоретики проводили конференции и семинары, писали внушительные статьи и монографии, изобиловавшие аналитическими выкладками.</a:t>
            </a:r>
          </a:p>
          <a:p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Вместе с тем, практики всегда знали, что попытки применить теоретические разработки для решения реальных задач в большинстве случаев оказываются бесплодными. Но на озабоченность практиков до поры до времени можно было не обращать особого внимания — они решали главным образом свои частные проблемы обработки небольших локальных баз данных.</a:t>
            </a:r>
          </a:p>
          <a:p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В связи с совершенствованием технологий записи и хранения данных на людей обрушились колоссальные потоки информационной руды в самых различных областях. Деятельность любого предприятия (коммерческого, производственного, медицинского, научного и т.д.) теперь сопровождается регистрацией и записью всех подробностей его деятельности. Что делать с этой информацией? Стало ясно, что без продуктивной переработки потоки сырых данных образуют никому не нужную свалку.</a:t>
            </a:r>
          </a:p>
          <a:p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Специфика современных требований к такой переработке следующие: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uk-UA" sz="1200" dirty="0" err="1">
                <a:latin typeface="Arial" panose="020B0604020202020204" pitchFamily="34" charset="0"/>
                <a:cs typeface="Arial" panose="020B0604020202020204" pitchFamily="34" charset="0"/>
              </a:rPr>
              <a:t>Данные</a:t>
            </a:r>
            <a:r>
              <a:rPr lang="uk-UA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uk-UA" sz="1200" dirty="0" err="1">
                <a:latin typeface="Arial" panose="020B0604020202020204" pitchFamily="34" charset="0"/>
                <a:cs typeface="Arial" panose="020B0604020202020204" pitchFamily="34" charset="0"/>
              </a:rPr>
              <a:t>имеют</a:t>
            </a:r>
            <a:r>
              <a:rPr lang="uk-UA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uk-UA" sz="1200" dirty="0" err="1">
                <a:latin typeface="Arial" panose="020B0604020202020204" pitchFamily="34" charset="0"/>
                <a:cs typeface="Arial" panose="020B0604020202020204" pitchFamily="34" charset="0"/>
              </a:rPr>
              <a:t>неограниченный</a:t>
            </a:r>
            <a:r>
              <a:rPr lang="uk-UA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uk-UA" sz="1200" dirty="0" err="1">
                <a:latin typeface="Arial" panose="020B0604020202020204" pitchFamily="34" charset="0"/>
                <a:cs typeface="Arial" panose="020B0604020202020204" pitchFamily="34" charset="0"/>
              </a:rPr>
              <a:t>объем</a:t>
            </a:r>
            <a:r>
              <a:rPr lang="uk-UA"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uk-UA" sz="1200" dirty="0" err="1">
                <a:latin typeface="Arial" panose="020B0604020202020204" pitchFamily="34" charset="0"/>
                <a:cs typeface="Arial" panose="020B0604020202020204" pitchFamily="34" charset="0"/>
              </a:rPr>
              <a:t>Данные</a:t>
            </a:r>
            <a:r>
              <a:rPr lang="uk-UA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uk-UA" sz="1200" dirty="0" err="1">
                <a:latin typeface="Arial" panose="020B0604020202020204" pitchFamily="34" charset="0"/>
                <a:cs typeface="Arial" panose="020B0604020202020204" pitchFamily="34" charset="0"/>
              </a:rPr>
              <a:t>являются</a:t>
            </a:r>
            <a:r>
              <a:rPr lang="uk-UA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uk-UA" sz="1200" dirty="0" err="1">
                <a:latin typeface="Arial" panose="020B0604020202020204" pitchFamily="34" charset="0"/>
                <a:cs typeface="Arial" panose="020B0604020202020204" pitchFamily="34" charset="0"/>
              </a:rPr>
              <a:t>разнородными</a:t>
            </a:r>
            <a:r>
              <a:rPr lang="uk-UA" sz="12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uk-UA" sz="1200" dirty="0" err="1">
                <a:latin typeface="Arial" panose="020B0604020202020204" pitchFamily="34" charset="0"/>
                <a:cs typeface="Arial" panose="020B0604020202020204" pitchFamily="34" charset="0"/>
              </a:rPr>
              <a:t>количественными</a:t>
            </a:r>
            <a:r>
              <a:rPr lang="uk-UA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uk-UA" sz="1200" dirty="0" err="1">
                <a:latin typeface="Arial" panose="020B0604020202020204" pitchFamily="34" charset="0"/>
                <a:cs typeface="Arial" panose="020B0604020202020204" pitchFamily="34" charset="0"/>
              </a:rPr>
              <a:t>качественными</a:t>
            </a:r>
            <a:r>
              <a:rPr lang="uk-UA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uk-UA" sz="1200" dirty="0" err="1">
                <a:latin typeface="Arial" panose="020B0604020202020204" pitchFamily="34" charset="0"/>
                <a:cs typeface="Arial" panose="020B0604020202020204" pitchFamily="34" charset="0"/>
              </a:rPr>
              <a:t>текстовыми</a:t>
            </a:r>
            <a:r>
              <a:rPr lang="uk-UA" sz="120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  <a:endParaRPr lang="ru-RU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uk-UA" sz="1200" dirty="0" err="1">
                <a:latin typeface="Arial" panose="020B0604020202020204" pitchFamily="34" charset="0"/>
                <a:cs typeface="Arial" panose="020B0604020202020204" pitchFamily="34" charset="0"/>
              </a:rPr>
              <a:t>Результаты</a:t>
            </a:r>
            <a:r>
              <a:rPr lang="uk-UA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uk-UA" sz="1200" dirty="0" err="1">
                <a:latin typeface="Arial" panose="020B0604020202020204" pitchFamily="34" charset="0"/>
                <a:cs typeface="Arial" panose="020B0604020202020204" pitchFamily="34" charset="0"/>
              </a:rPr>
              <a:t>обработки</a:t>
            </a:r>
            <a:r>
              <a:rPr lang="uk-UA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uk-UA" sz="1200" dirty="0" err="1">
                <a:latin typeface="Arial" panose="020B0604020202020204" pitchFamily="34" charset="0"/>
                <a:cs typeface="Arial" panose="020B0604020202020204" pitchFamily="34" charset="0"/>
              </a:rPr>
              <a:t>должны</a:t>
            </a:r>
            <a:r>
              <a:rPr lang="uk-UA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uk-UA" sz="1200" dirty="0" err="1">
                <a:latin typeface="Arial" panose="020B0604020202020204" pitchFamily="34" charset="0"/>
                <a:cs typeface="Arial" panose="020B0604020202020204" pitchFamily="34" charset="0"/>
              </a:rPr>
              <a:t>быть</a:t>
            </a:r>
            <a:r>
              <a:rPr lang="uk-UA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uk-UA" sz="1200" dirty="0" err="1">
                <a:latin typeface="Arial" panose="020B0604020202020204" pitchFamily="34" charset="0"/>
                <a:cs typeface="Arial" panose="020B0604020202020204" pitchFamily="34" charset="0"/>
              </a:rPr>
              <a:t>конкретны</a:t>
            </a:r>
            <a:r>
              <a:rPr lang="uk-UA" sz="1200" dirty="0"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lang="uk-UA" sz="1200" dirty="0" err="1">
                <a:latin typeface="Arial" panose="020B0604020202020204" pitchFamily="34" charset="0"/>
                <a:cs typeface="Arial" panose="020B0604020202020204" pitchFamily="34" charset="0"/>
              </a:rPr>
              <a:t>понятны</a:t>
            </a:r>
            <a:r>
              <a:rPr lang="uk-UA"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uk-UA" sz="1200" dirty="0" err="1">
                <a:latin typeface="Arial" panose="020B0604020202020204" pitchFamily="34" charset="0"/>
                <a:cs typeface="Arial" panose="020B0604020202020204" pitchFamily="34" charset="0"/>
              </a:rPr>
              <a:t>Инструменты</a:t>
            </a:r>
            <a:r>
              <a:rPr lang="uk-UA" sz="1200" dirty="0">
                <a:latin typeface="Arial" panose="020B0604020202020204" pitchFamily="34" charset="0"/>
                <a:cs typeface="Arial" panose="020B0604020202020204" pitchFamily="34" charset="0"/>
              </a:rPr>
              <a:t> для </a:t>
            </a:r>
            <a:r>
              <a:rPr lang="uk-UA" sz="1200" dirty="0" err="1">
                <a:latin typeface="Arial" panose="020B0604020202020204" pitchFamily="34" charset="0"/>
                <a:cs typeface="Arial" panose="020B0604020202020204" pitchFamily="34" charset="0"/>
              </a:rPr>
              <a:t>обработки</a:t>
            </a:r>
            <a:r>
              <a:rPr lang="uk-UA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uk-UA" sz="1200" dirty="0" err="1">
                <a:latin typeface="Arial" panose="020B0604020202020204" pitchFamily="34" charset="0"/>
                <a:cs typeface="Arial" panose="020B0604020202020204" pitchFamily="34" charset="0"/>
              </a:rPr>
              <a:t>сырых</a:t>
            </a:r>
            <a:r>
              <a:rPr lang="uk-UA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uk-UA" sz="1200" dirty="0" err="1">
                <a:latin typeface="Arial" panose="020B0604020202020204" pitchFamily="34" charset="0"/>
                <a:cs typeface="Arial" panose="020B0604020202020204" pitchFamily="34" charset="0"/>
              </a:rPr>
              <a:t>данных</a:t>
            </a:r>
            <a:r>
              <a:rPr lang="uk-UA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uk-UA" sz="1200" dirty="0" err="1">
                <a:latin typeface="Arial" panose="020B0604020202020204" pitchFamily="34" charset="0"/>
                <a:cs typeface="Arial" panose="020B0604020202020204" pitchFamily="34" charset="0"/>
              </a:rPr>
              <a:t>должны</a:t>
            </a:r>
            <a:r>
              <a:rPr lang="uk-UA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uk-UA" sz="1200" dirty="0" err="1">
                <a:latin typeface="Arial" panose="020B0604020202020204" pitchFamily="34" charset="0"/>
                <a:cs typeface="Arial" panose="020B0604020202020204" pitchFamily="34" charset="0"/>
              </a:rPr>
              <a:t>быть</a:t>
            </a:r>
            <a:r>
              <a:rPr lang="uk-UA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uk-UA" sz="1200" dirty="0" err="1">
                <a:latin typeface="Arial" panose="020B0604020202020204" pitchFamily="34" charset="0"/>
                <a:cs typeface="Arial" panose="020B0604020202020204" pitchFamily="34" charset="0"/>
              </a:rPr>
              <a:t>просты</a:t>
            </a:r>
            <a:r>
              <a:rPr lang="uk-UA" sz="1200" dirty="0">
                <a:latin typeface="Arial" panose="020B0604020202020204" pitchFamily="34" charset="0"/>
                <a:cs typeface="Arial" panose="020B0604020202020204" pitchFamily="34" charset="0"/>
              </a:rPr>
              <a:t> в </a:t>
            </a:r>
            <a:r>
              <a:rPr lang="uk-UA" sz="1200" dirty="0" err="1">
                <a:latin typeface="Arial" panose="020B0604020202020204" pitchFamily="34" charset="0"/>
                <a:cs typeface="Arial" panose="020B0604020202020204" pitchFamily="34" charset="0"/>
              </a:rPr>
              <a:t>использовании</a:t>
            </a:r>
            <a:r>
              <a:rPr lang="uk-UA"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sz="1200" noProof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US" sz="1200" noProof="1">
                <a:latin typeface="Arial" panose="020B0604020202020204" pitchFamily="34" charset="0"/>
                <a:cs typeface="Arial" panose="020B0604020202020204" pitchFamily="34" charset="0"/>
              </a:rPr>
              <a:t>Традиционная математическая статистика, долгое время претендовавшая на роль основного инструмента анализа данных, откровенно спасовала перед лицом возникших проблем. Главная причина — </a:t>
            </a:r>
            <a:r>
              <a:rPr lang="en-US" sz="1200" i="1" noProof="1">
                <a:latin typeface="Arial" panose="020B0604020202020204" pitchFamily="34" charset="0"/>
                <a:cs typeface="Arial" panose="020B0604020202020204" pitchFamily="34" charset="0"/>
              </a:rPr>
              <a:t>концепция усреднения по выборке</a:t>
            </a:r>
            <a:r>
              <a:rPr lang="en-US" sz="1200" noProof="1">
                <a:latin typeface="Arial" panose="020B0604020202020204" pitchFamily="34" charset="0"/>
                <a:cs typeface="Arial" panose="020B0604020202020204" pitchFamily="34" charset="0"/>
              </a:rPr>
              <a:t>, приводящая к операциям над фиктивными величинами (типа средней температуры пациентов по больнице, средней высоты дома на улице, состоящей из дворцов и лачуг и т.п.). Методы математической статистики оказались полезными главным образом для проверки заранее сформулированных гипотез (verification-driven data mining) и для “грубого” разведочного анализа, составляющего основу оперативной аналитической обработки данных (online analytical processing, OLAP).</a:t>
            </a:r>
          </a:p>
          <a:p>
            <a:pPr algn="just"/>
            <a:r>
              <a:rPr lang="en-US" sz="1200" noProof="1">
                <a:latin typeface="Arial" panose="020B0604020202020204" pitchFamily="34" charset="0"/>
                <a:cs typeface="Arial" panose="020B0604020202020204" pitchFamily="34" charset="0"/>
              </a:rPr>
              <a:t>В основу современной технологии Data Mining (discovery-driven data mining) положена концепция шаблонов (паттернов), отражающих </a:t>
            </a:r>
            <a:r>
              <a:rPr lang="en-US" sz="1200" i="1" noProof="1">
                <a:latin typeface="Arial" panose="020B0604020202020204" pitchFamily="34" charset="0"/>
                <a:cs typeface="Arial" panose="020B0604020202020204" pitchFamily="34" charset="0"/>
              </a:rPr>
              <a:t>фрагменты</a:t>
            </a:r>
            <a:r>
              <a:rPr lang="en-US" sz="1200" noProof="1">
                <a:latin typeface="Arial" panose="020B0604020202020204" pitchFamily="34" charset="0"/>
                <a:cs typeface="Arial" panose="020B0604020202020204" pitchFamily="34" charset="0"/>
              </a:rPr>
              <a:t> многоаспектных взаимоотношений в данных. Эти шаблоны представляют собой закономерности, свойственные</a:t>
            </a:r>
            <a:r>
              <a:rPr lang="en-US" sz="1200" i="1" noProof="1">
                <a:latin typeface="Arial" panose="020B0604020202020204" pitchFamily="34" charset="0"/>
                <a:cs typeface="Arial" panose="020B0604020202020204" pitchFamily="34" charset="0"/>
              </a:rPr>
              <a:t> подвыборкам данных</a:t>
            </a:r>
            <a:r>
              <a:rPr lang="en-US" sz="1200" noProof="1">
                <a:latin typeface="Arial" panose="020B0604020202020204" pitchFamily="34" charset="0"/>
                <a:cs typeface="Arial" panose="020B0604020202020204" pitchFamily="34" charset="0"/>
              </a:rPr>
              <a:t>, которые могут быть компактно выражены в понятной человеку форме. Поиск шаблонов производится методами, не ограниченными рамками априорных предположений о структуре выборке и виде распределений значений анализируемых показателей.</a:t>
            </a:r>
            <a:endParaRPr lang="ru-RU" sz="1200" noProof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В целом технологию Data Mining достаточно точно определяет Григорий </a:t>
            </a:r>
            <a:r>
              <a:rPr lang="ru-RU" sz="1200" dirty="0" err="1">
                <a:latin typeface="Arial" panose="020B0604020202020204" pitchFamily="34" charset="0"/>
                <a:cs typeface="Arial" panose="020B0604020202020204" pitchFamily="34" charset="0"/>
              </a:rPr>
              <a:t>Пиатецкий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-Шапиро — один из основателей этого направления:</a:t>
            </a:r>
          </a:p>
          <a:p>
            <a:r>
              <a:rPr lang="uk-UA" sz="12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uk-UA" sz="1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uk-UA" sz="12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Mining</a:t>
            </a:r>
            <a:r>
              <a:rPr lang="uk-UA" sz="1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uk-UA" sz="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uk-UA" sz="1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это</a:t>
            </a:r>
            <a:r>
              <a:rPr lang="uk-UA" sz="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uk-UA" sz="1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процесс</a:t>
            </a:r>
            <a:r>
              <a:rPr lang="uk-UA" sz="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uk-UA" sz="1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обнаружения</a:t>
            </a:r>
            <a:r>
              <a:rPr lang="uk-UA" sz="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в </a:t>
            </a:r>
            <a:r>
              <a:rPr lang="uk-UA" sz="1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сырых</a:t>
            </a:r>
            <a:r>
              <a:rPr lang="uk-UA" sz="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uk-UA" sz="1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данных</a:t>
            </a:r>
            <a:r>
              <a:rPr lang="uk-UA" sz="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uk-UA" sz="1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ранее</a:t>
            </a:r>
            <a:r>
              <a:rPr lang="uk-UA" sz="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uk-UA" sz="1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неизвестных</a:t>
            </a:r>
            <a:r>
              <a:rPr lang="uk-UA" sz="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uk-UA" sz="1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нетривиальных</a:t>
            </a:r>
            <a:r>
              <a:rPr lang="uk-UA" sz="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uk-UA" sz="1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практически</a:t>
            </a:r>
            <a:r>
              <a:rPr lang="uk-UA" sz="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uk-UA" sz="1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полезных</a:t>
            </a:r>
            <a:r>
              <a:rPr lang="uk-UA" sz="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lang="uk-UA" sz="1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доступных</a:t>
            </a:r>
            <a:r>
              <a:rPr lang="uk-UA" sz="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uk-UA" sz="1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интерпретации</a:t>
            </a:r>
            <a:r>
              <a:rPr lang="uk-UA" sz="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знаний, </a:t>
            </a:r>
            <a:r>
              <a:rPr lang="uk-UA" sz="1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необходимых</a:t>
            </a:r>
            <a:r>
              <a:rPr lang="uk-UA" sz="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для </a:t>
            </a:r>
            <a:r>
              <a:rPr lang="uk-UA" sz="1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принятия</a:t>
            </a:r>
            <a:r>
              <a:rPr lang="uk-UA" sz="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uk-UA" sz="1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решений</a:t>
            </a:r>
            <a:r>
              <a:rPr lang="uk-UA" sz="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в </a:t>
            </a:r>
            <a:r>
              <a:rPr lang="uk-UA" sz="1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различных</a:t>
            </a:r>
            <a:r>
              <a:rPr lang="uk-UA" sz="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сферах </a:t>
            </a:r>
            <a:r>
              <a:rPr lang="uk-UA" sz="1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человеческой</a:t>
            </a:r>
            <a:r>
              <a:rPr lang="uk-UA" sz="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uk-UA" sz="1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деятельности</a:t>
            </a:r>
            <a:r>
              <a:rPr lang="uk-UA" sz="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ru-RU" sz="1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Суть и цель технологии Data Mining можно охарактеризовать так: это технология, которая предназначена для поиска в больших объемах данных неочевидных, объективных и полезных на практике закономерностей. </a:t>
            </a:r>
            <a:r>
              <a:rPr lang="ru-RU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Неочевидных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 - это значит, что найденные закономерности не обнаруживаются стандартными методами обработки информации или экспертным путем. </a:t>
            </a:r>
            <a:r>
              <a:rPr lang="ru-RU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Объективных 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- это значит, что обнаруженные закономерности будут полностью соответствовать действительности, в отличие от экспертного мнения, которое всегда является субъективным. </a:t>
            </a:r>
            <a:r>
              <a:rPr lang="ru-RU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Практически полезных 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- это значит, что выводы имеют конкретное значение, которому можно найти практическое применение. (Григорий </a:t>
            </a:r>
            <a:r>
              <a:rPr lang="ru-RU" sz="1200" dirty="0" err="1">
                <a:latin typeface="Arial" panose="020B0604020202020204" pitchFamily="34" charset="0"/>
                <a:cs typeface="Arial" panose="020B0604020202020204" pitchFamily="34" charset="0"/>
              </a:rPr>
              <a:t>Пиатецкий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-Шапиро) </a:t>
            </a:r>
          </a:p>
          <a:p>
            <a:pPr algn="just"/>
            <a:endParaRPr lang="en-US" sz="1200" noProof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ru-RU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/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615917-8825-4C11-9D2C-C82340C4B4E7}" type="slidenum">
              <a:rPr lang="LID4096" smtClean="0"/>
              <a:t>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353199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ru-RU" sz="1200" dirty="0">
                <a:effectLst/>
              </a:rPr>
              <a:t>Интеллектуальный анализ данных - процесс обнаружения пригодных к использованию сведений в крупных наборах данных.</a:t>
            </a:r>
            <a:endParaRPr lang="en-US" sz="1200" dirty="0">
              <a:effectLst/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ru-RU" sz="1200" dirty="0">
                <a:effectLst/>
              </a:rPr>
              <a:t>В интеллектуальном анализе данных применяется </a:t>
            </a:r>
            <a:r>
              <a:rPr lang="ru-RU" sz="1200" u="sng" dirty="0">
                <a:effectLst/>
              </a:rPr>
              <a:t>математический</a:t>
            </a:r>
            <a:r>
              <a:rPr lang="ru-RU" sz="1200" dirty="0">
                <a:effectLst/>
              </a:rPr>
              <a:t> анализ для выявления закономерностей и тенденций, существующих в данных.</a:t>
            </a:r>
            <a:endParaRPr lang="en-US" sz="1200" dirty="0">
              <a:effectLst/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ru-RU" sz="1200" dirty="0">
                <a:effectLst/>
              </a:rPr>
              <a:t>Обычно такие закономерности нельзя обнаружить при традиционном просмотре данных, поскольку связи слишком сложны, или из-за чрезмерного объема данных.</a:t>
            </a:r>
            <a:endParaRPr lang="en-US" sz="1200" dirty="0">
              <a:effectLst/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ru-RU" sz="1200" dirty="0">
                <a:effectLst/>
              </a:rPr>
              <a:t>Эти закономерности и тренды можно собрать вместе и определить как </a:t>
            </a:r>
            <a:r>
              <a:rPr lang="ru-RU" sz="1200" i="1" u="sng" dirty="0">
                <a:effectLst/>
              </a:rPr>
              <a:t>модель интеллектуального анализа данных</a:t>
            </a:r>
            <a:r>
              <a:rPr lang="ru-RU" sz="1200" dirty="0">
                <a:effectLst/>
              </a:rPr>
              <a:t>. </a:t>
            </a:r>
            <a:endParaRPr lang="ru-RU" altLang="ru-RU" sz="1200" dirty="0"/>
          </a:p>
          <a:p>
            <a:pPr marL="0" marR="0"/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615917-8825-4C11-9D2C-C82340C4B4E7}" type="slidenum">
              <a:rPr lang="LID4096" smtClean="0"/>
              <a:t>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944703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Традиционные методы анализа данных (статистические методы) и OLAP в основном ориентированы на проверку заранее сформулированных гипотез (</a:t>
            </a:r>
            <a:r>
              <a:rPr lang="ru-RU" sz="1200" dirty="0" err="1">
                <a:latin typeface="Arial" panose="020B0604020202020204" pitchFamily="34" charset="0"/>
                <a:cs typeface="Arial" panose="020B0604020202020204" pitchFamily="34" charset="0"/>
              </a:rPr>
              <a:t>verification-driven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200" dirty="0" err="1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200" dirty="0" err="1">
                <a:latin typeface="Arial" panose="020B0604020202020204" pitchFamily="34" charset="0"/>
                <a:cs typeface="Arial" panose="020B0604020202020204" pitchFamily="34" charset="0"/>
              </a:rPr>
              <a:t>mining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) и на "грубый" разведочный анализ, составляющий основу оперативной аналитической обработки данных (</a:t>
            </a:r>
            <a:r>
              <a:rPr lang="ru-RU" sz="1200" dirty="0" err="1">
                <a:latin typeface="Arial" panose="020B0604020202020204" pitchFamily="34" charset="0"/>
                <a:cs typeface="Arial" panose="020B0604020202020204" pitchFamily="34" charset="0"/>
              </a:rPr>
              <a:t>OnLine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200" dirty="0" err="1">
                <a:latin typeface="Arial" panose="020B0604020202020204" pitchFamily="34" charset="0"/>
                <a:cs typeface="Arial" panose="020B0604020202020204" pitchFamily="34" charset="0"/>
              </a:rPr>
              <a:t>Analytical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 Processing, OLAP), в то время как одно из основных положений Data Mining - поиск неочевидных закономерностей. 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Инструменты Data Mining могут находить такие закономерности самостоятельно и также самостоятельно строить гипотезы о взаимосвязях. 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Поскольку именно формулировка гипотезы относительно зависимостей является самой сложной задачей, преимущество Data Mining по сравнению с другими методами анализа является очевидным.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k-UA" sz="1200" noProof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Важное положение Data Mining — нетривиальность разыскиваемых шаблонов. Это означает, что найденные шаблоны должны отражать неочевидные, неожиданные (unexpected) регулярности в данных, составляющие так называемые скрытые знания (hidden knowledge). Таким образом пришло понимание, что сырые данные (raw data) содержат глубинный пласт знаний, при грамотной раскопке которого могут быть обнаружены настоящие самородки.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615917-8825-4C11-9D2C-C82340C4B4E7}" type="slidenum">
              <a:rPr lang="LID4096" smtClean="0"/>
              <a:t>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317485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Конец 20-го и начало 21-го века принесли революцию в хранении и обработке данных. </a:t>
            </a:r>
          </a:p>
          <a:p>
            <a:pPr marL="0" marR="0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 развитием облачных технологий и машинного обучения Data Mining стал неотъемлемой частью многих индустрий — от финансов до медицины.</a:t>
            </a:r>
          </a:p>
          <a:p>
            <a:pPr marL="0" marR="0">
              <a:lnSpc>
                <a:spcPts val="2230"/>
              </a:lnSpc>
              <a:spcBef>
                <a:spcPts val="0"/>
              </a:spcBef>
              <a:spcAft>
                <a:spcPts val="1125"/>
              </a:spcAft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Сегодня </a:t>
            </a:r>
            <a:r>
              <a:rPr lang="ru-RU" sz="1800" b="1" i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 Mining</a:t>
            </a:r>
            <a:r>
              <a:rPr lang="ru-RU" sz="1800" i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— это не просто набор алгоритмов или методик. Это целая индустрия, объединяющая IT-специалистов, математиков, бизнес-аналитиков и многих других экспертов, стремящихся извлечь ценную информацию из огромных массивов данных</a:t>
            </a:r>
            <a:r>
              <a:rPr lang="ru-RU" sz="1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</a:p>
          <a:p>
            <a:pPr marL="0" marR="0">
              <a:lnSpc>
                <a:spcPts val="2230"/>
              </a:lnSpc>
              <a:spcBef>
                <a:spcPts val="0"/>
              </a:spcBef>
              <a:spcAft>
                <a:spcPts val="1125"/>
              </a:spcAft>
            </a:pPr>
            <a:r>
              <a:rPr lang="ru-RU" sz="1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Но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несмотря на всю современную техническую оснащенность, идея, лежащая в ее основе, остается неизменной: понимание мира через анализ данных.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615917-8825-4C11-9D2C-C82340C4B4E7}" type="slidenum">
              <a:rPr lang="LID4096" smtClean="0"/>
              <a:t>11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345333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/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615917-8825-4C11-9D2C-C82340C4B4E7}" type="slidenum">
              <a:rPr lang="LID4096" smtClean="0"/>
              <a:t>12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25973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/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615917-8825-4C11-9D2C-C82340C4B4E7}" type="slidenum">
              <a:rPr lang="LID4096" smtClean="0"/>
              <a:t>13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533547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/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615917-8825-4C11-9D2C-C82340C4B4E7}" type="slidenum">
              <a:rPr lang="LID4096" smtClean="0"/>
              <a:t>14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662714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SzTx/>
              <a:buFont typeface="Wingdings" panose="05000000000000000000" pitchFamily="2" charset="2"/>
              <a:buNone/>
            </a:pPr>
            <a:r>
              <a:rPr lang="ru-RU" altLang="ru-RU" dirty="0">
                <a:effectLst/>
              </a:rPr>
              <a:t>Знания, добываемые методами Data </a:t>
            </a:r>
            <a:r>
              <a:rPr lang="ru-RU" altLang="ru-RU" dirty="0" err="1">
                <a:effectLst/>
              </a:rPr>
              <a:t>mining</a:t>
            </a:r>
            <a:r>
              <a:rPr lang="ru-RU" altLang="ru-RU" dirty="0">
                <a:effectLst/>
              </a:rPr>
              <a:t>, принято представлять в виде моделей:</a:t>
            </a:r>
          </a:p>
          <a:p>
            <a:pPr eaLnBrk="1" hangingPunct="1">
              <a:buSzTx/>
              <a:buFontTx/>
              <a:buChar char="-"/>
            </a:pPr>
            <a:r>
              <a:rPr lang="ru-RU" altLang="ru-RU" dirty="0">
                <a:effectLst/>
              </a:rPr>
              <a:t>Ассоциативные правила – логические закономерности;</a:t>
            </a:r>
          </a:p>
          <a:p>
            <a:pPr eaLnBrk="1" hangingPunct="1">
              <a:buSzTx/>
              <a:buFontTx/>
              <a:buChar char="-"/>
            </a:pPr>
            <a:r>
              <a:rPr lang="ru-RU" altLang="ru-RU" dirty="0">
                <a:effectLst/>
              </a:rPr>
              <a:t>Деревья решений – средства ППР для прогнозных моделей;</a:t>
            </a:r>
          </a:p>
          <a:p>
            <a:pPr eaLnBrk="1" hangingPunct="1">
              <a:buSzTx/>
              <a:buFontTx/>
              <a:buChar char="-"/>
            </a:pPr>
            <a:r>
              <a:rPr lang="ru-RU" altLang="ru-RU" dirty="0">
                <a:effectLst/>
              </a:rPr>
              <a:t>Кластеры – объединение в группы схожих объектов;</a:t>
            </a:r>
          </a:p>
          <a:p>
            <a:pPr eaLnBrk="1" hangingPunct="1">
              <a:buSzTx/>
              <a:buFontTx/>
              <a:buChar char="-"/>
            </a:pPr>
            <a:r>
              <a:rPr lang="ru-RU" altLang="ru-RU" dirty="0">
                <a:effectLst/>
              </a:rPr>
              <a:t>Математические функции.</a:t>
            </a:r>
          </a:p>
          <a:p>
            <a:pPr eaLnBrk="1" hangingPunct="1">
              <a:buSzTx/>
              <a:buFontTx/>
              <a:buNone/>
            </a:pPr>
            <a:endParaRPr lang="ru-RU" altLang="ru-RU" dirty="0">
              <a:effectLst/>
            </a:endParaRPr>
          </a:p>
          <a:p>
            <a:pPr marL="0" marR="0">
              <a:lnSpc>
                <a:spcPts val="1800"/>
              </a:lnSpc>
              <a:spcBef>
                <a:spcPts val="0"/>
              </a:spcBef>
              <a:spcAft>
                <a:spcPts val="1500"/>
              </a:spcAft>
            </a:pPr>
            <a:r>
              <a:rPr lang="ru-RU" sz="1200" dirty="0">
                <a:solidFill>
                  <a:srgbClr val="000A1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 Mining, будучи мощным инструментом анализа данных, обладает множеством методик и подходов, каждый из которых предназначен для решения конкретных задач. Эти методы служат ключами к пониманию глубоких закономерностей и скрытых зависимостей в данных. Давайте рассмотрим пять основных методов анализа, которые наиболее часто применяются в добыче данных.</a:t>
            </a:r>
            <a:endParaRPr lang="ru-RU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lnSpc>
                <a:spcPts val="1800"/>
              </a:lnSpc>
              <a:spcBef>
                <a:spcPts val="0"/>
              </a:spcBef>
              <a:spcAft>
                <a:spcPts val="15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200" b="1" i="1" dirty="0">
                <a:solidFill>
                  <a:srgbClr val="000A1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Классификация.</a:t>
            </a:r>
            <a:r>
              <a:rPr lang="ru-RU" sz="1200" i="1" dirty="0">
                <a:solidFill>
                  <a:srgbClr val="000A1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ru-RU" sz="1200" dirty="0">
                <a:solidFill>
                  <a:srgbClr val="000A1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Этот метод используется для определения категории объекта на основе изучения уже классифицированных примеров. Модели классификации обучаются на данных с известными метками, а затем применяются для предсказания категории новых, ранее неизвестных объектов.</a:t>
            </a:r>
            <a:endParaRPr lang="ru-RU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lnSpc>
                <a:spcPts val="1800"/>
              </a:lnSpc>
              <a:spcBef>
                <a:spcPts val="0"/>
              </a:spcBef>
              <a:spcAft>
                <a:spcPts val="15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200" b="1" i="1" dirty="0">
                <a:solidFill>
                  <a:srgbClr val="000A1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Кластеризация.</a:t>
            </a:r>
            <a:r>
              <a:rPr lang="ru-RU" sz="1200" i="1" dirty="0">
                <a:solidFill>
                  <a:srgbClr val="000A1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ru-RU" sz="1200" dirty="0">
                <a:solidFill>
                  <a:srgbClr val="000A1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отличие от классификации, кластеризация исследует данные без каких-либо предварительных меток, с целью разделения их на группы (или кластеры) по схожести. Этот метод позволяет выявлять в данных незаметные на первый взгляд структуры.</a:t>
            </a:r>
            <a:endParaRPr lang="ru-RU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lnSpc>
                <a:spcPts val="1800"/>
              </a:lnSpc>
              <a:spcBef>
                <a:spcPts val="0"/>
              </a:spcBef>
              <a:spcAft>
                <a:spcPts val="15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200" b="1" i="1" dirty="0">
                <a:solidFill>
                  <a:srgbClr val="000A1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Ассоциативный анализ.</a:t>
            </a:r>
            <a:r>
              <a:rPr lang="ru-RU" sz="1200" i="1" dirty="0">
                <a:solidFill>
                  <a:srgbClr val="000A1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ru-RU" sz="1200" dirty="0">
                <a:solidFill>
                  <a:srgbClr val="000A1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Основная задача этого метода — нахождение интересных, часто встречающихся в данных паттернов, правил или ассоциаций. Наиболее известное применение — анализ корзины покупок, когда исследуются комбинации товаров, часто покупаемых вместе.</a:t>
            </a:r>
            <a:endParaRPr lang="ru-RU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lnSpc>
                <a:spcPts val="1800"/>
              </a:lnSpc>
              <a:spcBef>
                <a:spcPts val="0"/>
              </a:spcBef>
              <a:spcAft>
                <a:spcPts val="15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200" b="1" i="1" dirty="0">
                <a:solidFill>
                  <a:srgbClr val="000A1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Прогнозирование.</a:t>
            </a:r>
            <a:r>
              <a:rPr lang="ru-RU" sz="1200" i="1" dirty="0">
                <a:solidFill>
                  <a:srgbClr val="000A1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ru-RU" sz="1200" dirty="0">
                <a:solidFill>
                  <a:srgbClr val="000A1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Этот метод анализа данных нацелен на прогноз будущих событий или тенденций на основе исторических данных. Прогнозирование может базироваться на статистических моделях, машинном обучении или комбинации подходов.</a:t>
            </a:r>
            <a:endParaRPr lang="ru-RU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lnSpc>
                <a:spcPts val="1800"/>
              </a:lnSpc>
              <a:spcBef>
                <a:spcPts val="0"/>
              </a:spcBef>
              <a:spcAft>
                <a:spcPts val="15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200" b="1" i="1" dirty="0">
                <a:solidFill>
                  <a:srgbClr val="000A1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Выявление аномалий.</a:t>
            </a:r>
            <a:r>
              <a:rPr lang="ru-RU" sz="1200" i="1" dirty="0">
                <a:solidFill>
                  <a:srgbClr val="000A1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ru-RU" sz="1200" dirty="0">
                <a:solidFill>
                  <a:srgbClr val="000A1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Задачей этого метода является обнаружение необычных, отклоняющихся паттернов или объектов в данных. Эти аномалии могут указывать на ошибки, мошенничество или другие интересные особенности, которые требуют дополнительного изучения.</a:t>
            </a:r>
            <a:endParaRPr lang="ru-RU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lnSpc>
                <a:spcPts val="1800"/>
              </a:lnSpc>
              <a:spcBef>
                <a:spcPts val="1500"/>
              </a:spcBef>
              <a:spcAft>
                <a:spcPts val="0"/>
              </a:spcAft>
            </a:pPr>
            <a:r>
              <a:rPr lang="ru-RU" sz="1200" dirty="0">
                <a:solidFill>
                  <a:srgbClr val="000A1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Для каждой конкретной задачи в области Data Mining может потребоваться один или комбинация нескольких вышеуказанных методов. Эффективность их применения зависит от качества данных, правильности выбора метода и точности алгоритмов. Но, независимо от выбранного метода, ключевым является понимание того, какие именно инсайты и знания вы хотите извлечь из ваших данных.</a:t>
            </a:r>
            <a:endParaRPr lang="ru-RU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/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615917-8825-4C11-9D2C-C82340C4B4E7}" type="slidenum">
              <a:rPr lang="LID4096" smtClean="0"/>
              <a:t>15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576648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81000" indent="-381000" eaLnBrk="1" hangingPunct="1">
              <a:lnSpc>
                <a:spcPct val="80000"/>
              </a:lnSpc>
              <a:buSzTx/>
              <a:buFontTx/>
              <a:buNone/>
            </a:pPr>
            <a:r>
              <a:rPr lang="ru-RU" altLang="ru-RU" sz="1200" dirty="0">
                <a:effectLst/>
              </a:rPr>
              <a:t>К методам и алгоритмам Data Mining относятся:</a:t>
            </a:r>
          </a:p>
          <a:p>
            <a:pPr marL="381000" indent="-381000" eaLnBrk="1" hangingPunct="1">
              <a:lnSpc>
                <a:spcPct val="80000"/>
              </a:lnSpc>
              <a:buSzTx/>
              <a:buFontTx/>
              <a:buNone/>
            </a:pPr>
            <a:r>
              <a:rPr lang="ru-RU" altLang="ru-RU" sz="1200" dirty="0">
                <a:effectLst/>
              </a:rPr>
              <a:t>Статистические методы:</a:t>
            </a:r>
          </a:p>
          <a:p>
            <a:pPr marL="381000" marR="0" lvl="0" indent="-38100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altLang="ru-RU" sz="1200" dirty="0">
                <a:effectLst/>
              </a:rPr>
              <a:t>	1. Корреляционно-регрессионный анализ</a:t>
            </a:r>
          </a:p>
          <a:p>
            <a:pPr marL="381000" indent="-381000" eaLnBrk="1" hangingPunct="1">
              <a:lnSpc>
                <a:spcPct val="80000"/>
              </a:lnSpc>
              <a:buSzTx/>
              <a:buFontTx/>
              <a:buNone/>
            </a:pPr>
            <a:r>
              <a:rPr lang="en-US" altLang="ru-RU" sz="1200" dirty="0">
                <a:effectLst/>
              </a:rPr>
              <a:t>	</a:t>
            </a:r>
            <a:r>
              <a:rPr lang="ru-RU" altLang="ru-RU" sz="1200" dirty="0">
                <a:effectLst/>
              </a:rPr>
              <a:t>2. Линейная регрессия</a:t>
            </a:r>
            <a:endParaRPr lang="en-US" altLang="ru-RU" sz="1200" dirty="0">
              <a:effectLst/>
            </a:endParaRPr>
          </a:p>
          <a:p>
            <a:pPr marL="381000" indent="-381000" eaLnBrk="1" hangingPunct="1">
              <a:lnSpc>
                <a:spcPct val="80000"/>
              </a:lnSpc>
              <a:buSzTx/>
              <a:buFontTx/>
              <a:buNone/>
            </a:pPr>
            <a:r>
              <a:rPr lang="en-US" altLang="ru-RU" sz="1200" dirty="0">
                <a:effectLst/>
              </a:rPr>
              <a:t>	</a:t>
            </a:r>
            <a:r>
              <a:rPr lang="ru-RU" altLang="ru-RU" sz="1200" dirty="0">
                <a:effectLst/>
              </a:rPr>
              <a:t>3. Иерархические методы кластерного анализа</a:t>
            </a:r>
            <a:endParaRPr lang="en-US" altLang="ru-RU" sz="1200" dirty="0">
              <a:effectLst/>
            </a:endParaRPr>
          </a:p>
          <a:p>
            <a:pPr marL="381000" indent="-381000" eaLnBrk="1" hangingPunct="1">
              <a:lnSpc>
                <a:spcPct val="80000"/>
              </a:lnSpc>
              <a:buSzTx/>
              <a:buFontTx/>
              <a:buNone/>
            </a:pPr>
            <a:r>
              <a:rPr lang="ru-RU" altLang="ru-RU" sz="1200" dirty="0">
                <a:effectLst/>
              </a:rPr>
              <a:t>	4. Методы поиска ассоциативных правил, в том числе алгоритм </a:t>
            </a:r>
            <a:r>
              <a:rPr lang="ru-RU" altLang="ru-RU" sz="1200" dirty="0" err="1">
                <a:effectLst/>
              </a:rPr>
              <a:t>Apriori</a:t>
            </a:r>
            <a:endParaRPr lang="ru-RU" altLang="ru-RU" sz="1200" dirty="0">
              <a:effectLst/>
            </a:endParaRPr>
          </a:p>
          <a:p>
            <a:pPr marL="381000" indent="-381000" eaLnBrk="1" hangingPunct="1">
              <a:lnSpc>
                <a:spcPct val="80000"/>
              </a:lnSpc>
              <a:buSzTx/>
              <a:buFontTx/>
              <a:buNone/>
            </a:pPr>
            <a:r>
              <a:rPr lang="ru-RU" altLang="ru-RU" sz="1200" dirty="0">
                <a:effectLst/>
              </a:rPr>
              <a:t>Кибернетические методы:</a:t>
            </a:r>
            <a:endParaRPr lang="en-US" altLang="ru-RU" sz="1200" dirty="0">
              <a:effectLst/>
            </a:endParaRPr>
          </a:p>
          <a:p>
            <a:pPr marL="381000" indent="-381000" eaLnBrk="1" hangingPunct="1">
              <a:lnSpc>
                <a:spcPct val="80000"/>
              </a:lnSpc>
              <a:buSzTx/>
              <a:buFontTx/>
              <a:buNone/>
            </a:pPr>
            <a:r>
              <a:rPr lang="ru-RU" altLang="ru-RU" sz="1200" dirty="0">
                <a:effectLst/>
              </a:rPr>
              <a:t>	5. Методы ближайшего соседа и k-ближайшего соседа</a:t>
            </a:r>
            <a:r>
              <a:rPr lang="en-US" altLang="ru-RU" sz="1200" dirty="0">
                <a:effectLst/>
              </a:rPr>
              <a:t> (</a:t>
            </a:r>
            <a:r>
              <a:rPr lang="ru-RU" altLang="ru-RU" sz="1200" dirty="0">
                <a:effectLst/>
              </a:rPr>
              <a:t>обучение с учителем</a:t>
            </a:r>
            <a:r>
              <a:rPr lang="en-US" altLang="ru-RU" sz="1200" dirty="0">
                <a:effectLst/>
              </a:rPr>
              <a:t>)</a:t>
            </a:r>
            <a:br>
              <a:rPr lang="ru-RU" altLang="ru-RU" sz="1200" dirty="0">
                <a:effectLst/>
              </a:rPr>
            </a:br>
            <a:r>
              <a:rPr lang="ru-RU" altLang="ru-RU" sz="1200" dirty="0">
                <a:effectLst/>
              </a:rPr>
              <a:t>6. Метод опорных векторов</a:t>
            </a:r>
            <a:br>
              <a:rPr lang="ru-RU" altLang="ru-RU" sz="1200" dirty="0">
                <a:effectLst/>
              </a:rPr>
            </a:br>
            <a:r>
              <a:rPr lang="ru-RU" altLang="ru-RU" sz="1200" dirty="0">
                <a:effectLst/>
              </a:rPr>
              <a:t>7. Байесовские сети</a:t>
            </a:r>
          </a:p>
          <a:p>
            <a:pPr marL="381000" indent="-381000" eaLnBrk="1" hangingPunct="1">
              <a:lnSpc>
                <a:spcPct val="80000"/>
              </a:lnSpc>
              <a:buSzTx/>
              <a:buFontTx/>
              <a:buNone/>
            </a:pPr>
            <a:r>
              <a:rPr lang="ru-RU" altLang="ru-RU" sz="1200" dirty="0">
                <a:effectLst/>
              </a:rPr>
              <a:t>	8. </a:t>
            </a:r>
            <a:r>
              <a:rPr lang="ru-RU" alt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Искусственные нейронные сети (алгоритмы машинного обучения)</a:t>
            </a:r>
          </a:p>
          <a:p>
            <a:pPr marL="381000" indent="-381000" eaLnBrk="1" hangingPunct="1">
              <a:lnSpc>
                <a:spcPct val="80000"/>
              </a:lnSpc>
              <a:buSzTx/>
              <a:buFontTx/>
              <a:buNone/>
            </a:pPr>
            <a:r>
              <a:rPr lang="ru-RU" altLang="ru-RU" sz="1200" dirty="0">
                <a:effectLst/>
              </a:rPr>
              <a:t>	9. Деревья решений, символьные правила</a:t>
            </a:r>
          </a:p>
          <a:p>
            <a:pPr marL="381000" indent="-381000" eaLnBrk="1" hangingPunct="1">
              <a:lnSpc>
                <a:spcPct val="80000"/>
              </a:lnSpc>
              <a:buSzTx/>
              <a:buFontTx/>
              <a:buNone/>
            </a:pPr>
            <a:r>
              <a:rPr lang="ru-RU" altLang="ru-RU" sz="1200" dirty="0">
                <a:effectLst/>
              </a:rPr>
              <a:t>	10. Неиерархические методы кластерного анализа, в том числе алгоритмы k-средних и k-медианы</a:t>
            </a:r>
            <a:br>
              <a:rPr lang="ru-RU" altLang="ru-RU" sz="1200" dirty="0">
                <a:effectLst/>
              </a:rPr>
            </a:br>
            <a:r>
              <a:rPr lang="ru-RU" altLang="ru-RU" sz="1200" dirty="0">
                <a:effectLst/>
              </a:rPr>
              <a:t>11. Метод ограниченного перебора</a:t>
            </a:r>
            <a:br>
              <a:rPr lang="ru-RU" altLang="ru-RU" sz="1200" dirty="0">
                <a:effectLst/>
              </a:rPr>
            </a:br>
            <a:r>
              <a:rPr lang="ru-RU" altLang="ru-RU" sz="1200" dirty="0">
                <a:effectLst/>
              </a:rPr>
              <a:t>12. Эволюционное программирование и генетические алгоритмы</a:t>
            </a:r>
            <a:br>
              <a:rPr lang="ru-RU" altLang="ru-RU" sz="1200" dirty="0">
                <a:effectLst/>
              </a:rPr>
            </a:br>
            <a:endParaRPr lang="ru-RU" altLang="ru-RU" sz="1200" dirty="0">
              <a:effectLst/>
            </a:endParaRPr>
          </a:p>
          <a:p>
            <a:pPr marL="381000" indent="-381000" eaLnBrk="1" hangingPunct="1">
              <a:lnSpc>
                <a:spcPct val="80000"/>
              </a:lnSpc>
              <a:buSzTx/>
              <a:buFontTx/>
              <a:buNone/>
            </a:pPr>
            <a:r>
              <a:rPr lang="ru-RU" altLang="ru-RU" sz="1200" dirty="0">
                <a:effectLst/>
              </a:rPr>
              <a:t>А также методы визуализации данных и др. методы. </a:t>
            </a:r>
          </a:p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615917-8825-4C11-9D2C-C82340C4B4E7}" type="slidenum">
              <a:rPr lang="LID4096" smtClean="0"/>
              <a:t>16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474545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81000" indent="-381000" algn="l" eaLnBrk="1" hangingPunct="1">
              <a:lnSpc>
                <a:spcPct val="90000"/>
              </a:lnSpc>
              <a:buSzTx/>
              <a:buFontTx/>
              <a:buNone/>
            </a:pPr>
            <a:r>
              <a:rPr lang="ru-RU" altLang="ru-RU" sz="1000" dirty="0">
                <a:effectLst/>
              </a:rPr>
              <a:t>Большинство аналитических методов, используемые в технологии Data Mining – это известные математические алгоритмы и методы.</a:t>
            </a:r>
          </a:p>
          <a:p>
            <a:pPr marL="381000" indent="-381000" algn="l" eaLnBrk="1" hangingPunct="1">
              <a:lnSpc>
                <a:spcPct val="90000"/>
              </a:lnSpc>
              <a:buSzTx/>
              <a:buFontTx/>
              <a:buNone/>
            </a:pPr>
            <a:endParaRPr lang="ru-RU" altLang="ru-RU" sz="1000" dirty="0">
              <a:effectLst/>
            </a:endParaRPr>
          </a:p>
          <a:p>
            <a:pPr marL="381000" indent="-381000" algn="l" eaLnBrk="1" hangingPunct="1">
              <a:lnSpc>
                <a:spcPct val="90000"/>
              </a:lnSpc>
              <a:buSzTx/>
              <a:buFontTx/>
              <a:buNone/>
            </a:pPr>
            <a:r>
              <a:rPr lang="ru-RU" altLang="ru-RU" sz="1000" dirty="0">
                <a:effectLst/>
              </a:rPr>
              <a:t>Новым в их применении является возможность их использования при решении тех или иных конкретных проблем, обусловленная появившимися возможностями технических и программных средств.</a:t>
            </a:r>
          </a:p>
          <a:p>
            <a:pPr marL="381000" indent="-381000" algn="l" eaLnBrk="1" hangingPunct="1">
              <a:lnSpc>
                <a:spcPct val="90000"/>
              </a:lnSpc>
              <a:buSzTx/>
              <a:buFontTx/>
              <a:buNone/>
            </a:pPr>
            <a:endParaRPr lang="ru-RU" altLang="ru-RU" sz="1000" dirty="0">
              <a:effectLst/>
            </a:endParaRPr>
          </a:p>
          <a:p>
            <a:pPr marL="381000" indent="-381000" algn="l" eaLnBrk="1" hangingPunct="1">
              <a:lnSpc>
                <a:spcPct val="90000"/>
              </a:lnSpc>
              <a:buSzTx/>
              <a:buFontTx/>
              <a:buNone/>
            </a:pPr>
            <a:r>
              <a:rPr lang="ru-RU" altLang="ru-RU" sz="1000" dirty="0">
                <a:effectLst/>
              </a:rPr>
              <a:t>Следует отметить, что большинство методов Data Mining были разработаны в рамках теории искусственного интеллекта.</a:t>
            </a:r>
            <a:br>
              <a:rPr lang="ru-RU" altLang="ru-RU" sz="1000" dirty="0">
                <a:effectLst/>
              </a:rPr>
            </a:br>
            <a:endParaRPr lang="ru-RU" altLang="ru-RU" sz="1000" dirty="0">
              <a:effectLst/>
            </a:endParaRPr>
          </a:p>
          <a:p>
            <a:pPr marL="381000" indent="-381000" algn="l" eaLnBrk="1" hangingPunct="1">
              <a:lnSpc>
                <a:spcPct val="90000"/>
              </a:lnSpc>
              <a:buSzTx/>
              <a:buFontTx/>
              <a:buNone/>
            </a:pPr>
            <a:r>
              <a:rPr lang="ru-RU" altLang="ru-RU" sz="1000" dirty="0">
                <a:effectLst/>
              </a:rPr>
              <a:t>Метод представляет собой норму или правило, определенный путь, способ, прием решений задачи теоретического, практического, познавательного, управленческого характера. </a:t>
            </a:r>
          </a:p>
          <a:p>
            <a:pPr marL="381000" indent="-381000" eaLnBrk="1" hangingPunct="1">
              <a:lnSpc>
                <a:spcPct val="80000"/>
              </a:lnSpc>
              <a:buSzTx/>
              <a:buFontTx/>
              <a:buNone/>
            </a:pPr>
            <a:r>
              <a:rPr lang="ru-RU" altLang="ru-RU" sz="1000" dirty="0">
                <a:effectLst/>
              </a:rPr>
              <a:t>Различные методы Data Mining характеризуются определенными свойствами, которые могут быть определяющими при выборе метода анализа данных. </a:t>
            </a:r>
          </a:p>
          <a:p>
            <a:pPr marL="381000" indent="-381000" eaLnBrk="1" hangingPunct="1">
              <a:lnSpc>
                <a:spcPct val="80000"/>
              </a:lnSpc>
              <a:buSzTx/>
              <a:buFontTx/>
              <a:buNone/>
            </a:pPr>
            <a:endParaRPr lang="ru-RU" altLang="ru-RU" sz="1000" dirty="0">
              <a:effectLst/>
            </a:endParaRPr>
          </a:p>
          <a:p>
            <a:pPr marL="381000" indent="-381000" eaLnBrk="1" hangingPunct="1">
              <a:lnSpc>
                <a:spcPct val="80000"/>
              </a:lnSpc>
              <a:buSzTx/>
              <a:buFontTx/>
              <a:buNone/>
            </a:pPr>
            <a:r>
              <a:rPr lang="ru-RU" altLang="ru-RU" sz="1000" dirty="0">
                <a:effectLst/>
              </a:rPr>
              <a:t>Основные свойства и характеристики методов Data Mining: </a:t>
            </a:r>
          </a:p>
          <a:p>
            <a:pPr marL="381000" indent="-381000" eaLnBrk="1" hangingPunct="1">
              <a:lnSpc>
                <a:spcPct val="80000"/>
              </a:lnSpc>
              <a:buSzTx/>
              <a:buFontTx/>
              <a:buNone/>
            </a:pPr>
            <a:r>
              <a:rPr lang="ru-RU" altLang="ru-RU" sz="1000" dirty="0">
                <a:effectLst/>
              </a:rPr>
              <a:t> - точность, </a:t>
            </a:r>
          </a:p>
          <a:p>
            <a:pPr marL="381000" indent="-381000" eaLnBrk="1" hangingPunct="1">
              <a:lnSpc>
                <a:spcPct val="80000"/>
              </a:lnSpc>
              <a:buSzTx/>
              <a:buFontTx/>
              <a:buNone/>
            </a:pPr>
            <a:r>
              <a:rPr lang="ru-RU" altLang="ru-RU" sz="1000" dirty="0">
                <a:effectLst/>
              </a:rPr>
              <a:t>- масштабируемость, </a:t>
            </a:r>
          </a:p>
          <a:p>
            <a:pPr marL="381000" indent="-381000" eaLnBrk="1" hangingPunct="1">
              <a:lnSpc>
                <a:spcPct val="80000"/>
              </a:lnSpc>
              <a:buSzTx/>
              <a:buFontTx/>
              <a:buNone/>
            </a:pPr>
            <a:r>
              <a:rPr lang="ru-RU" altLang="ru-RU" sz="1000" dirty="0">
                <a:effectLst/>
              </a:rPr>
              <a:t>- интерпретируемость, </a:t>
            </a:r>
          </a:p>
          <a:p>
            <a:pPr marL="381000" indent="-381000" eaLnBrk="1" hangingPunct="1">
              <a:lnSpc>
                <a:spcPct val="80000"/>
              </a:lnSpc>
              <a:buSzTx/>
              <a:buFontTx/>
              <a:buNone/>
            </a:pPr>
            <a:r>
              <a:rPr lang="ru-RU" altLang="ru-RU" sz="1000" dirty="0">
                <a:effectLst/>
              </a:rPr>
              <a:t>- проверяемость, </a:t>
            </a:r>
          </a:p>
          <a:p>
            <a:pPr marL="381000" indent="-381000" eaLnBrk="1" hangingPunct="1">
              <a:lnSpc>
                <a:spcPct val="80000"/>
              </a:lnSpc>
              <a:buSzTx/>
              <a:buFontTx/>
              <a:buNone/>
            </a:pPr>
            <a:r>
              <a:rPr lang="ru-RU" altLang="ru-RU" sz="1000" dirty="0">
                <a:effectLst/>
              </a:rPr>
              <a:t>- трудоемкость, </a:t>
            </a:r>
          </a:p>
          <a:p>
            <a:pPr marL="381000" indent="-381000" eaLnBrk="1" hangingPunct="1">
              <a:lnSpc>
                <a:spcPct val="80000"/>
              </a:lnSpc>
              <a:buSzTx/>
              <a:buFontTx/>
              <a:buNone/>
            </a:pPr>
            <a:r>
              <a:rPr lang="ru-RU" altLang="ru-RU" sz="1000" dirty="0">
                <a:effectLst/>
              </a:rPr>
              <a:t>- гибкость, </a:t>
            </a:r>
          </a:p>
          <a:p>
            <a:pPr marL="381000" indent="-381000" eaLnBrk="1" hangingPunct="1">
              <a:lnSpc>
                <a:spcPct val="80000"/>
              </a:lnSpc>
              <a:buSzTx/>
              <a:buFontTx/>
              <a:buNone/>
            </a:pPr>
            <a:r>
              <a:rPr lang="ru-RU" altLang="ru-RU" sz="1000" dirty="0">
                <a:effectLst/>
              </a:rPr>
              <a:t>- быстрота </a:t>
            </a:r>
          </a:p>
          <a:p>
            <a:pPr marL="381000" indent="-381000" eaLnBrk="1" hangingPunct="1">
              <a:lnSpc>
                <a:spcPct val="80000"/>
              </a:lnSpc>
              <a:buSzTx/>
              <a:buFontTx/>
              <a:buNone/>
            </a:pPr>
            <a:r>
              <a:rPr lang="ru-RU" altLang="ru-RU" sz="1000" dirty="0">
                <a:effectLst/>
              </a:rPr>
              <a:t>- популярность.</a:t>
            </a:r>
            <a:br>
              <a:rPr lang="ru-RU" altLang="ru-RU" sz="1000" dirty="0">
                <a:effectLst/>
              </a:rPr>
            </a:br>
            <a:endParaRPr lang="ru-RU" altLang="ru-RU" sz="1000" dirty="0">
              <a:effectLst/>
            </a:endParaRPr>
          </a:p>
          <a:p>
            <a:pPr marL="381000" marR="0" lvl="0" indent="-3810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altLang="ru-RU" sz="1000" dirty="0">
                <a:effectLst/>
              </a:rPr>
              <a:t>Масштабируемость – свойство вычислительной системы, которое обеспечивает предсказуемый рост системных характеристик, например, быстроты реакции, общей производительности и пр., при добавлении к ней вычислительных ресурсов.</a:t>
            </a:r>
          </a:p>
          <a:p>
            <a:pPr marL="381000" indent="-381000" algn="l" eaLnBrk="1" hangingPunct="1">
              <a:lnSpc>
                <a:spcPct val="90000"/>
              </a:lnSpc>
              <a:buSzTx/>
              <a:buFontTx/>
              <a:buNone/>
            </a:pPr>
            <a:endParaRPr lang="ru-RU" altLang="ru-RU" sz="1000" dirty="0">
              <a:effectLst/>
            </a:endParaRPr>
          </a:p>
          <a:p>
            <a:pPr marL="0" marR="0"/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615917-8825-4C11-9D2C-C82340C4B4E7}" type="slidenum">
              <a:rPr lang="LID4096" smtClean="0"/>
              <a:t>17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545566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altLang="ru-RU" sz="1200" b="1" dirty="0">
                <a:effectLst/>
              </a:rPr>
              <a:t>Как видно из рассмотренной таблицы, каждый из методов имеет свои сильные и слабые стороны. Но ни один метод, какой бы не была его оценка с точки зрения присущих ему характеристик, не может обеспечить решение всего спектра задач Data Mining.</a:t>
            </a:r>
            <a:r>
              <a:rPr lang="ru-RU" altLang="ru-RU" sz="1200" dirty="0">
                <a:effectLst/>
              </a:rPr>
              <a:t> </a:t>
            </a:r>
            <a:br>
              <a:rPr lang="ru-RU" altLang="ru-RU" sz="1200" dirty="0">
                <a:effectLst/>
              </a:rPr>
            </a:br>
            <a:endParaRPr lang="ru-RU" altLang="ru-RU" sz="1200" dirty="0">
              <a:effectLst/>
            </a:endParaRPr>
          </a:p>
          <a:p>
            <a:pPr marL="0" marR="0"/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615917-8825-4C11-9D2C-C82340C4B4E7}" type="slidenum">
              <a:rPr lang="LID4096" smtClean="0"/>
              <a:t>18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291088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i="0" dirty="0">
                <a:solidFill>
                  <a:srgbClr val="000000"/>
                </a:solidFill>
                <a:effectLst/>
                <a:latin typeface="ff2"/>
              </a:rPr>
              <a:t>Этап 1. Постановка бизнес</a:t>
            </a:r>
            <a:r>
              <a:rPr lang="ru-RU" b="1" i="0" dirty="0">
                <a:solidFill>
                  <a:srgbClr val="000000"/>
                </a:solidFill>
                <a:effectLst/>
                <a:latin typeface="ff7"/>
              </a:rPr>
              <a:t>-</a:t>
            </a:r>
            <a:r>
              <a:rPr lang="ru-RU" b="1" i="0" dirty="0">
                <a:solidFill>
                  <a:srgbClr val="000000"/>
                </a:solidFill>
                <a:effectLst/>
                <a:latin typeface="ff2"/>
              </a:rPr>
              <a:t>задачи</a:t>
            </a:r>
            <a:endParaRPr lang="ru-RU" dirty="0">
              <a:solidFill>
                <a:srgbClr val="000000"/>
              </a:solidFill>
              <a:effectLst/>
            </a:endParaRP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ff0"/>
              </a:rPr>
              <a:t>На первом этапе компания вместе с заказчиком формулирует конкретные бизнес</a:t>
            </a:r>
            <a:r>
              <a:rPr lang="ru-RU" b="0" i="0" dirty="0">
                <a:solidFill>
                  <a:srgbClr val="000000"/>
                </a:solidFill>
                <a:effectLst/>
                <a:latin typeface="ff1"/>
              </a:rPr>
              <a:t>-</a:t>
            </a:r>
            <a:endParaRPr lang="ru-RU" dirty="0">
              <a:solidFill>
                <a:srgbClr val="000000"/>
              </a:solidFill>
              <a:effectLst/>
            </a:endParaRP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ff0"/>
              </a:rPr>
              <a:t>задачи. При первом прохождении этого цикла задача может быть поставлена довольно широко: например, построить профили высокоприбыльных клиентов или определить группы нелояльных покупателей. Во время дальнейших проходов поставленные задачи можно уточнять, расширять и углублять. При формулировании задачи компания учитывает наличие данных, необходимых для ее решения. На этом этапе специалисты компании наравне со специалистами клиента принимают непосредственное участие в процессе формулирования задач, избавляя клиента от технической необходимости ставить задачу в терминах технологии Data Mining.</a:t>
            </a:r>
            <a:endParaRPr lang="ru-RU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ru-RU" b="1" i="0" dirty="0">
                <a:solidFill>
                  <a:srgbClr val="000000"/>
                </a:solidFill>
                <a:effectLst/>
                <a:latin typeface="ff2"/>
              </a:rPr>
              <a:t>Этап 2. Первичное исследование данных</a:t>
            </a:r>
            <a:endParaRPr lang="ru-RU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ru-RU" b="0" i="0" dirty="0">
                <a:solidFill>
                  <a:srgbClr val="000000"/>
                </a:solidFill>
                <a:effectLst/>
                <a:latin typeface="ff0"/>
              </a:rPr>
              <a:t>После того как бизнес</a:t>
            </a:r>
            <a:r>
              <a:rPr lang="ru-RU" b="0" i="0" dirty="0">
                <a:solidFill>
                  <a:srgbClr val="000000"/>
                </a:solidFill>
                <a:effectLst/>
                <a:latin typeface="ff1"/>
              </a:rPr>
              <a:t>-</a:t>
            </a:r>
            <a:r>
              <a:rPr lang="ru-RU" b="0" i="0" dirty="0">
                <a:solidFill>
                  <a:srgbClr val="000000"/>
                </a:solidFill>
                <a:effectLst/>
                <a:latin typeface="ff0"/>
              </a:rPr>
              <a:t>задача сформулирована, специалисты компании приступают к предварительному исследованию данных, необходимых для решения поставленной задачи. Этот этап компания также практически полностью берет на себя</a:t>
            </a:r>
            <a:r>
              <a:rPr lang="ru-RU" b="0" i="0" dirty="0">
                <a:solidFill>
                  <a:srgbClr val="000000"/>
                </a:solidFill>
                <a:effectLst/>
                <a:latin typeface="ff1"/>
              </a:rPr>
              <a:t>-</a:t>
            </a:r>
            <a:r>
              <a:rPr lang="ru-RU" b="0" i="0" dirty="0">
                <a:solidFill>
                  <a:srgbClr val="000000"/>
                </a:solidFill>
                <a:effectLst/>
                <a:latin typeface="ff0"/>
              </a:rPr>
              <a:t>со стороны заказчика здесь может потребоваться лишь минимальное участие для выяснения, например, смысла исследуемых данных или формулирования интересных для него понятий.</a:t>
            </a:r>
            <a:endParaRPr lang="ru-RU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ru-RU" b="1" i="0" dirty="0">
                <a:solidFill>
                  <a:srgbClr val="000000"/>
                </a:solidFill>
                <a:effectLst/>
                <a:latin typeface="ff2"/>
              </a:rPr>
              <a:t>Этап 3. Подготовка данных</a:t>
            </a:r>
            <a:endParaRPr lang="ru-RU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ru-RU" b="0" i="0" dirty="0">
                <a:solidFill>
                  <a:srgbClr val="000000"/>
                </a:solidFill>
                <a:effectLst/>
                <a:latin typeface="ff0"/>
              </a:rPr>
              <a:t>На третьем этапе специалисты компании подготавливают данные для их дальнейшего анализа. Для этого используется весь спектр методов подготовки данных, в каждом конкретном случае специалисты выбирают наиболее подходящие методы.</a:t>
            </a:r>
            <a:endParaRPr lang="ru-RU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ru-RU" b="1" i="0" dirty="0">
                <a:solidFill>
                  <a:srgbClr val="000000"/>
                </a:solidFill>
                <a:effectLst/>
                <a:latin typeface="ff2"/>
              </a:rPr>
              <a:t>Этап 4. Анализ данных</a:t>
            </a:r>
            <a:endParaRPr lang="ru-RU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ru-RU" b="0" i="0" dirty="0">
                <a:solidFill>
                  <a:srgbClr val="000000"/>
                </a:solidFill>
                <a:effectLst/>
                <a:latin typeface="ff0"/>
              </a:rPr>
              <a:t>Основной этап</a:t>
            </a:r>
            <a:r>
              <a:rPr lang="ru-RU" b="0" i="0" dirty="0">
                <a:solidFill>
                  <a:srgbClr val="000000"/>
                </a:solidFill>
                <a:effectLst/>
                <a:latin typeface="ff1"/>
              </a:rPr>
              <a:t>-</a:t>
            </a:r>
            <a:r>
              <a:rPr lang="ru-RU" b="0" i="0" dirty="0">
                <a:solidFill>
                  <a:srgbClr val="000000"/>
                </a:solidFill>
                <a:effectLst/>
                <a:latin typeface="ff0"/>
              </a:rPr>
              <a:t>четвертый</a:t>
            </a:r>
            <a:r>
              <a:rPr lang="ru-RU" b="0" i="0" dirty="0">
                <a:solidFill>
                  <a:srgbClr val="000000"/>
                </a:solidFill>
                <a:effectLst/>
                <a:latin typeface="ff1"/>
              </a:rPr>
              <a:t>-</a:t>
            </a:r>
            <a:r>
              <a:rPr lang="ru-RU" b="0" i="0" dirty="0">
                <a:solidFill>
                  <a:srgbClr val="000000"/>
                </a:solidFill>
                <a:effectLst/>
                <a:latin typeface="ff0"/>
              </a:rPr>
              <a:t>непосредственно анализ данных. Это полностью технический процесс, который специалисты компании проводят самостоятельно при помощи, в основном, собственных разработок. Спектр применяемых алгоритмов очень широк - от методов нечеткой кластеризации и деревьев решений до нейронных сетей и методов извлечения нечетких лингвистических правил.</a:t>
            </a:r>
            <a:endParaRPr lang="ru-RU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ru-RU" b="1" i="0" dirty="0">
                <a:solidFill>
                  <a:srgbClr val="000000"/>
                </a:solidFill>
                <a:effectLst/>
                <a:latin typeface="ff2"/>
              </a:rPr>
              <a:t>Этап 5. Интерпретация результатов</a:t>
            </a:r>
            <a:endParaRPr lang="ru-RU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ru-RU" b="0" i="0" dirty="0">
                <a:solidFill>
                  <a:srgbClr val="000000"/>
                </a:solidFill>
                <a:effectLst/>
                <a:latin typeface="ff0"/>
              </a:rPr>
              <a:t>На последнем этапе цикла специалисты компании вместе с клиентом занимаются интерпретацией полученных знаний. Это значит, что компания, во </a:t>
            </a:r>
            <a:r>
              <a:rPr lang="ru-RU" b="0" i="0" dirty="0">
                <a:solidFill>
                  <a:srgbClr val="000000"/>
                </a:solidFill>
                <a:effectLst/>
                <a:latin typeface="ff1"/>
              </a:rPr>
              <a:t>- </a:t>
            </a:r>
            <a:r>
              <a:rPr lang="ru-RU" b="0" i="0" dirty="0">
                <a:solidFill>
                  <a:srgbClr val="000000"/>
                </a:solidFill>
                <a:effectLst/>
                <a:latin typeface="ff0"/>
              </a:rPr>
              <a:t>первых, представляет найденные знания в удобной и понятной для заказчика форме, они вместе выясняют, какое значение результаты имеют для бизнеса клиента, а затем, при необходимости, отвечают на сопутствующие вопросы клиента и уточняют полученные знания.</a:t>
            </a:r>
            <a:endParaRPr lang="ru-RU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ru-RU" b="0" i="0" dirty="0">
                <a:solidFill>
                  <a:srgbClr val="000000"/>
                </a:solidFill>
                <a:effectLst/>
                <a:latin typeface="ff0"/>
              </a:rPr>
              <a:t>После решения поставленной на первом этапе бизнес</a:t>
            </a:r>
            <a:r>
              <a:rPr lang="ru-RU" b="0" i="0" dirty="0">
                <a:solidFill>
                  <a:srgbClr val="000000"/>
                </a:solidFill>
                <a:effectLst/>
                <a:latin typeface="ff1"/>
              </a:rPr>
              <a:t>-</a:t>
            </a:r>
            <a:r>
              <a:rPr lang="ru-RU" b="0" i="0" dirty="0">
                <a:solidFill>
                  <a:srgbClr val="000000"/>
                </a:solidFill>
                <a:effectLst/>
                <a:latin typeface="ff0"/>
              </a:rPr>
              <a:t>задачи у клиента могут появиться новые вопросы, возникнуть новые бизнес</a:t>
            </a:r>
            <a:r>
              <a:rPr lang="ru-RU" b="0" i="0" dirty="0">
                <a:solidFill>
                  <a:srgbClr val="000000"/>
                </a:solidFill>
                <a:effectLst/>
                <a:latin typeface="ff1"/>
              </a:rPr>
              <a:t>-</a:t>
            </a:r>
            <a:r>
              <a:rPr lang="ru-RU" b="0" i="0" dirty="0">
                <a:solidFill>
                  <a:srgbClr val="000000"/>
                </a:solidFill>
                <a:effectLst/>
                <a:latin typeface="ff0"/>
              </a:rPr>
              <a:t>задачи. Например, он захочет уточнить и расширить полученные знания. В этом случае компания возвращается к первому этапу </a:t>
            </a:r>
            <a:r>
              <a:rPr lang="ru-RU" b="0" i="0" dirty="0">
                <a:solidFill>
                  <a:srgbClr val="000000"/>
                </a:solidFill>
                <a:effectLst/>
                <a:latin typeface="ff1"/>
              </a:rPr>
              <a:t>- </a:t>
            </a:r>
            <a:r>
              <a:rPr lang="ru-RU" b="0" i="0" dirty="0">
                <a:solidFill>
                  <a:srgbClr val="000000"/>
                </a:solidFill>
                <a:effectLst/>
                <a:latin typeface="ff0"/>
              </a:rPr>
              <a:t>постановке новой или уточнению решенной бизнес</a:t>
            </a:r>
            <a:r>
              <a:rPr lang="ru-RU" b="0" i="0" dirty="0">
                <a:solidFill>
                  <a:srgbClr val="000000"/>
                </a:solidFill>
                <a:effectLst/>
                <a:latin typeface="ff1"/>
              </a:rPr>
              <a:t>-</a:t>
            </a:r>
            <a:r>
              <a:rPr lang="ru-RU" b="0" i="0" dirty="0">
                <a:solidFill>
                  <a:srgbClr val="000000"/>
                </a:solidFill>
                <a:effectLst/>
                <a:latin typeface="ff0"/>
              </a:rPr>
              <a:t>задачи, и снова проходит по все этапам, таким образом предоставляя клиенту наиболее полные и качественные знания для развития его бизнеса.</a:t>
            </a:r>
            <a:endParaRPr lang="ru-RU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b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</a:b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615917-8825-4C11-9D2C-C82340C4B4E7}" type="slidenum">
              <a:rPr lang="LID4096" smtClean="0"/>
              <a:t>19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198154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/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 широком понимании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данные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представляют собой факты, текст, графики, картинки, звуки, аналоговые или цифровые видео-сегменты.</a:t>
            </a:r>
          </a:p>
          <a:p>
            <a:pPr marL="0" marR="0"/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Данные могут быть получены в результате измерений, экспериментов, арифметических и логических операций.</a:t>
            </a:r>
          </a:p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Данные должны быть представлены в форме, пригодной для хранения, передачи и обработки.</a:t>
            </a:r>
          </a:p>
          <a:p>
            <a:endParaRPr lang="ru-RU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200" b="1" dirty="0">
                <a:latin typeface="Arial" panose="020B0604020202020204" pitchFamily="34" charset="0"/>
                <a:cs typeface="Arial" panose="020B0604020202020204" pitchFamily="34" charset="0"/>
              </a:rPr>
              <a:t>Данные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 - это необработанный материал, предоставляемый поставщиками данных и используемый потребителями для формирования информации на основе данных. </a:t>
            </a:r>
          </a:p>
          <a:p>
            <a:r>
              <a:rPr lang="ru-RU" sz="1200" b="1" dirty="0">
                <a:latin typeface="Arial" panose="020B0604020202020204" pitchFamily="34" charset="0"/>
                <a:cs typeface="Arial" panose="020B0604020202020204" pitchFamily="34" charset="0"/>
              </a:rPr>
              <a:t>Объект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 описывается как набор атрибутов. Объект также известен как запись, случай, пример, строка таблицы и т.д. </a:t>
            </a:r>
          </a:p>
          <a:p>
            <a:r>
              <a:rPr lang="ru-RU" sz="1200" b="1" dirty="0">
                <a:latin typeface="Arial" panose="020B0604020202020204" pitchFamily="34" charset="0"/>
                <a:cs typeface="Arial" panose="020B0604020202020204" pitchFamily="34" charset="0"/>
              </a:rPr>
              <a:t>Атрибут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 - свойство, характеризующее объект. Например: цвет глаз человека, температура воды и т.д. Атрибут также называют переменной, полем таблицы, измерением, характеристикой. </a:t>
            </a:r>
          </a:p>
          <a:p>
            <a:pPr marL="0" marR="0"/>
            <a:r>
              <a:rPr lang="ru-RU" sz="18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Переменная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180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variable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- свойство или характеристика, общая для всех изучаемых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объектов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проявление которой может изменяться от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объекта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к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объекту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Значение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value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переменной является проявлением признака.</a:t>
            </a:r>
            <a:endParaRPr lang="ru-RU" sz="12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/>
            <a:endParaRPr lang="ru-RU" sz="1800" dirty="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/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 анализе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данных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как правило, нет возможности рассмотреть всю интересующую нас совокупность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объектов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Изучение очень больших объемов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данных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является дорогостоящим процессом, требующим больших временных затрат, а также неизбежно приводит к ошибкам, связанным с человеческим фактором.</a:t>
            </a:r>
          </a:p>
          <a:p>
            <a:pPr marL="0" marR="0"/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Вполне достаточно рассмотреть некоторую часть всей совокупности, то есть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выборку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и получить интересующую нас информацию на ее основании.</a:t>
            </a:r>
          </a:p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Однако размер </a:t>
            </a:r>
            <a:r>
              <a:rPr lang="ru-RU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выборки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должен зависеть от разнообразия </a:t>
            </a:r>
            <a:r>
              <a:rPr lang="ru-RU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объектов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представленных в генеральной совокупности. В </a:t>
            </a:r>
            <a:r>
              <a:rPr lang="ru-RU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выборке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должны быть представлены различные комбинации и элементы генеральной совокупности.</a:t>
            </a:r>
            <a:endParaRPr lang="ru-RU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200" b="1" dirty="0">
                <a:latin typeface="Arial" panose="020B0604020202020204" pitchFamily="34" charset="0"/>
                <a:cs typeface="Arial" panose="020B0604020202020204" pitchFamily="34" charset="0"/>
              </a:rPr>
              <a:t>Генеральная совокупность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ru-RU" sz="1200" dirty="0" err="1">
                <a:latin typeface="Arial" panose="020B0604020202020204" pitchFamily="34" charset="0"/>
                <a:cs typeface="Arial" panose="020B0604020202020204" pitchFamily="34" charset="0"/>
              </a:rPr>
              <a:t>population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) - вся совокупность изучаемых объектов, интересующая исследователя. </a:t>
            </a:r>
          </a:p>
          <a:p>
            <a:r>
              <a:rPr lang="ru-RU" sz="1200" b="1" dirty="0">
                <a:latin typeface="Arial" panose="020B0604020202020204" pitchFamily="34" charset="0"/>
                <a:cs typeface="Arial" panose="020B0604020202020204" pitchFamily="34" charset="0"/>
              </a:rPr>
              <a:t>Выборка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ru-RU" sz="1200" dirty="0" err="1">
                <a:latin typeface="Arial" panose="020B0604020202020204" pitchFamily="34" charset="0"/>
                <a:cs typeface="Arial" panose="020B0604020202020204" pitchFamily="34" charset="0"/>
              </a:rPr>
              <a:t>sample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) - часть генеральной совокупности, определенным способом отобранная с целью исследования и получения выводов о свойствах и характеристиках генеральной совокупности. </a:t>
            </a:r>
          </a:p>
          <a:p>
            <a:r>
              <a:rPr lang="ru-RU" sz="1200" b="1" dirty="0">
                <a:latin typeface="Arial" panose="020B0604020202020204" pitchFamily="34" charset="0"/>
                <a:cs typeface="Arial" panose="020B0604020202020204" pitchFamily="34" charset="0"/>
              </a:rPr>
              <a:t>Параметры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 - числовые характеристики генеральной совокупности. </a:t>
            </a:r>
          </a:p>
          <a:p>
            <a:r>
              <a:rPr lang="ru-RU" sz="1200" b="1" dirty="0">
                <a:latin typeface="Arial" panose="020B0604020202020204" pitchFamily="34" charset="0"/>
                <a:cs typeface="Arial" panose="020B0604020202020204" pitchFamily="34" charset="0"/>
              </a:rPr>
              <a:t>Статистики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 - числовые характеристики выборки. </a:t>
            </a:r>
          </a:p>
          <a:p>
            <a:endParaRPr lang="ru-RU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Часто исследования основываются на </a:t>
            </a:r>
            <a:r>
              <a:rPr lang="ru-RU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гипотезах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ru-RU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Гипотезы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проверяются с помощью </a:t>
            </a:r>
            <a:r>
              <a:rPr lang="ru-RU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данных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ru-RU" sz="18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Гипотеза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- предположение относительно параметров совокупности объектов, которое должно быть проверено на ее части.</a:t>
            </a:r>
          </a:p>
          <a:p>
            <a:endParaRPr lang="ru-RU" sz="1800" b="1" dirty="0">
              <a:effectLst/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r>
              <a:rPr lang="ru-RU" sz="1200" b="1" dirty="0">
                <a:latin typeface="Arial" panose="020B0604020202020204" pitchFamily="34" charset="0"/>
                <a:cs typeface="Arial" panose="020B0604020202020204" pitchFamily="34" charset="0"/>
              </a:rPr>
              <a:t>Гипотеза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 - частично обоснованная закономерность знаний, служащая либо для связи между различными эмпирическими фактами, либо для объяснения факта или группы фактов.</a:t>
            </a:r>
          </a:p>
          <a:p>
            <a:pPr marL="0" marR="0"/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Пример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гипотезы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между показателями продолжительности жизни и качеством питания есть связь. В этом случае целью исследования может быть объяснение изменений конкретной переменной, в данном случае - продолжительности жизни. Допустим, существует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гипотеза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что </a:t>
            </a:r>
            <a:r>
              <a:rPr lang="ru-RU" sz="18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зависимая переменная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(продолжительность жизни) изменяется в </a:t>
            </a:r>
            <a:r>
              <a:rPr lang="ru-RU" sz="18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зависимости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от некоторых причин (качество питания, образ жизни, место проживания и т.д.), которые и являются </a:t>
            </a:r>
            <a:r>
              <a:rPr lang="ru-RU" sz="18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независимыми переменными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Однако переменная изначально не является зависимой или независимой. Она становится таковой после формулировки конкретной </a:t>
            </a:r>
            <a:r>
              <a:rPr lang="ru-RU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гипотезы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Зависимая переменная в одной </a:t>
            </a:r>
            <a:r>
              <a:rPr lang="ru-RU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гипотезе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может быть независимой в другой.</a:t>
            </a:r>
            <a:endParaRPr lang="ru-RU" sz="12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615917-8825-4C11-9D2C-C82340C4B4E7}" type="slidenum">
              <a:rPr lang="LID4096" smtClean="0"/>
              <a:t>20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183232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1" dirty="0">
                <a:latin typeface="Arial" panose="020B0604020202020204" pitchFamily="34" charset="0"/>
                <a:cs typeface="Arial" panose="020B0604020202020204" pitchFamily="34" charset="0"/>
              </a:rPr>
              <a:t>Измерение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 - процесс присвоения чисел характеристикам изучаемых объектов согласно определенному правилу. В процессе подготовки данных измеряется не сам объект, а его характеристики. </a:t>
            </a:r>
          </a:p>
          <a:p>
            <a:r>
              <a:rPr lang="ru-RU" sz="1200" b="1" dirty="0">
                <a:latin typeface="Arial" panose="020B0604020202020204" pitchFamily="34" charset="0"/>
                <a:cs typeface="Arial" panose="020B0604020202020204" pitchFamily="34" charset="0"/>
              </a:rPr>
              <a:t>Шкала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 - правило, в соответствии с которым объектам присваиваются числа. Существует пять типов шкал измерений: номинальная, порядковая, интервальная, относительная и дихотомическая.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ru-RU" sz="1200" noProof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200" noProof="1">
                <a:latin typeface="Arial" panose="020B0604020202020204" pitchFamily="34" charset="0"/>
                <a:cs typeface="Arial" panose="020B0604020202020204" pitchFamily="34" charset="0"/>
              </a:rPr>
              <a:t>Многие инструменты Data Mining при импорте данных из других источников предлагают выбрать тип шкалы для каждой переменной и/или выбрать тип данных для входных и выходных переменных (символьные, числовые, дискретные и непрерывные). Пользователю такого инструмента необходимо владеть этими понятиями.</a:t>
            </a:r>
          </a:p>
          <a:p>
            <a:pPr eaLnBrk="1" hangingPunct="1">
              <a:lnSpc>
                <a:spcPct val="80000"/>
              </a:lnSpc>
            </a:pPr>
            <a:r>
              <a:rPr lang="en-US" sz="1200" noProof="1">
                <a:latin typeface="Arial" panose="020B0604020202020204" pitchFamily="34" charset="0"/>
                <a:cs typeface="Arial" panose="020B0604020202020204" pitchFamily="34" charset="0"/>
              </a:rPr>
              <a:t>Атрибуты (переменные) могут являться </a:t>
            </a:r>
            <a:r>
              <a:rPr lang="en-US" sz="1200" b="1" noProof="1">
                <a:latin typeface="Arial" panose="020B0604020202020204" pitchFamily="34" charset="0"/>
                <a:cs typeface="Arial" panose="020B0604020202020204" pitchFamily="34" charset="0"/>
              </a:rPr>
              <a:t>числовыми </a:t>
            </a:r>
            <a:r>
              <a:rPr lang="en-US" sz="1200" noProof="1">
                <a:latin typeface="Arial" panose="020B0604020202020204" pitchFamily="34" charset="0"/>
                <a:cs typeface="Arial" panose="020B0604020202020204" pitchFamily="34" charset="0"/>
              </a:rPr>
              <a:t>данными либо </a:t>
            </a:r>
            <a:r>
              <a:rPr lang="en-US" sz="1200" b="1" noProof="1">
                <a:latin typeface="Arial" panose="020B0604020202020204" pitchFamily="34" charset="0"/>
                <a:cs typeface="Arial" panose="020B0604020202020204" pitchFamily="34" charset="0"/>
              </a:rPr>
              <a:t>символьными</a:t>
            </a:r>
            <a:r>
              <a:rPr lang="en-US" sz="1200" noProof="1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en-US" sz="1200" noProof="1">
                <a:latin typeface="Arial" panose="020B0604020202020204" pitchFamily="34" charset="0"/>
                <a:cs typeface="Arial" panose="020B0604020202020204" pitchFamily="34" charset="0"/>
              </a:rPr>
              <a:t>Числовые данные, в свою очередь, могут быть дискретными и непрерывными.</a:t>
            </a:r>
            <a:endParaRPr lang="en-US" sz="1200" b="1" noProof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1200" b="1" noProof="1">
                <a:latin typeface="Arial" panose="020B0604020202020204" pitchFamily="34" charset="0"/>
                <a:cs typeface="Arial" panose="020B0604020202020204" pitchFamily="34" charset="0"/>
              </a:rPr>
              <a:t>Дискретные данные </a:t>
            </a:r>
            <a:r>
              <a:rPr lang="en-US" sz="1200" noProof="1">
                <a:latin typeface="Arial" panose="020B0604020202020204" pitchFamily="34" charset="0"/>
                <a:cs typeface="Arial" panose="020B0604020202020204" pitchFamily="34" charset="0"/>
              </a:rPr>
              <a:t>являются значениями признака, общее число которых конечно либо бесконечно, но может быть подсчитано при помощи натуральных чисел от одного до бесконечности.</a:t>
            </a:r>
          </a:p>
          <a:p>
            <a:pPr eaLnBrk="1" hangingPunct="1">
              <a:lnSpc>
                <a:spcPct val="80000"/>
              </a:lnSpc>
            </a:pPr>
            <a:r>
              <a:rPr lang="en-US" sz="1200" noProof="1">
                <a:latin typeface="Arial" panose="020B0604020202020204" pitchFamily="34" charset="0"/>
                <a:cs typeface="Arial" panose="020B0604020202020204" pitchFamily="34" charset="0"/>
              </a:rPr>
              <a:t>Пример дискретных данных. Продолжительность маршрута троллейбуса (количество вариантов продолжительности конечно): 10, 15, 25 мин.</a:t>
            </a:r>
            <a:endParaRPr lang="en-US" sz="1200" b="1" noProof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1200" b="1" noProof="1">
                <a:latin typeface="Arial" panose="020B0604020202020204" pitchFamily="34" charset="0"/>
                <a:cs typeface="Arial" panose="020B0604020202020204" pitchFamily="34" charset="0"/>
              </a:rPr>
              <a:t>Непрерывные данные </a:t>
            </a:r>
            <a:r>
              <a:rPr lang="en-US" sz="1200" noProof="1">
                <a:latin typeface="Arial" panose="020B0604020202020204" pitchFamily="34" charset="0"/>
                <a:cs typeface="Arial" panose="020B0604020202020204" pitchFamily="34" charset="0"/>
              </a:rPr>
              <a:t>- данные, значения которых могут принимать какое угодно значение в некотором интервале. Измерение непрерывных данных предполагает большую точность.</a:t>
            </a:r>
          </a:p>
          <a:p>
            <a:pPr eaLnBrk="1" hangingPunct="1">
              <a:lnSpc>
                <a:spcPct val="80000"/>
              </a:lnSpc>
            </a:pPr>
            <a:r>
              <a:rPr lang="en-US" sz="1200" noProof="1">
                <a:latin typeface="Arial" panose="020B0604020202020204" pitchFamily="34" charset="0"/>
                <a:cs typeface="Arial" panose="020B0604020202020204" pitchFamily="34" charset="0"/>
              </a:rPr>
              <a:t>Пример непрерывных данных: температура, высота, вес, длина и т.д.</a:t>
            </a:r>
            <a:endParaRPr lang="ru-RU" sz="1200" noProof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>
              <a:spcBef>
                <a:spcPts val="1200"/>
              </a:spcBef>
              <a:spcAft>
                <a:spcPts val="300"/>
              </a:spcAft>
            </a:pPr>
            <a:endParaRPr lang="ru-RU" sz="1800" b="1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marR="0">
              <a:spcBef>
                <a:spcPts val="1200"/>
              </a:spcBef>
              <a:spcAft>
                <a:spcPts val="300"/>
              </a:spcAft>
            </a:pPr>
            <a:r>
              <a:rPr lang="ru-RU" sz="180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Шкалы</a:t>
            </a:r>
          </a:p>
          <a:p>
            <a:pPr marL="0" marR="0">
              <a:spcBef>
                <a:spcPts val="1200"/>
              </a:spcBef>
              <a:spcAft>
                <a:spcPts val="300"/>
              </a:spcAft>
            </a:pPr>
            <a:r>
              <a:rPr lang="ru-RU" sz="2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Шкала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- правило, в соответствии с которым объектам присваиваются числа. </a:t>
            </a:r>
            <a:endParaRPr lang="ru-RU" sz="1800" b="1" dirty="0">
              <a:effectLst/>
              <a:latin typeface="Times New Roman" panose="02020603050405020304" pitchFamily="18" charset="0"/>
            </a:endParaRPr>
          </a:p>
          <a:p>
            <a:pPr marL="0" marR="0"/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Существует пять типов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шкал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измерений: номинальная, порядковая, интервальная, относительная и дихотомическая.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Номинальная шкала</a:t>
            </a:r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(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nominal</a:t>
            </a:r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scale</a:t>
            </a:r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) (категориальная шкала, шкала наименований) - шкала, содержащая только категории; данные в ней не могут упорядочиваться, с ними не могут быть произведены никакие арифметические действия. Номинальная шкала состоит из названий, категорий, имен для классификации и сортировки объектов или наблюдений по некоторому признаку. Пример такой шкалы: профессии, город проживания, семейное положение. Для этой шкалы применимы только такие операции: равно (=), не равно ().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Порядковая шкала</a:t>
            </a:r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(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ordinal</a:t>
            </a:r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scale</a:t>
            </a:r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) (ординальная, ранговая) - шкала, в которой числа присваивают объектам для обозначения относительной позиции объектов, но не величины различий между ними. Шкала измерений дает возможность ранжировать значения переменных. Измерения же в порядковой шкале содержат информацию только о порядке следования величин, но не позволяют сказать "насколько одна величина больше другой", или "насколько она меньше другой". Пример такой шкалы: место (1, 2, 3-е), которое команда получила на соревнованиях, номер студента в рейтинге успеваемости (1-й, 23-й, и т.д.), при этом неизвестно, насколько один студент успешней другого, известен лишь его номер в рейтинге. Для этой шкалы </a:t>
            </a:r>
            <a:r>
              <a:rPr lang="ru-RU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применимы</a:t>
            </a:r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только такие операции: равно (=), не равно (), больше (&gt;), меньше (&lt;).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Интервальная шкала</a:t>
            </a:r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(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interval</a:t>
            </a:r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scale</a:t>
            </a:r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) (шкала разностей) - шкала, разности между значениями которой могут быть вычислены, однако их отношения не имеют смысла. Эта шкала позволяет находить разницу между двумя величинами, обладает свойствами номинальной и порядковой шкал, а также позволяет определить количественное изменение признака. Пример такой шкалы: температура воды в море утром - 19 градусов, вечером - 24, т.е. вечерняя на 5 градусов выше, но нельзя сказать, что она в 1,26 раз выше. Номинальная и порядковая шкалы являются дискретными, а интервальная шкала - непрерывной, она позволяет осуществлять точные измерения признака и производить арифметические операции сложения, вычитания. Для этой шкалы применимы только такие операции: равно (=), не равно (), больше (&gt;), меньше (&lt;), операции сложения (+) и вычитания (-).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Относительная шкала</a:t>
            </a:r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(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ratio</a:t>
            </a:r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scale</a:t>
            </a:r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) (шкала отношений, абсолютная шкала) - шкала, в которой есть определенная точка отсчета и возможны отношения между значениями шкалы. Пример такой шкалы: вес новорожденного ребенка (4 кг и 3 кг). Первый в 1,33 раза тяжелее. Цена на картофель в супермаркете выше в 1,2 раза, чем цена на базаре. Относительные и интервальные шкалы являются числовыми. Для этой шкалы применимы только такие операции: равно (=), не равно (), больше (&gt;), меньше (&lt;), операции сложения (+) и вычитания (-), умножения (*) и деления (/).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Дихотомическая шкала</a:t>
            </a:r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(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dichotomous</a:t>
            </a:r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scale</a:t>
            </a:r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) - шкала, содержащая только две категории. Пример такой шкалы: пол (мужской и женский).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Переменные данные</a:t>
            </a:r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- это такие данные, которые изменяют свои значения в процессе решения задачи.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Постоянные данные</a:t>
            </a:r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- это такие данные, которые сохраняют свои значения в процессе решения задачи (математические константы, координаты неподвижных объектов) и не зависят от внешних факторов.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Условно-постоянные данные</a:t>
            </a:r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- это такие данные, которые могут иногда изменять свои значения, но эти изменения не зависят от процесса решения задачи, а определяются внешними факторами.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Данные за период</a:t>
            </a:r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характеризуют некоторый период времени. Примером данных за период могут быть: прибыль предприятия за месяц, средняя температура за месяц.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Точечные данные</a:t>
            </a:r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представляют значение некоторой переменной в конкретный момент времени. Пример точечных данных: остаток на счете на первое число месяца, температура в восемь часов утра.</a:t>
            </a:r>
          </a:p>
          <a:p>
            <a:pPr eaLnBrk="1" hangingPunct="1">
              <a:lnSpc>
                <a:spcPct val="80000"/>
              </a:lnSpc>
            </a:pPr>
            <a:endParaRPr lang="en-US" sz="1200" noProof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/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615917-8825-4C11-9D2C-C82340C4B4E7}" type="slidenum">
              <a:rPr lang="LID4096" smtClean="0"/>
              <a:t>21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623470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/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615917-8825-4C11-9D2C-C82340C4B4E7}" type="slidenum">
              <a:rPr lang="LID4096" smtClean="0"/>
              <a:t>22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9430005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/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Таким образом, мы обсудили типы шкал. Номинальная шкала описывает объекты или наблюдения в терминах каче­ственных признаков. На один шаг далее идут порядковые шка­лы, позволяющие упорядочивать наблюдения или объекты по определенной характеристике. Интервальные и относительные шкалы более сложны, в них возможно определение количественного значения признака.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615917-8825-4C11-9D2C-C82340C4B4E7}" type="slidenum">
              <a:rPr lang="LID4096" smtClean="0"/>
              <a:t>23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0686057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spcBef>
                <a:spcPts val="1200"/>
              </a:spcBef>
              <a:spcAft>
                <a:spcPts val="300"/>
              </a:spcAft>
            </a:pPr>
            <a:r>
              <a:rPr lang="ru-RU" sz="180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Типы наборов данных</a:t>
            </a:r>
            <a:endParaRPr lang="ru-RU" sz="1800" b="1" dirty="0">
              <a:effectLst/>
              <a:latin typeface="Arial" panose="020B0604020202020204" pitchFamily="34" charset="0"/>
            </a:endParaRPr>
          </a:p>
          <a:p>
            <a:pPr marL="0" marR="0">
              <a:spcBef>
                <a:spcPts val="1200"/>
              </a:spcBef>
              <a:spcAft>
                <a:spcPts val="300"/>
              </a:spcAft>
            </a:pPr>
            <a:r>
              <a:rPr lang="ru-RU" sz="180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Данные, состоящие из записей</a:t>
            </a:r>
            <a:endParaRPr lang="ru-RU" sz="1800" b="1" dirty="0">
              <a:effectLst/>
              <a:latin typeface="Times New Roman" panose="02020603050405020304" pitchFamily="18" charset="0"/>
            </a:endParaRPr>
          </a:p>
          <a:p>
            <a:pPr marL="0" marR="0"/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Наиболее часто встречающиеся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данные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данные, состоящие из записей (</a:t>
            </a:r>
            <a:r>
              <a:rPr lang="ru-RU" sz="180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record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 Примеры таких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наборов данных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табличные данные, матричные данные, документальные данные, транзакционные или операционные.</a:t>
            </a:r>
          </a:p>
          <a:p>
            <a:pPr marL="0" marR="0"/>
            <a:r>
              <a:rPr lang="ru-RU" sz="18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Табличные данные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данные, состоящие из записей, каждая из которых состоит из фиксированного набора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атрибутов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/>
            <a:r>
              <a:rPr lang="ru-RU" sz="18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Транзакционные данные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представляют собой особый тип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данных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где каждая запись, являющаяся транзакцией, включает набор значений.</a:t>
            </a:r>
          </a:p>
          <a:p>
            <a:pPr marL="0" marR="0">
              <a:spcBef>
                <a:spcPts val="1200"/>
              </a:spcBef>
              <a:spcAft>
                <a:spcPts val="300"/>
              </a:spcAft>
            </a:pPr>
            <a:r>
              <a:rPr lang="ru-RU" sz="180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Графические данные</a:t>
            </a:r>
            <a:endParaRPr lang="ru-RU" sz="1800" b="1" dirty="0">
              <a:effectLst/>
              <a:latin typeface="Times New Roman" panose="02020603050405020304" pitchFamily="18" charset="0"/>
            </a:endParaRPr>
          </a:p>
          <a:p>
            <a:pPr marL="0" marR="0"/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Примеры графических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данных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WWW-данные; молекулярные структуры; графы; карты.</a:t>
            </a:r>
          </a:p>
          <a:p>
            <a:pPr marL="0" marR="0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 помощью карт, например, можно отследить изменения </a:t>
            </a:r>
            <a:r>
              <a:rPr lang="ru-RU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объектов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во времени и пространстве, определить характер их распределения на плоскости или в пространстве. Преимуществом графического представления </a:t>
            </a:r>
            <a:r>
              <a:rPr lang="ru-RU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данных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является большая простота их восприятия, чем, например, табличных </a:t>
            </a:r>
            <a:r>
              <a:rPr lang="ru-RU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данных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</a:p>
          <a:p>
            <a:pPr marL="0" marR="0"/>
            <a:r>
              <a:rPr lang="ru-RU" sz="18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Химические данные</a:t>
            </a:r>
            <a:endParaRPr lang="ru-RU" sz="18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Согласно опросу на сайте </a:t>
            </a:r>
            <a:r>
              <a:rPr lang="ru-RU" sz="180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Kdnuggets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800" u="sng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www.kdnuggets.com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(20</a:t>
            </a:r>
            <a:r>
              <a:rPr lang="en-US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г.) </a:t>
            </a:r>
            <a:r>
              <a:rPr lang="ru-RU" sz="18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"Типы анализируемых данных"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наибольшее число опрошенных анализирует данные из "плоских" (</a:t>
            </a:r>
            <a:r>
              <a:rPr lang="ru-RU" sz="180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flat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и реляционных таблиц (</a:t>
            </a:r>
            <a:r>
              <a:rPr lang="en-US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65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%), далее идут временные ряды (</a:t>
            </a:r>
            <a:r>
              <a:rPr lang="en-US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%) и данные в виде текста (</a:t>
            </a:r>
            <a:r>
              <a:rPr lang="en-US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43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%).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наиболее распространенным форматом хранения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данных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для Data Mining выступают базы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данных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800" dirty="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800" dirty="0"/>
              <a:t>Остальные анализируемые типы данных в порядке убывания: </a:t>
            </a:r>
            <a:r>
              <a:rPr lang="ru-RU" sz="2800" dirty="0" err="1"/>
              <a:t>webконтенты</a:t>
            </a:r>
            <a:r>
              <a:rPr lang="ru-RU" sz="2800" dirty="0"/>
              <a:t>, XML, графика, аудио, видео и др.</a:t>
            </a:r>
            <a:endParaRPr lang="ru-RU" sz="1800" dirty="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/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/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615917-8825-4C11-9D2C-C82340C4B4E7}" type="slidenum">
              <a:rPr lang="LID4096" smtClean="0"/>
              <a:t>24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107849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5D2D9-C8F4-D90F-EA95-099AD658A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1373B0-FB57-1CE1-EB09-22F799811E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3ADE0E-B526-82C1-61BB-9897E353F8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/>
            <a:r>
              <a:rPr lang="ru-RU" sz="18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Реляционные данные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это данные из реляционных баз (таблиц).</a:t>
            </a:r>
          </a:p>
          <a:p>
            <a:pPr marL="0" marR="0"/>
            <a:r>
              <a:rPr lang="ru-RU" sz="18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Многомерные данные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это данные, представленные в кубах OLAP.</a:t>
            </a:r>
          </a:p>
          <a:p>
            <a:pPr marL="0" marR="0"/>
            <a:r>
              <a:rPr lang="ru-RU" sz="18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Измерение (</a:t>
            </a:r>
            <a:r>
              <a:rPr lang="ru-RU" sz="1800" b="1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dimension</a:t>
            </a:r>
            <a:r>
              <a:rPr lang="ru-RU" sz="18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или ось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в многомерных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данных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это собрание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данных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одного и того же типа, что позволяет структурировать многомерную базу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данных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/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 критерию постоянства своих значений в ходе решения задачи данные могут быть: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переменными; 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постоянными; 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условно-постоянными.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/>
            <a:r>
              <a:rPr lang="ru-RU" sz="18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Переменные данные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это такие данные, которые изменяют свои значения в процессе решения задачи.</a:t>
            </a:r>
          </a:p>
          <a:p>
            <a:pPr marL="0" marR="0"/>
            <a:r>
              <a:rPr lang="ru-RU" sz="18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Постоянные данные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это такие данные, которые сохраняют свои значения в процессе решения задачи (математические константы, координаты неподвижных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объектов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и не зависят от внешних факторов.</a:t>
            </a:r>
          </a:p>
          <a:p>
            <a:pPr marL="0" marR="0"/>
            <a:r>
              <a:rPr lang="ru-RU" sz="18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Условно-постоянные данные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это такие данные, которые могут иногда изменять свои значения, но эти изменения не зависят от процесса решения задачи, а определяются внешними факторами. </a:t>
            </a:r>
          </a:p>
          <a:p>
            <a:pPr marL="0" marR="0"/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Данные, в зависимости от тех функций, которые они выполняют, могут быть </a:t>
            </a:r>
            <a:r>
              <a:rPr lang="ru-RU" sz="18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справочными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8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оперативными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8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архивными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/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Следует различать данные за период и точечные данные. Эти различия важны при проектировании системы сбора информации, а также в процессе измерений.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данные за период; 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точечные данные.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/>
            <a:r>
              <a:rPr lang="ru-RU" sz="18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Данные за период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характеризуют некоторый период времени. Примером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данных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за период могут быть: прибыль предприятия за месяц, средняя температура за месяц. </a:t>
            </a:r>
          </a:p>
          <a:p>
            <a:pPr marL="0" marR="0"/>
            <a:r>
              <a:rPr lang="ru-RU" sz="18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Точечные данные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представляют значение некоторой переменной в конкретный момент времени. Пример точечных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данных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остаток на счете на первое число месяца, температура в восемь часов утра.</a:t>
            </a:r>
          </a:p>
          <a:p>
            <a:pPr marL="0" marR="0"/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Данные бывают первичными и вторичными. </a:t>
            </a:r>
            <a:r>
              <a:rPr lang="ru-RU" sz="18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Вторичные данные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это данные, которые являются результатом определенных вычислений, примененных к </a:t>
            </a:r>
            <a:r>
              <a:rPr lang="ru-RU" sz="18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первичным данным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Вторичные данные, как правило, приводят к ускоренному получению ответа на запрос пользователя за счет увеличения объема хранимой информации.</a:t>
            </a:r>
          </a:p>
          <a:p>
            <a:pPr marL="0" marR="0">
              <a:spcBef>
                <a:spcPts val="1200"/>
              </a:spcBef>
              <a:spcAft>
                <a:spcPts val="300"/>
              </a:spcAft>
            </a:pPr>
            <a:r>
              <a:rPr lang="ru-RU" sz="1800" b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Метаданные</a:t>
            </a:r>
            <a:endParaRPr lang="ru-RU" sz="1800" b="1" dirty="0">
              <a:effectLst/>
              <a:latin typeface="Arial" panose="020B0604020202020204" pitchFamily="34" charset="0"/>
            </a:endParaRPr>
          </a:p>
          <a:p>
            <a:pPr marL="0" marR="0"/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 завершение лекции о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данных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рассмотрим понятие метаданных.</a:t>
            </a:r>
          </a:p>
          <a:p>
            <a:pPr marL="0" marR="0"/>
            <a:r>
              <a:rPr lang="ru-RU" sz="18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Метаданные (</a:t>
            </a:r>
            <a:r>
              <a:rPr lang="ru-RU" sz="1800" b="1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Metadate</a:t>
            </a:r>
            <a:r>
              <a:rPr lang="ru-RU" sz="18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это данные о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данных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/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 состав метаданных могут входить: каталоги, справочники, реестры. </a:t>
            </a:r>
          </a:p>
          <a:p>
            <a:pPr marL="0" marR="0"/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Метаданные содержат сведения о составе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данных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содержании, статусе, происхождении, местонахождении, качестве, форматах и формах представления, условиях доступа, приобретения и использования, авторских, имущественных и смежных с ними правах на данные и др.</a:t>
            </a:r>
          </a:p>
          <a:p>
            <a:pPr marL="0" marR="0"/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Метаданные - важное понятие в управлении хранилищем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данных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/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Метаданные, применяемые при управлении хранилищем, содержат информацию, необходимую для его настройки и использования. Различают бизнес-метаданные и оперативные метаданные.</a:t>
            </a:r>
          </a:p>
          <a:p>
            <a:pPr marL="0" marR="0"/>
            <a:r>
              <a:rPr lang="ru-RU" sz="18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Бизнес-метаданные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содержат бизнес-термины и определения, принадлежность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данных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и правила оплаты услуг хранилища. </a:t>
            </a:r>
          </a:p>
          <a:p>
            <a:pPr marL="0" marR="0"/>
            <a:r>
              <a:rPr lang="ru-RU" sz="18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Оперативные метаданные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это информация, собранная во время работы хранилища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данных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происхождение перенесенных и преобразованных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данных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; 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статус использования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данных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 (активные, архивированные или удаленные); 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данные мониторинга, такие как статистика использования, сообщения об ошибках и т.д.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/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Метаданные хранилища обычно размещаются в репозитории. Это позволяет использовать метаданные совместно различным инструментам, а также процессам при проектировании, установке, эксплуатации и администрировании хранилища.</a:t>
            </a:r>
          </a:p>
          <a:p>
            <a:pPr marL="0" marR="0"/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3815A3-833A-732A-4FC7-5B1EA112FA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615917-8825-4C11-9D2C-C82340C4B4E7}" type="slidenum">
              <a:rPr lang="LID4096" smtClean="0"/>
              <a:t>25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55509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9585E-4FEB-4256-CFE3-9589D9588C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4AB03D-4C0F-A31D-CAC7-16C3809CC5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FCE928-CADC-7C04-F826-9ACD6400E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3/18/2025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70ED9-5856-A446-7229-B32643D91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9E500-425B-057C-F612-79A55D788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5072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31DD8-AC17-A5C4-DC8A-3A1A20541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4509D-300C-F422-E8CC-492AE49C32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B9E1ED-E74F-3DC4-6889-BD356C05A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3/18/2025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6CEA5A-FCBF-3BF5-0F64-F937C5F91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A109D-9B73-4831-F494-7CEB6F5FF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4206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F0624-F093-1691-1B63-6BF5DD826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B26D71-12FD-5A5F-151B-8A50756EAF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58A94B-0DD6-19F6-4CB0-871698BC3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3/18/2025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2E7D1F-58E3-6665-F857-559472D2A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C6B672-6734-6E36-FF1C-7AAD351F2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688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17834-2FD0-2DA9-ECAC-AB5603E66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52CE9-A90B-145C-E692-31CE3B77D4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A98E02-27F6-E4A4-C6BA-E603645E08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272A9B-FA1D-CE7A-5CDE-1DA080B31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3/18/2025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731A3B-4E5F-8F72-1A11-C16A193FE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2F3359-5032-5B1B-F97C-2CD628D30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9552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1D544-1E09-D1F5-4CEF-0569D1017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51C6D9-D64A-07FA-6FC4-F416F3878F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BDD94A-3F5D-59A8-6683-4766C278D8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A44B8E-321B-185A-FA52-46530BA239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835322-5E6E-4D15-41EA-37BD74B68F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AABE85-7EBB-DEC1-E565-02AC5B284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3/18/2025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D8AE5B-7F43-B92D-D3DA-8162FFA1B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9479B4-2D8F-16E0-95C4-0B243E465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0448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87751-D972-237E-9A45-2F4229D22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FB84B1-3E71-103A-24F3-90F95BA17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3/18/2025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E947BB-8C48-C912-4160-E82CD50DE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B279BB-044E-6FA4-ECE3-148243B7B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4606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839B6A-E344-5C0B-BBAB-962FA99DE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3/18/2025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083FF4-A3BF-471D-4823-D04E2BDFD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FCE28D-8218-F8CE-DAE8-1CE260C08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8400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D615C-3643-7E6B-4AEB-E3E96FD51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9A298-8AE7-D9B2-314E-B81629F7F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70A29-A638-8A78-1220-1420E54CC2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01A2FD-632A-FCF0-CFF7-4AFBBD0D6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3/18/2025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1C9B20-7DFD-CFB7-A9A7-E64479245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3E9245-BD02-B58E-1FA5-81571D187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9526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ABC07-1CA5-2050-18D0-C8DD52050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8F8B63-200C-4FBC-2054-8C97255D96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30FD9-265A-179E-47CC-0692EB775B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6A4517-ACE5-C20D-506F-ECC64E7FC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3/18/2025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9876ED-ED18-EAA7-5301-03F84F95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36D671-316B-11E5-1586-F3D4AD38F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4059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EC718-6881-DD08-160A-25D605501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A1CBE3-BCA9-2AB3-CCB7-71D2E8DD98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D1952-6952-78B9-31C7-30CF67DBE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3/18/2025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657E76-F82E-75C3-4556-AAA9A5334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5471DA-3152-4BBE-16F7-DF08D65C9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578240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D08075-2C2B-5452-4830-547E405B6F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39AFA0-68B8-1D1D-D327-A362FDD27C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259B6-B220-F819-C6CD-DB253DEA2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3/18/2025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49A06-06AE-C8B0-8E15-FDE3D8801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48CBBF-BBC9-752C-C5B3-78509ED26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1464873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B70B52-852D-B172-1C90-7340183C4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65D691-5248-F160-B3AE-F755F272CE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78DA69-2975-4698-6E3E-B108566EF6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3ED0CC-082F-4160-86E5-0D6041F12778}" type="datetime1">
              <a:rPr lang="en-US" smtClean="0"/>
              <a:t>3/18/2025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F4C229-3E95-5173-BA5F-99A869AEF8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5FAD2-6F44-FF92-942B-BB59884051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9967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8" r:id="rId1"/>
    <p:sldLayoutId id="2147483969" r:id="rId2"/>
    <p:sldLayoutId id="2147483970" r:id="rId3"/>
    <p:sldLayoutId id="2147483971" r:id="rId4"/>
    <p:sldLayoutId id="2147483972" r:id="rId5"/>
    <p:sldLayoutId id="2147483973" r:id="rId6"/>
    <p:sldLayoutId id="2147483974" r:id="rId7"/>
    <p:sldLayoutId id="2147483975" r:id="rId8"/>
    <p:sldLayoutId id="2147483976" r:id="rId9"/>
    <p:sldLayoutId id="2147483977" r:id="rId10"/>
    <p:sldLayoutId id="2147483978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e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picture containing large, sitting, white, numbers">
            <a:extLst>
              <a:ext uri="{FF2B5EF4-FFF2-40B4-BE49-F238E27FC236}">
                <a16:creationId xmlns:a16="http://schemas.microsoft.com/office/drawing/2014/main" id="{9A5D9ED1-DFCC-4799-89E2-D118451B98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88" r="17401"/>
          <a:stretch/>
        </p:blipFill>
        <p:spPr>
          <a:xfrm>
            <a:off x="2519309" y="10"/>
            <a:ext cx="9669642" cy="685799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227" y="4988560"/>
            <a:ext cx="3973386" cy="1125993"/>
          </a:xfrm>
          <a:noFill/>
        </p:spPr>
        <p:txBody>
          <a:bodyPr>
            <a:normAutofit/>
          </a:bodyPr>
          <a:lstStyle/>
          <a:p>
            <a:pPr algn="l"/>
            <a:r>
              <a:rPr lang="en-US" dirty="0"/>
              <a:t>prof. Tatyana Petrushina</a:t>
            </a:r>
          </a:p>
          <a:p>
            <a:pPr algn="l"/>
            <a:r>
              <a:rPr lang="en-US" dirty="0"/>
              <a:t>202</a:t>
            </a:r>
            <a:r>
              <a:rPr lang="ru-RU" dirty="0"/>
              <a:t>4</a:t>
            </a:r>
            <a:r>
              <a:rPr lang="en-US" dirty="0"/>
              <a:t>-202</a:t>
            </a:r>
            <a:r>
              <a:rPr lang="ru-RU" dirty="0"/>
              <a:t>5</a:t>
            </a:r>
            <a:endParaRPr lang="en-US" dirty="0"/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F6B07DD9-EEAF-A4E1-A464-BDB22E16B2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5873" y="6329501"/>
            <a:ext cx="6121400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ru-RU" sz="1600" b="1" dirty="0">
                <a:solidFill>
                  <a:srgbClr val="1F497D"/>
                </a:solidFill>
                <a:cs typeface="Arial" panose="020B0604020202020204" pitchFamily="34" charset="0"/>
              </a:rPr>
              <a:t>Odesa I. I. </a:t>
            </a:r>
            <a:r>
              <a:rPr lang="en-US" altLang="ru-RU" sz="1600" b="1" dirty="0" err="1">
                <a:solidFill>
                  <a:srgbClr val="1F497D"/>
                </a:solidFill>
                <a:cs typeface="Arial" panose="020B0604020202020204" pitchFamily="34" charset="0"/>
              </a:rPr>
              <a:t>Mechnikov</a:t>
            </a:r>
            <a:r>
              <a:rPr lang="en-US" altLang="ru-RU" sz="1600" b="1" dirty="0">
                <a:solidFill>
                  <a:srgbClr val="1F497D"/>
                </a:solidFill>
                <a:cs typeface="Arial" panose="020B0604020202020204" pitchFamily="34" charset="0"/>
              </a:rPr>
              <a:t> National University</a:t>
            </a:r>
            <a:endParaRPr lang="ru-RU" altLang="ru-RU" sz="1600" b="1" dirty="0">
              <a:solidFill>
                <a:srgbClr val="1F497D"/>
              </a:solidFill>
              <a:cs typeface="Arial" panose="020B0604020202020204" pitchFamily="34" charset="0"/>
            </a:endParaRP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79CAD4ED-813A-1542-FC7C-70F3E777D2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4436"/>
            <a:ext cx="6004560" cy="2560319"/>
          </a:xfrm>
        </p:spPr>
        <p:txBody>
          <a:bodyPr>
            <a:normAutofit/>
          </a:bodyPr>
          <a:lstStyle/>
          <a:p>
            <a:r>
              <a:rPr lang="ru-RU" sz="5400" b="1" dirty="0"/>
              <a:t>Интеллектуальный анализ данных</a:t>
            </a:r>
            <a:br>
              <a:rPr lang="en-US" sz="5400" b="1" dirty="0"/>
            </a:br>
            <a:r>
              <a:rPr lang="ru-RU" sz="5400" b="1" dirty="0"/>
              <a:t> </a:t>
            </a:r>
            <a:r>
              <a:rPr lang="en-US" sz="5400" b="1" dirty="0"/>
              <a:t>Data Mining</a:t>
            </a:r>
            <a:endParaRPr lang="LID4096" sz="54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D5CC7E-8C57-4CF5-E5DA-F6E4D6E90DF4}"/>
              </a:ext>
            </a:extLst>
          </p:cNvPr>
          <p:cNvSpPr txBox="1"/>
          <p:nvPr/>
        </p:nvSpPr>
        <p:spPr>
          <a:xfrm>
            <a:off x="552543" y="3460194"/>
            <a:ext cx="60045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dirty="0"/>
              <a:t>Умные методы получения паттернов данных</a:t>
            </a:r>
            <a:r>
              <a:rPr lang="en-US" sz="1800" b="1" dirty="0">
                <a:solidFill>
                  <a:schemeClr val="tx2"/>
                </a:solidFill>
              </a:rPr>
              <a:t> 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583120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71F205-E8A9-4237-8AD2-ABD9BF694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947" y="479156"/>
            <a:ext cx="9829800" cy="628284"/>
          </a:xfrm>
        </p:spPr>
        <p:txBody>
          <a:bodyPr anchor="b">
            <a:normAutofit fontScale="90000"/>
          </a:bodyPr>
          <a:lstStyle/>
          <a:p>
            <a:pPr algn="ctr"/>
            <a:r>
              <a:rPr lang="ru-RU" sz="3600" b="1" dirty="0"/>
              <a:t>Общие сведения об интеллектуальном анализе данных</a:t>
            </a:r>
            <a:endParaRPr lang="en-US" sz="3600" b="1" dirty="0">
              <a:solidFill>
                <a:schemeClr val="tx2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7C2A7636-AF45-D02E-05C5-3524B02C9B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1298" y="1967376"/>
            <a:ext cx="4139449" cy="413944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85DCCBC-E6CE-5F67-776B-7D4C7D3E578D}"/>
              </a:ext>
            </a:extLst>
          </p:cNvPr>
          <p:cNvSpPr txBox="1"/>
          <p:nvPr/>
        </p:nvSpPr>
        <p:spPr>
          <a:xfrm>
            <a:off x="660400" y="1586595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1800" b="0" i="0" u="none" strike="noStrike" baseline="0" dirty="0">
                <a:latin typeface="Calibri" panose="020F0502020204030204" pitchFamily="34" charset="0"/>
              </a:rPr>
              <a:t>"За последние годы, когда, стремясь к повышению эффективности и прибыльности бизнеса, при</a:t>
            </a:r>
          </a:p>
          <a:p>
            <a:pPr algn="l"/>
            <a:r>
              <a:rPr lang="ru-RU" sz="1800" b="0" i="0" u="none" strike="noStrike" baseline="0" dirty="0">
                <a:latin typeface="Calibri" panose="020F0502020204030204" pitchFamily="34" charset="0"/>
              </a:rPr>
              <a:t>создании БД все стали пользоваться средствами обработки цифровой информации, появился и</a:t>
            </a:r>
          </a:p>
          <a:p>
            <a:pPr algn="l"/>
            <a:r>
              <a:rPr lang="ru-RU" sz="1800" b="0" i="0" u="none" strike="noStrike" baseline="0" dirty="0">
                <a:latin typeface="Calibri" panose="020F0502020204030204" pitchFamily="34" charset="0"/>
              </a:rPr>
              <a:t>побочный продукт этой активности - горы собранных данных: И вот все больше распространяется</a:t>
            </a:r>
          </a:p>
          <a:p>
            <a:pPr algn="l"/>
            <a:r>
              <a:rPr lang="ru-RU" sz="1800" b="0" i="0" u="none" strike="noStrike" baseline="0" dirty="0">
                <a:latin typeface="Calibri" panose="020F0502020204030204" pitchFamily="34" charset="0"/>
              </a:rPr>
              <a:t>идея о том, что эти горы полны золота"</a:t>
            </a:r>
            <a:endParaRPr lang="LID409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061372-8BA5-B929-3426-DF07267A7B49}"/>
              </a:ext>
            </a:extLst>
          </p:cNvPr>
          <p:cNvSpPr txBox="1"/>
          <p:nvPr/>
        </p:nvSpPr>
        <p:spPr>
          <a:xfrm>
            <a:off x="660400" y="3914294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altLang="LID4096" sz="1800" dirty="0">
                <a:effectLst/>
              </a:rPr>
              <a:t>Суть и цель технологии Data Mining можно охарактеризовать так: это технология, которая предназначена для поиска в больших объемах данных неочевидных, объективных и полезных на практике закономерностей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265077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71F205-E8A9-4237-8AD2-ABD9BF694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947" y="479156"/>
            <a:ext cx="9829800" cy="628284"/>
          </a:xfrm>
        </p:spPr>
        <p:txBody>
          <a:bodyPr anchor="b">
            <a:normAutofit/>
          </a:bodyPr>
          <a:lstStyle/>
          <a:p>
            <a:pPr algn="ctr"/>
            <a:r>
              <a:rPr lang="en-US" sz="3600" b="1" dirty="0">
                <a:solidFill>
                  <a:schemeClr val="tx2"/>
                </a:solidFill>
              </a:rPr>
              <a:t>KDD vs</a:t>
            </a:r>
            <a:r>
              <a:rPr lang="ru-RU" sz="3600" b="1" dirty="0">
                <a:solidFill>
                  <a:schemeClr val="tx2"/>
                </a:solidFill>
              </a:rPr>
              <a:t> </a:t>
            </a:r>
            <a:r>
              <a:rPr lang="en-US" sz="3600" b="1" dirty="0">
                <a:solidFill>
                  <a:schemeClr val="tx2"/>
                </a:solidFill>
              </a:rPr>
              <a:t>Data Mining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5061372-8BA5-B929-3426-DF07267A7B49}"/>
              </a:ext>
            </a:extLst>
          </p:cNvPr>
          <p:cNvSpPr txBox="1"/>
          <p:nvPr/>
        </p:nvSpPr>
        <p:spPr>
          <a:xfrm>
            <a:off x="482716" y="1260501"/>
            <a:ext cx="696924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</a:rPr>
              <a:t>Ко</a:t>
            </a:r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нцепция KDD (</a:t>
            </a:r>
            <a:r>
              <a:rPr lang="ru-RU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Knowledge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Discovery </a:t>
            </a:r>
            <a:r>
              <a:rPr lang="ru-RU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Databases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-  или </a:t>
            </a:r>
            <a:r>
              <a:rPr lang="ru-RU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интеллектуальный анализ данных (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I</a:t>
            </a:r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ntelligent 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D</a:t>
            </a:r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ata 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A</a:t>
            </a:r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nalysis</a:t>
            </a:r>
            <a:r>
              <a:rPr lang="ru-RU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)</a:t>
            </a:r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l"/>
            <a:endParaRPr lang="ru-RU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ru-RU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Интеллектуальный анализ</a:t>
            </a:r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–это процесс поддержки принятия решений, основанный на поиске в данных скрытых закономерностей, которые можно охарактеризовать как новые знания.</a:t>
            </a:r>
          </a:p>
          <a:p>
            <a:pPr algn="l"/>
            <a:endParaRPr lang="ru-RU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ru-RU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KDD</a:t>
            </a:r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– это процесс получения из данных знаний, в виде зависимости правил моделей позволяющих моделировать и прогнозировать различные процессы.</a:t>
            </a:r>
          </a:p>
          <a:p>
            <a:pPr algn="l"/>
            <a:endParaRPr lang="ru-RU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ru-RU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Технологии KDD</a:t>
            </a:r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описывают не конкретный алгоритм обработки данных или математический аппарат, а последовательность действий которую необходимо выполнить с данными, чтобы построить модель модели и получить знания.</a:t>
            </a:r>
            <a:endParaRPr lang="LID4096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092B5C-358E-04EB-2FE2-B86ED91B05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775" y="2131792"/>
            <a:ext cx="4242509" cy="292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819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71F205-E8A9-4237-8AD2-ABD9BF694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947" y="479156"/>
            <a:ext cx="9829800" cy="628284"/>
          </a:xfrm>
        </p:spPr>
        <p:txBody>
          <a:bodyPr anchor="b">
            <a:normAutofit/>
          </a:bodyPr>
          <a:lstStyle/>
          <a:p>
            <a:pPr algn="ctr"/>
            <a:r>
              <a:rPr lang="en-US" sz="3600" b="1" dirty="0">
                <a:solidFill>
                  <a:schemeClr val="tx2"/>
                </a:solidFill>
              </a:rPr>
              <a:t>KDD vs</a:t>
            </a:r>
            <a:r>
              <a:rPr lang="ru-RU" sz="3600" b="1" dirty="0">
                <a:solidFill>
                  <a:schemeClr val="tx2"/>
                </a:solidFill>
              </a:rPr>
              <a:t> </a:t>
            </a:r>
            <a:r>
              <a:rPr lang="en-US" sz="3600" b="1" dirty="0">
                <a:solidFill>
                  <a:schemeClr val="tx2"/>
                </a:solidFill>
              </a:rPr>
              <a:t>Data Mining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5061372-8BA5-B929-3426-DF07267A7B49}"/>
              </a:ext>
            </a:extLst>
          </p:cNvPr>
          <p:cNvSpPr txBox="1"/>
          <p:nvPr/>
        </p:nvSpPr>
        <p:spPr>
          <a:xfrm>
            <a:off x="825576" y="1586595"/>
            <a:ext cx="507237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Этапы </a:t>
            </a:r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KDD:</a:t>
            </a:r>
            <a:endParaRPr lang="ru-RU" b="1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/>
            <a:endParaRPr lang="ru-RU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l"/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</a:rPr>
              <a:t>На входе имеем «сырые» данные в источниках</a:t>
            </a:r>
          </a:p>
          <a:p>
            <a:pPr algn="l"/>
            <a:endParaRPr lang="ru-RU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Выборка данных</a:t>
            </a:r>
            <a:endParaRPr lang="ru-RU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Очистка данных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Трансформация данных</a:t>
            </a:r>
            <a:endParaRPr lang="ru-RU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Data </a:t>
            </a:r>
            <a:r>
              <a:rPr lang="ru-RU" b="1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mining</a:t>
            </a:r>
            <a:endParaRPr lang="ru-RU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Интерпретация</a:t>
            </a:r>
          </a:p>
          <a:p>
            <a:pPr algn="l">
              <a:buFont typeface="+mj-lt"/>
              <a:buAutoNum type="arabicPeriod"/>
            </a:pPr>
            <a:endParaRPr lang="ru-RU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l"/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На выходе получаем знания, например, прогнозные значения.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F6C9A0-03E7-E9E8-AC8A-12EE777328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9568" y="1497093"/>
            <a:ext cx="5890222" cy="4168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563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71F205-E8A9-4237-8AD2-ABD9BF694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947" y="545336"/>
            <a:ext cx="9829800" cy="628284"/>
          </a:xfrm>
        </p:spPr>
        <p:txBody>
          <a:bodyPr anchor="b">
            <a:normAutofit/>
          </a:bodyPr>
          <a:lstStyle/>
          <a:p>
            <a:pPr algn="ctr"/>
            <a:r>
              <a:rPr lang="ru-RU" sz="3600" b="1" dirty="0">
                <a:solidFill>
                  <a:schemeClr val="tx2"/>
                </a:solidFill>
              </a:rPr>
              <a:t>Что такое </a:t>
            </a:r>
            <a:r>
              <a:rPr lang="en-US" sz="3600" b="1" dirty="0">
                <a:solidFill>
                  <a:schemeClr val="tx2"/>
                </a:solidFill>
              </a:rPr>
              <a:t>Data Mining?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A85DCCBC-E6CE-5F67-776B-7D4C7D3E578D}"/>
              </a:ext>
            </a:extLst>
          </p:cNvPr>
          <p:cNvSpPr txBox="1"/>
          <p:nvPr/>
        </p:nvSpPr>
        <p:spPr>
          <a:xfrm>
            <a:off x="737513" y="1788349"/>
            <a:ext cx="476319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18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 Mining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- мультидисциплинарная область, возникшая и развивающаяся на базе таких наук как прикладная статистика, распознавание образов, искусственный интеллект, теория </a:t>
            </a:r>
            <a:r>
              <a:rPr lang="ru-RU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баз данных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 др.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l"/>
            <a:r>
              <a:rPr lang="ru-RU" b="1" i="1" dirty="0">
                <a:latin typeface="Times New Roman" panose="02020603050405020304" pitchFamily="18" charset="0"/>
              </a:rPr>
              <a:t>Статистика</a:t>
            </a:r>
            <a:r>
              <a:rPr lang="ru-RU" sz="1800" b="1" i="0" u="none" strike="noStrike" baseline="0" dirty="0">
                <a:latin typeface="TimesNewRomanPS-BoldMT"/>
              </a:rPr>
              <a:t> </a:t>
            </a:r>
            <a:r>
              <a:rPr lang="ru-RU" sz="1800" b="0" i="0" u="none" strike="noStrike" baseline="0" dirty="0">
                <a:latin typeface="TimesNewRomanPSMT"/>
              </a:rPr>
              <a:t>является совокупностью методов планирования эксперимента, сбора данных,</a:t>
            </a:r>
            <a:r>
              <a:rPr lang="en-US" sz="1800" b="0" i="0" u="none" strike="noStrike" baseline="0" dirty="0">
                <a:latin typeface="TimesNewRomanPSMT"/>
              </a:rPr>
              <a:t> </a:t>
            </a:r>
            <a:r>
              <a:rPr lang="ru-RU" sz="1800" b="0" i="0" u="none" strike="noStrike" baseline="0" dirty="0">
                <a:latin typeface="TimesNewRomanPSMT"/>
              </a:rPr>
              <a:t>их представления и обобщения, а также анализа и получения выводов на основании этих</a:t>
            </a:r>
            <a:r>
              <a:rPr lang="en-US" sz="1800" b="0" i="0" u="none" strike="noStrike" baseline="0" dirty="0">
                <a:latin typeface="TimesNewRomanPSMT"/>
              </a:rPr>
              <a:t> </a:t>
            </a:r>
            <a:r>
              <a:rPr lang="ru-RU" sz="1800" b="0" i="0" u="none" strike="noStrike" baseline="0" dirty="0">
                <a:latin typeface="TimesNewRomanPSMT"/>
              </a:rPr>
              <a:t>данных.</a:t>
            </a:r>
          </a:p>
          <a:p>
            <a:pPr marL="0" marR="0"/>
            <a:r>
              <a:rPr lang="ru-RU" b="1" i="1" dirty="0">
                <a:latin typeface="Times New Roman" panose="02020603050405020304" pitchFamily="18" charset="0"/>
              </a:rPr>
              <a:t>Машинное</a:t>
            </a:r>
            <a:r>
              <a:rPr lang="ru-RU" sz="18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i="1" dirty="0">
                <a:latin typeface="Times New Roman" panose="02020603050405020304" pitchFamily="18" charset="0"/>
              </a:rPr>
              <a:t>обучение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</a:rPr>
              <a:t>(Machine Learning) </a:t>
            </a:r>
            <a:r>
              <a:rPr lang="ru-RU" dirty="0">
                <a:latin typeface="Times New Roman" panose="02020603050405020304" pitchFamily="18" charset="0"/>
              </a:rPr>
              <a:t>можно охарактеризовать как процесс получения программой новых знаний. Одним из наиболее популярных примеров алгоритма машинного обучения являются </a:t>
            </a:r>
            <a:r>
              <a:rPr lang="ru-RU" i="1" dirty="0">
                <a:latin typeface="Times New Roman" panose="02020603050405020304" pitchFamily="18" charset="0"/>
              </a:rPr>
              <a:t>нейронные сети</a:t>
            </a:r>
            <a:r>
              <a:rPr lang="ru-RU" dirty="0">
                <a:latin typeface="Times New Roman" panose="02020603050405020304" pitchFamily="18" charset="0"/>
              </a:rPr>
              <a:t>.</a:t>
            </a:r>
            <a:endParaRPr lang="LID4096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312815-FA09-2B13-00E1-EF884902D6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7916" y="1423464"/>
            <a:ext cx="5530981" cy="27122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1617E19-CC29-376F-4E04-14895DD9FF9F}"/>
              </a:ext>
            </a:extLst>
          </p:cNvPr>
          <p:cNvSpPr txBox="1"/>
          <p:nvPr/>
        </p:nvSpPr>
        <p:spPr>
          <a:xfrm>
            <a:off x="5813491" y="4511799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8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</a:t>
            </a:r>
            <a:r>
              <a:rPr lang="ru-RU" sz="18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скусственный</a:t>
            </a:r>
            <a:r>
              <a:rPr lang="ru-RU" sz="18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интеллект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(AI,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Artificial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Intelligence) толкуется как свойство автоматических систем брать на себя отдельные 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функции интеллекта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человека. Искусственным интеллектом называют свойство интеллектуальных систем выполнять творческие функции, которые традиционно считаются прерогативой человека.</a:t>
            </a:r>
            <a:endParaRPr lang="ru-RU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5721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71F205-E8A9-4237-8AD2-ABD9BF694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/>
              <a:t>Исторические предпосылки</a:t>
            </a:r>
          </a:p>
        </p:txBody>
      </p:sp>
      <p:sp>
        <p:nvSpPr>
          <p:cNvPr id="44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5DCCBC-E6CE-5F67-776B-7D4C7D3E578D}"/>
              </a:ext>
            </a:extLst>
          </p:cNvPr>
          <p:cNvSpPr txBox="1"/>
          <p:nvPr/>
        </p:nvSpPr>
        <p:spPr>
          <a:xfrm>
            <a:off x="572493" y="2071316"/>
            <a:ext cx="6713552" cy="41191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marR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>
                <a:effectLst/>
              </a:rPr>
              <a:t>1960-е гг. </a:t>
            </a:r>
            <a:r>
              <a:rPr lang="en-US" sz="1900">
                <a:effectLst/>
              </a:rPr>
              <a:t>В 1968 году была введена в эксплуатацию первая промышленная СУБД система IMS фирмы IBM.</a:t>
            </a:r>
          </a:p>
          <a:p>
            <a:pPr marL="0" marR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>
                <a:effectLst/>
              </a:rPr>
              <a:t>1970-е гг. </a:t>
            </a:r>
            <a:r>
              <a:rPr lang="en-US" sz="1900">
                <a:effectLst/>
              </a:rPr>
              <a:t>В 1975 году появился первый стандарт ассоциации по языкам систем обработки </a:t>
            </a:r>
            <a:r>
              <a:rPr lang="en-US" sz="1900" i="1">
                <a:effectLst/>
              </a:rPr>
              <a:t>данных</a:t>
            </a:r>
            <a:r>
              <a:rPr lang="en-US" sz="1900">
                <a:effectLst/>
              </a:rPr>
              <a:t> - CODASYL.</a:t>
            </a:r>
          </a:p>
          <a:p>
            <a:pPr marL="0" marR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>
                <a:effectLst/>
              </a:rPr>
              <a:t>1980-е гг. </a:t>
            </a:r>
            <a:r>
              <a:rPr lang="en-US" sz="1900">
                <a:effectLst/>
              </a:rPr>
              <a:t>Построение реляционных прототипов </a:t>
            </a:r>
            <a:r>
              <a:rPr lang="en-US" sz="1900" i="1">
                <a:effectLst/>
              </a:rPr>
              <a:t>баз данных</a:t>
            </a:r>
            <a:r>
              <a:rPr lang="en-US" sz="1900">
                <a:effectLst/>
              </a:rPr>
              <a:t> для более простого моделирования </a:t>
            </a:r>
            <a:r>
              <a:rPr lang="en-US" sz="1900" i="1"/>
              <a:t>данных</a:t>
            </a:r>
            <a:r>
              <a:rPr lang="en-US" sz="1900">
                <a:effectLst/>
              </a:rPr>
              <a:t>. В 1985 году был создан язык SQL. </a:t>
            </a:r>
          </a:p>
          <a:p>
            <a:pPr marL="0" marR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>
                <a:effectLst/>
              </a:rPr>
              <a:t>1990-е гг. </a:t>
            </a:r>
            <a:r>
              <a:rPr lang="en-US" sz="1900">
                <a:effectLst/>
              </a:rPr>
              <a:t>Появились специфичные типы </a:t>
            </a:r>
            <a:r>
              <a:rPr lang="en-US" sz="1900" i="1">
                <a:effectLst/>
              </a:rPr>
              <a:t>данных</a:t>
            </a:r>
            <a:r>
              <a:rPr lang="en-US" sz="1900">
                <a:effectLst/>
              </a:rPr>
              <a:t> - "графический образ", "документ", "звук", "карта". Типы </a:t>
            </a:r>
            <a:r>
              <a:rPr lang="en-US" sz="1900" i="1">
                <a:effectLst/>
              </a:rPr>
              <a:t>данных</a:t>
            </a:r>
            <a:r>
              <a:rPr lang="en-US" sz="1900">
                <a:effectLst/>
              </a:rPr>
              <a:t> для времени, интервалов времени, символьных строк с двухбайтовым представлением символов были добавлены в язык SQL. Появились технологии DataMining, хранилища </a:t>
            </a:r>
            <a:r>
              <a:rPr lang="en-US" sz="1900" i="1">
                <a:effectLst/>
              </a:rPr>
              <a:t>данных</a:t>
            </a:r>
            <a:r>
              <a:rPr lang="en-US" sz="1900">
                <a:effectLst/>
              </a:rPr>
              <a:t>, мультимедийные базы </a:t>
            </a:r>
            <a:r>
              <a:rPr lang="en-US" sz="1900" i="1">
                <a:effectLst/>
              </a:rPr>
              <a:t>данных</a:t>
            </a:r>
            <a:r>
              <a:rPr lang="en-US" sz="1900">
                <a:effectLst/>
              </a:rPr>
              <a:t> и web-базы </a:t>
            </a:r>
            <a:r>
              <a:rPr lang="en-US" sz="1900" i="1">
                <a:effectLst/>
              </a:rPr>
              <a:t>данных</a:t>
            </a:r>
            <a:r>
              <a:rPr lang="en-US" sz="1900">
                <a:effectLst/>
              </a:rPr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B68D84-7E59-729C-B966-7FEF5F12492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" b="3073"/>
          <a:stretch/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37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71F205-E8A9-4237-8AD2-ABD9BF694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947" y="545336"/>
            <a:ext cx="9829800" cy="628284"/>
          </a:xfrm>
        </p:spPr>
        <p:txBody>
          <a:bodyPr anchor="b">
            <a:normAutofit/>
          </a:bodyPr>
          <a:lstStyle/>
          <a:p>
            <a:pPr algn="ctr"/>
            <a:r>
              <a:rPr lang="ru-RU" sz="3600" b="1" dirty="0">
                <a:solidFill>
                  <a:schemeClr val="tx2"/>
                </a:solidFill>
              </a:rPr>
              <a:t>Определение </a:t>
            </a:r>
            <a:r>
              <a:rPr lang="en-US" sz="3600" b="1" dirty="0">
                <a:solidFill>
                  <a:schemeClr val="tx2"/>
                </a:solidFill>
              </a:rPr>
              <a:t>Data Mining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A85DCCBC-E6CE-5F67-776B-7D4C7D3E578D}"/>
              </a:ext>
            </a:extLst>
          </p:cNvPr>
          <p:cNvSpPr txBox="1"/>
          <p:nvPr/>
        </p:nvSpPr>
        <p:spPr>
          <a:xfrm>
            <a:off x="731521" y="1294504"/>
            <a:ext cx="1050544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Mining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это процесс поддержки принятия решений, основанный на поиске в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данных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скрытых 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закономерностей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18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шаблонов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информации).</a:t>
            </a:r>
          </a:p>
          <a:p>
            <a:endParaRPr lang="ru-RU" sz="1800" dirty="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Григорий </a:t>
            </a:r>
            <a:r>
              <a:rPr lang="ru-RU" dirty="0" err="1">
                <a:solidFill>
                  <a:srgbClr val="00000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Пиатецкий</a:t>
            </a: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-Шапиро  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(</a:t>
            </a:r>
            <a:r>
              <a:rPr lang="ru-RU" dirty="0" err="1">
                <a:solidFill>
                  <a:srgbClr val="00000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Gregory</a:t>
            </a: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Piatetsky-Shapiro</a:t>
            </a: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)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:</a:t>
            </a:r>
            <a:endParaRPr lang="LID4096" dirty="0">
              <a:solidFill>
                <a:srgbClr val="000000"/>
              </a:solidFill>
              <a:latin typeface="Verdana" panose="020B0604030504040204" pitchFamily="34" charset="0"/>
              <a:cs typeface="Times New Roman" panose="02020603050405020304" pitchFamily="18" charset="0"/>
            </a:endParaRPr>
          </a:p>
          <a:p>
            <a:endParaRPr lang="en-US" b="1" i="1" dirty="0">
              <a:solidFill>
                <a:srgbClr val="000000"/>
              </a:solidFill>
              <a:latin typeface="Verdana" panose="020B0604030504040204" pitchFamily="34" charset="0"/>
              <a:cs typeface="Times New Roman" panose="02020603050405020304" pitchFamily="18" charset="0"/>
            </a:endParaRPr>
          </a:p>
          <a:p>
            <a:r>
              <a:rPr lang="ru-RU" b="1" i="1" dirty="0">
                <a:solidFill>
                  <a:srgbClr val="00000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Data Mining </a:t>
            </a: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- это процесс обнаружения в сырых данных ранее неизвестных, нетривиальных, практически полезных и доступных интерпретации знаний, необходимых для принятия решений в различных сферах человеческой деятельности</a:t>
            </a:r>
            <a:endParaRPr lang="en-US" dirty="0">
              <a:solidFill>
                <a:srgbClr val="000000"/>
              </a:solidFill>
              <a:latin typeface="Verdana" panose="020B0604030504040204" pitchFamily="34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rgbClr val="000000"/>
              </a:solidFill>
              <a:latin typeface="Verdana" panose="020B0604030504040204" pitchFamily="34" charset="0"/>
              <a:cs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Неочевидных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 - это значит, что найденные закономерности не обнаруживаются стандартными методами обработки информации или экспертным путем. 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Объективных 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- это значит, что обнаруженные закономерности будут полностью соответствовать действительности, в отличие от экспертного мнения, которое всегда является субъективным. </a:t>
            </a:r>
            <a:r>
              <a:rPr lang="ru-RU" sz="1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Практически полезных 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- это значит, что выводы имеют конкретное значение, которому можно найти практическое применение. 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altLang="LID4096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Знания</a:t>
            </a:r>
            <a:r>
              <a:rPr lang="ru-RU" altLang="LID4096" sz="1800" dirty="0">
                <a:effectLst/>
              </a:rPr>
              <a:t> – совокупность сведений, которая образует целостное описание, соответствующее некоторому уровню осведомленности об описываемом вопросе, предмете, проблеме и т.д.</a:t>
            </a:r>
          </a:p>
        </p:txBody>
      </p:sp>
    </p:spTree>
    <p:extLst>
      <p:ext uri="{BB962C8B-B14F-4D97-AF65-F5344CB8AC3E}">
        <p14:creationId xmlns:p14="http://schemas.microsoft.com/office/powerpoint/2010/main" val="14325492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71F205-E8A9-4237-8AD2-ABD9BF694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947" y="333110"/>
            <a:ext cx="9829800" cy="628284"/>
          </a:xfrm>
        </p:spPr>
        <p:txBody>
          <a:bodyPr anchor="b">
            <a:normAutofit/>
          </a:bodyPr>
          <a:lstStyle/>
          <a:p>
            <a:pPr algn="ctr"/>
            <a:r>
              <a:rPr lang="ru-RU" sz="3600" b="1" dirty="0">
                <a:solidFill>
                  <a:schemeClr val="tx2"/>
                </a:solidFill>
              </a:rPr>
              <a:t>Определение </a:t>
            </a:r>
            <a:r>
              <a:rPr lang="en-US" sz="3600" b="1" dirty="0">
                <a:solidFill>
                  <a:schemeClr val="tx2"/>
                </a:solidFill>
              </a:rPr>
              <a:t>Data Mining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A85DCCBC-E6CE-5F67-776B-7D4C7D3E578D}"/>
              </a:ext>
            </a:extLst>
          </p:cNvPr>
          <p:cNvSpPr txBox="1"/>
          <p:nvPr/>
        </p:nvSpPr>
        <p:spPr>
          <a:xfrm>
            <a:off x="680204" y="961394"/>
            <a:ext cx="10831285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1900" b="0" i="0" u="none" strike="noStrike" baseline="0" dirty="0">
                <a:latin typeface="TimesNewRomanPSMT"/>
              </a:rPr>
              <a:t>Еще несколько определений понятия Data Mining.</a:t>
            </a:r>
          </a:p>
          <a:p>
            <a:pPr algn="l"/>
            <a:r>
              <a:rPr lang="ru-RU" sz="1900" b="1" i="0" u="none" strike="noStrike" baseline="0" dirty="0">
                <a:latin typeface="TimesNewRomanPSMT"/>
              </a:rPr>
              <a:t>Data Mining </a:t>
            </a:r>
            <a:r>
              <a:rPr lang="ru-RU" sz="1900" b="0" i="0" u="none" strike="noStrike" baseline="0" dirty="0">
                <a:latin typeface="TimesNewRomanPSMT"/>
              </a:rPr>
              <a:t>- это процесс выделения из данных неявной и неструктурированной информации и представления ее в виде, пригодном для использования.</a:t>
            </a:r>
          </a:p>
          <a:p>
            <a:pPr algn="l"/>
            <a:r>
              <a:rPr lang="ru-RU" sz="1900" b="1" i="0" u="none" strike="noStrike" baseline="0" dirty="0">
                <a:latin typeface="TimesNewRomanPSMT"/>
              </a:rPr>
              <a:t>Data Mining </a:t>
            </a:r>
            <a:r>
              <a:rPr lang="ru-RU" sz="1900" b="0" i="0" u="none" strike="noStrike" baseline="0" dirty="0">
                <a:latin typeface="TimesNewRomanPSMT"/>
              </a:rPr>
              <a:t>- это процесс выделения, исследования и моделирования больших объемов данных для обнаружения неизвестных до этого структур (</a:t>
            </a:r>
            <a:r>
              <a:rPr lang="ru-RU" sz="1900" b="0" i="0" u="none" strike="noStrike" baseline="0" dirty="0" err="1">
                <a:latin typeface="TimesNewRomanPSMT"/>
              </a:rPr>
              <a:t>patterns</a:t>
            </a:r>
            <a:r>
              <a:rPr lang="ru-RU" sz="1900" b="0" i="0" u="none" strike="noStrike" baseline="0" dirty="0">
                <a:latin typeface="TimesNewRomanPSMT"/>
              </a:rPr>
              <a:t>) с целью достижения преимуществ в бизнесе (определение SAS Institute).</a:t>
            </a:r>
          </a:p>
          <a:p>
            <a:pPr algn="l"/>
            <a:r>
              <a:rPr lang="ru-RU" sz="1900" b="1" i="0" u="none" strike="noStrike" baseline="0" dirty="0">
                <a:latin typeface="TimesNewRomanPSMT"/>
              </a:rPr>
              <a:t>Data Mining </a:t>
            </a:r>
            <a:r>
              <a:rPr lang="ru-RU" sz="1900" b="0" i="0" u="none" strike="noStrike" baseline="0" dirty="0">
                <a:latin typeface="TimesNewRomanPSMT"/>
              </a:rPr>
              <a:t>- это процесс, цель которого - обнаружить новые значимые корреляции, образцы и тенденции в результате просеивания большого объема хранимых данных с использованием методик распознавания образцов плюс применение статистических и математических методов (определение Gartner Group).</a:t>
            </a:r>
          </a:p>
          <a:p>
            <a:pPr algn="l"/>
            <a:endParaRPr lang="ru-RU" sz="1900" b="0" i="0" u="none" strike="noStrike" baseline="0" dirty="0">
              <a:latin typeface="TimesNewRomanPSMT"/>
            </a:endParaRPr>
          </a:p>
          <a:p>
            <a:pPr algn="l"/>
            <a:r>
              <a:rPr lang="ru-RU" sz="1900" b="0" i="0" u="none" strike="noStrike" baseline="0" dirty="0">
                <a:latin typeface="TimesNewRomanPSMT"/>
              </a:rPr>
              <a:t>В основу технологии Data Mining положена концепция шаблонов (</a:t>
            </a:r>
            <a:r>
              <a:rPr lang="ru-RU" sz="1900" b="0" i="0" u="none" strike="noStrike" baseline="0" dirty="0" err="1">
                <a:latin typeface="TimesNewRomanPSMT"/>
              </a:rPr>
              <a:t>patterns</a:t>
            </a:r>
            <a:r>
              <a:rPr lang="ru-RU" sz="1900" b="0" i="0" u="none" strike="noStrike" baseline="0" dirty="0">
                <a:latin typeface="TimesNewRomanPSMT"/>
              </a:rPr>
              <a:t>), которые представляют собой закономерности, свойственные </a:t>
            </a:r>
            <a:r>
              <a:rPr lang="ru-RU" sz="1900" b="0" i="0" u="none" strike="noStrike" baseline="0" dirty="0" err="1">
                <a:latin typeface="TimesNewRomanPSMT"/>
              </a:rPr>
              <a:t>подвыборкам</a:t>
            </a:r>
            <a:r>
              <a:rPr lang="ru-RU" sz="1900" b="0" i="0" u="none" strike="noStrike" baseline="0" dirty="0">
                <a:latin typeface="TimesNewRomanPSMT"/>
              </a:rPr>
              <a:t> данных, которые могут быть выражены в форме, понятной человеку.</a:t>
            </a:r>
          </a:p>
          <a:p>
            <a:pPr algn="l"/>
            <a:r>
              <a:rPr lang="ru-RU" sz="1900" b="0" i="0" u="none" strike="noStrike" baseline="0" dirty="0">
                <a:latin typeface="TimesNewRomanPSMT"/>
              </a:rPr>
              <a:t>"Mining" по-английски означает "добыча полезных ископаемых", а поиск закономерностей в огромном количестве данных действительно сродни этому процессу.</a:t>
            </a:r>
          </a:p>
          <a:p>
            <a:pPr algn="l"/>
            <a:r>
              <a:rPr lang="ru-RU" sz="1900" b="0" i="0" u="none" strike="noStrike" baseline="0" dirty="0">
                <a:latin typeface="TimesNewRomanPSMT"/>
              </a:rPr>
              <a:t>Цель поиска закономерностей - представление данных в виде, отражающем искомые процессы. Построение моделей прогнозирования также является целью поиска закономерностей.</a:t>
            </a:r>
            <a:endParaRPr lang="ru-RU" sz="1900" dirty="0">
              <a:solidFill>
                <a:srgbClr val="000000"/>
              </a:solidFill>
              <a:latin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47690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6934356"/>
              </p:ext>
            </p:extLst>
          </p:nvPr>
        </p:nvGraphicFramePr>
        <p:xfrm>
          <a:off x="742486" y="851623"/>
          <a:ext cx="10837126" cy="29449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18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185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622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Statistics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 err="1">
                          <a:effectLst/>
                        </a:rPr>
                        <a:t>Data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Mining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F4DE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0707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effectLst/>
                        </a:rPr>
                        <a:t>Каковы средние показатели травматизма для курящих и некурящих?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effectLst/>
                        </a:rPr>
                        <a:t>Встречаются ли точные шаблоны в описаниях людей, подверженных повышенному травматизму?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rgbClr val="F4DE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0707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effectLst/>
                        </a:rPr>
                        <a:t>Каковы средние размеры телефонных счетов существующих клиентов в сравнении со счетами бывших клиентов (отказавшихся от услуг телефонной компании)?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effectLst/>
                        </a:rPr>
                        <a:t>Имеются ли характерные черты клиентов, которые, по всей вероятности, собираются отказаться от услуг телефонной компании?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F4DE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0707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effectLst/>
                        </a:rPr>
                        <a:t>Какова средняя величина ежедневных покупок по украденной и не украденной кредитной карточке?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effectLst/>
                        </a:rPr>
                        <a:t>Существуют ли стереотипные схемы покупок для случаев мошенничества с кредитными карточками?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F4DE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Прямоугольник 4"/>
          <p:cNvSpPr/>
          <p:nvPr/>
        </p:nvSpPr>
        <p:spPr>
          <a:xfrm>
            <a:off x="1170879" y="239971"/>
            <a:ext cx="99803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Примеры</a:t>
            </a:r>
            <a:r>
              <a:rPr lang="uk-UA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формулировок</a:t>
            </a:r>
            <a:r>
              <a:rPr lang="uk-UA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задач при </a:t>
            </a:r>
            <a:r>
              <a:rPr lang="uk-UA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использовании</a:t>
            </a:r>
            <a:r>
              <a:rPr lang="uk-UA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методов</a:t>
            </a:r>
            <a:r>
              <a:rPr lang="uk-UA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OLAP и </a:t>
            </a:r>
            <a:r>
              <a:rPr lang="uk-UA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</a:t>
            </a:r>
            <a:r>
              <a:rPr lang="uk-UA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Mining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695093" y="4525402"/>
            <a:ext cx="1045612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uk-UA" sz="1600" noProof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Важное положение Data Mining — нетривиальность разыскиваемых шаблонов. Это означает, что найденные шаблоны должны отражать неочевидные, неожиданные (unexpected) регулярности в данных, составляющие так называемые скрытые знания (hidden knowledge). Таким образом пришло понимание, что сырые данные (raw data) содержат глубинный пласт знаний, при грамотной раскопке которого могут быть обнаружены настоящие самородки.</a:t>
            </a:r>
            <a:endParaRPr lang="uk-UA" sz="1600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83729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Rectangle 2">
            <a:extLst>
              <a:ext uri="{FF2B5EF4-FFF2-40B4-BE49-F238E27FC236}">
                <a16:creationId xmlns:a16="http://schemas.microsoft.com/office/drawing/2014/main" id="{CBAC5C09-7E4B-2B7C-EDC8-B609D38FA0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1885" y="1067599"/>
            <a:ext cx="11169568" cy="5184775"/>
          </a:xfrm>
        </p:spPr>
        <p:txBody>
          <a:bodyPr/>
          <a:lstStyle/>
          <a:p>
            <a:pPr eaLnBrk="1" hangingPunct="1">
              <a:defRPr/>
            </a:pPr>
            <a:r>
              <a:rPr lang="ru-RU" sz="2000" b="1" u="sng" dirty="0"/>
              <a:t>Прогноз</a:t>
            </a:r>
            <a:r>
              <a:rPr lang="ru-RU" sz="2000" dirty="0"/>
              <a:t>: оценка продаж, прогнозирование нагрузки сервера или времени простоя сервера</a:t>
            </a:r>
          </a:p>
          <a:p>
            <a:pPr eaLnBrk="1" hangingPunct="1">
              <a:defRPr/>
            </a:pPr>
            <a:endParaRPr lang="ru-RU" sz="2000" dirty="0"/>
          </a:p>
          <a:p>
            <a:pPr eaLnBrk="1" hangingPunct="1">
              <a:defRPr/>
            </a:pPr>
            <a:endParaRPr lang="ru-RU" sz="2000" dirty="0"/>
          </a:p>
          <a:p>
            <a:pPr eaLnBrk="1" hangingPunct="1">
              <a:defRPr/>
            </a:pPr>
            <a:endParaRPr lang="ru-RU" sz="2000" dirty="0"/>
          </a:p>
          <a:p>
            <a:pPr eaLnBrk="1" hangingPunct="1">
              <a:defRPr/>
            </a:pPr>
            <a:endParaRPr lang="ru-RU" sz="2000" dirty="0"/>
          </a:p>
          <a:p>
            <a:pPr eaLnBrk="1" hangingPunct="1">
              <a:defRPr/>
            </a:pPr>
            <a:endParaRPr lang="ru-RU" sz="2000" dirty="0"/>
          </a:p>
          <a:p>
            <a:pPr eaLnBrk="1" hangingPunct="1">
              <a:defRPr/>
            </a:pPr>
            <a:r>
              <a:rPr lang="ru-RU" sz="2000" b="1" u="sng" dirty="0"/>
              <a:t>Риски и вероятности</a:t>
            </a:r>
            <a:r>
              <a:rPr lang="ru-RU" sz="2000" dirty="0"/>
              <a:t>: выбор наиболее подходящих заказчиков для целевой рассылки, определение точки равновесия для рискованных сценариев, назначение вероятностей диагнозам или другим результатам</a:t>
            </a:r>
          </a:p>
          <a:p>
            <a:pPr eaLnBrk="1" hangingPunct="1">
              <a:defRPr/>
            </a:pPr>
            <a:endParaRPr lang="ru-RU" sz="2000" dirty="0"/>
          </a:p>
          <a:p>
            <a:pPr algn="ctr" eaLnBrk="1" hangingPunct="1">
              <a:buFont typeface="Wingdings" panose="05000000000000000000" pitchFamily="2" charset="2"/>
              <a:buNone/>
              <a:defRPr/>
            </a:pPr>
            <a:endParaRPr lang="ru-RU" altLang="ru-RU" sz="2400" dirty="0"/>
          </a:p>
        </p:txBody>
      </p:sp>
      <p:pic>
        <p:nvPicPr>
          <p:cNvPr id="6147" name="Picture 4">
            <a:extLst>
              <a:ext uri="{FF2B5EF4-FFF2-40B4-BE49-F238E27FC236}">
                <a16:creationId xmlns:a16="http://schemas.microsoft.com/office/drawing/2014/main" id="{AE639269-034F-00C0-F302-8D4375DA7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2771" y="1537824"/>
            <a:ext cx="2232025" cy="167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5">
            <a:extLst>
              <a:ext uri="{FF2B5EF4-FFF2-40B4-BE49-F238E27FC236}">
                <a16:creationId xmlns:a16="http://schemas.microsoft.com/office/drawing/2014/main" id="{33D96480-9392-0170-E7E5-AB14076311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9187" y="1618847"/>
            <a:ext cx="2376488" cy="169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9" name="Picture 6">
            <a:extLst>
              <a:ext uri="{FF2B5EF4-FFF2-40B4-BE49-F238E27FC236}">
                <a16:creationId xmlns:a16="http://schemas.microsoft.com/office/drawing/2014/main" id="{7A6071E9-E45E-8DBD-F985-BBACF63A83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3025" y="4526363"/>
            <a:ext cx="2497138" cy="187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0" name="Picture 8" descr="https://encrypted-tbn2.gstatic.com/images?q=tbn:ANd9GcSugiXkIlHbVHb4aYpPReikJ5f_yP-MUWZxANjNNUx09tcGB2E6">
            <a:extLst>
              <a:ext uri="{FF2B5EF4-FFF2-40B4-BE49-F238E27FC236}">
                <a16:creationId xmlns:a16="http://schemas.microsoft.com/office/drawing/2014/main" id="{C9AD5BF0-8ED7-C5ED-F74C-A2B0DE5550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7221" y="4536881"/>
            <a:ext cx="2122488" cy="189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Прямоугольник 4">
            <a:extLst>
              <a:ext uri="{FF2B5EF4-FFF2-40B4-BE49-F238E27FC236}">
                <a16:creationId xmlns:a16="http://schemas.microsoft.com/office/drawing/2014/main" id="{6F344A8F-B7E0-7CDF-C248-E2478BCCFCE3}"/>
              </a:ext>
            </a:extLst>
          </p:cNvPr>
          <p:cNvSpPr/>
          <p:nvPr/>
        </p:nvSpPr>
        <p:spPr>
          <a:xfrm>
            <a:off x="1170879" y="239971"/>
            <a:ext cx="99803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Модели интеллектуального анализа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889A00-BA15-9D43-A66A-9EE762F8EF1D}"/>
              </a:ext>
            </a:extLst>
          </p:cNvPr>
          <p:cNvSpPr txBox="1"/>
          <p:nvPr/>
        </p:nvSpPr>
        <p:spPr>
          <a:xfrm>
            <a:off x="1170879" y="605626"/>
            <a:ext cx="99803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/>
              <a:t>Модели интеллектуального анализа данных могут применяться к конкретным сценариям:</a:t>
            </a:r>
            <a:endParaRPr lang="LID4096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8" name="Rectangle 2">
            <a:extLst>
              <a:ext uri="{FF2B5EF4-FFF2-40B4-BE49-F238E27FC236}">
                <a16:creationId xmlns:a16="http://schemas.microsoft.com/office/drawing/2014/main" id="{E04093D4-F774-7856-F870-F4535FAE2A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87078" y="798653"/>
            <a:ext cx="10509813" cy="5914884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2400" dirty="0"/>
              <a:t> </a:t>
            </a:r>
            <a:r>
              <a:rPr lang="ru-RU" sz="2000" b="1" u="sng" dirty="0"/>
              <a:t>Рекомендации</a:t>
            </a:r>
            <a:r>
              <a:rPr lang="ru-RU" sz="2000" dirty="0"/>
              <a:t>: определение продуктов, которые с высокой долей вероятности могут быть проданы вместе, создание рекомендаций</a:t>
            </a:r>
          </a:p>
          <a:p>
            <a:pPr eaLnBrk="1" hangingPunct="1">
              <a:defRPr/>
            </a:pPr>
            <a:endParaRPr lang="ru-RU" sz="2000" dirty="0"/>
          </a:p>
          <a:p>
            <a:pPr eaLnBrk="1" hangingPunct="1">
              <a:defRPr/>
            </a:pPr>
            <a:endParaRPr lang="ru-RU" sz="2000" dirty="0"/>
          </a:p>
          <a:p>
            <a:pPr eaLnBrk="1" hangingPunct="1">
              <a:defRPr/>
            </a:pPr>
            <a:endParaRPr lang="ru-RU" sz="2000" dirty="0"/>
          </a:p>
          <a:p>
            <a:pPr eaLnBrk="1" hangingPunct="1">
              <a:defRPr/>
            </a:pPr>
            <a:endParaRPr lang="ru-RU" sz="2000" dirty="0"/>
          </a:p>
          <a:p>
            <a:pPr eaLnBrk="1" hangingPunct="1">
              <a:defRPr/>
            </a:pPr>
            <a:endParaRPr lang="ru-RU" sz="2000" dirty="0"/>
          </a:p>
          <a:p>
            <a:pPr marL="0" indent="0" eaLnBrk="1" hangingPunct="1">
              <a:buNone/>
              <a:defRPr/>
            </a:pPr>
            <a:r>
              <a:rPr lang="ru-RU" sz="2000" b="1" u="sng" dirty="0"/>
              <a:t>Определение</a:t>
            </a:r>
            <a:r>
              <a:rPr lang="ru-RU" sz="2000" b="1" dirty="0"/>
              <a:t> </a:t>
            </a:r>
            <a:r>
              <a:rPr lang="ru-RU" sz="2000" b="1" u="sng" dirty="0"/>
              <a:t>последовательностей</a:t>
            </a:r>
            <a:r>
              <a:rPr lang="ru-RU" sz="2000" dirty="0"/>
              <a:t>: анализ выбора заказчиков во время совершения покупок, прогнозирование следующего возможного события</a:t>
            </a:r>
          </a:p>
          <a:p>
            <a:pPr eaLnBrk="1" hangingPunct="1">
              <a:defRPr/>
            </a:pPr>
            <a:endParaRPr lang="ru-RU" sz="2000" dirty="0"/>
          </a:p>
          <a:p>
            <a:pPr marL="0" indent="0" eaLnBrk="1" hangingPunct="1">
              <a:buNone/>
              <a:defRPr/>
            </a:pPr>
            <a:endParaRPr lang="ru-RU" sz="2000" dirty="0"/>
          </a:p>
          <a:p>
            <a:pPr marL="0" indent="0" eaLnBrk="1" hangingPunct="1">
              <a:buNone/>
              <a:defRPr/>
            </a:pPr>
            <a:endParaRPr lang="ru-RU" sz="2000" dirty="0"/>
          </a:p>
          <a:p>
            <a:pPr eaLnBrk="1" hangingPunct="1">
              <a:defRPr/>
            </a:pPr>
            <a:endParaRPr lang="ru-RU" sz="2000" dirty="0"/>
          </a:p>
          <a:p>
            <a:pPr marL="0" indent="0" eaLnBrk="1" hangingPunct="1">
              <a:buNone/>
              <a:defRPr/>
            </a:pPr>
            <a:r>
              <a:rPr lang="ru-RU" sz="2000" b="1" u="sng" dirty="0"/>
              <a:t>Группирование</a:t>
            </a:r>
            <a:r>
              <a:rPr lang="ru-RU" sz="2000" dirty="0"/>
              <a:t>: разделение заказчиков или событий на кластеры связанных элементов, анализ и прогнозирование общих черт</a:t>
            </a:r>
          </a:p>
        </p:txBody>
      </p:sp>
      <p:pic>
        <p:nvPicPr>
          <p:cNvPr id="7171" name="Picture 1">
            <a:extLst>
              <a:ext uri="{FF2B5EF4-FFF2-40B4-BE49-F238E27FC236}">
                <a16:creationId xmlns:a16="http://schemas.microsoft.com/office/drawing/2014/main" id="{CA9FED01-F402-796B-0165-E9607A0295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088" y="1571626"/>
            <a:ext cx="2305050" cy="153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25A89B2C-3323-AC61-6281-935AA54F83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6413" y="1571626"/>
            <a:ext cx="2800350" cy="162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6" descr="https://cs7053.vk.me/c624830/v624830789/4893/OwQYSmLrpDU.jpg">
            <a:extLst>
              <a:ext uri="{FF2B5EF4-FFF2-40B4-BE49-F238E27FC236}">
                <a16:creationId xmlns:a16="http://schemas.microsoft.com/office/drawing/2014/main" id="{173480E1-4B71-57EF-4FC0-C02A2EE875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9050" y="4159250"/>
            <a:ext cx="1866900" cy="159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Прямоугольник 4">
            <a:extLst>
              <a:ext uri="{FF2B5EF4-FFF2-40B4-BE49-F238E27FC236}">
                <a16:creationId xmlns:a16="http://schemas.microsoft.com/office/drawing/2014/main" id="{79AB5D7F-D511-DB43-4378-1891194AA1EB}"/>
              </a:ext>
            </a:extLst>
          </p:cNvPr>
          <p:cNvSpPr/>
          <p:nvPr/>
        </p:nvSpPr>
        <p:spPr>
          <a:xfrm>
            <a:off x="1170879" y="239971"/>
            <a:ext cx="99803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Модели интеллектуального анализа</a:t>
            </a:r>
            <a:endParaRPr lang="ru-RU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71F205-E8A9-4237-8AD2-ABD9BF694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947" y="333110"/>
            <a:ext cx="9829800" cy="628284"/>
          </a:xfrm>
        </p:spPr>
        <p:txBody>
          <a:bodyPr anchor="b">
            <a:normAutofit/>
          </a:bodyPr>
          <a:lstStyle/>
          <a:p>
            <a:pPr algn="ctr"/>
            <a:r>
              <a:rPr lang="ru-RU" sz="3600" b="1">
                <a:solidFill>
                  <a:schemeClr val="tx2"/>
                </a:solidFill>
              </a:rPr>
              <a:t>Инструменты </a:t>
            </a:r>
            <a:r>
              <a:rPr lang="en-US" sz="3600" b="1">
                <a:solidFill>
                  <a:schemeClr val="tx2"/>
                </a:solidFill>
              </a:rPr>
              <a:t>Data Mining</a:t>
            </a:r>
            <a:endParaRPr lang="en-US" sz="3600" b="1" dirty="0">
              <a:solidFill>
                <a:schemeClr val="tx2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768F7417-DB54-EE50-442A-3A975D9413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3086" y="950477"/>
            <a:ext cx="4628135" cy="193720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8970F74-7FEE-A14C-3BD6-94DA1C931C92}"/>
              </a:ext>
            </a:extLst>
          </p:cNvPr>
          <p:cNvSpPr txBox="1"/>
          <p:nvPr/>
        </p:nvSpPr>
        <p:spPr>
          <a:xfrm>
            <a:off x="816727" y="1209178"/>
            <a:ext cx="556588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Инструменты Data Mining</a:t>
            </a:r>
            <a:r>
              <a:rPr lang="ru-RU" sz="1600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 - это наборы программных средств, с помощью которых выполняется подготовка данных и обеспечиваются алгоритмы их интеллектуального анализа, а также осуществляются процессы машинного обучения.</a:t>
            </a:r>
            <a:endParaRPr lang="LID4096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77E737-0D7F-22E5-F905-EBE008EA62B3}"/>
              </a:ext>
            </a:extLst>
          </p:cNvPr>
          <p:cNvSpPr txBox="1"/>
          <p:nvPr/>
        </p:nvSpPr>
        <p:spPr>
          <a:xfrm>
            <a:off x="528536" y="2968098"/>
            <a:ext cx="1084548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1600" b="1" i="1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Python</a:t>
            </a:r>
            <a:r>
              <a:rPr lang="ru-RU" sz="1600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- язык программирования, имеющий много полезных для Data Mining. К ним относятся </a:t>
            </a:r>
            <a:r>
              <a:rPr lang="ru-RU" sz="1600" b="0" i="0" dirty="0" err="1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Pandas</a:t>
            </a:r>
            <a:r>
              <a:rPr lang="ru-RU" sz="1600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отвечающая за обработку данных, </a:t>
            </a:r>
            <a:r>
              <a:rPr lang="ru-RU" sz="1600" b="0" i="0" dirty="0" err="1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Numphy</a:t>
            </a:r>
            <a:r>
              <a:rPr lang="ru-RU" sz="1600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работающая с матрицами, </a:t>
            </a:r>
            <a:r>
              <a:rPr lang="ru-RU" sz="1600" b="0" i="0" dirty="0" err="1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Sklearn</a:t>
            </a:r>
            <a:r>
              <a:rPr lang="ru-RU" sz="1600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 и </a:t>
            </a:r>
            <a:r>
              <a:rPr lang="ru-RU" sz="1600" b="0" i="0" dirty="0" err="1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Pybrain</a:t>
            </a:r>
            <a:r>
              <a:rPr lang="ru-RU" sz="1600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используемые в алгоритмах машинного обучения, </a:t>
            </a:r>
            <a:r>
              <a:rPr lang="ru-RU" sz="1600" b="0" i="0" dirty="0" err="1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Statsmodels</a:t>
            </a:r>
            <a:r>
              <a:rPr lang="ru-RU" sz="1600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содержащая основные статистические функции и модели, </a:t>
            </a:r>
            <a:r>
              <a:rPr lang="ru-RU" sz="1600" b="0" i="0" dirty="0" err="1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Matplotlib</a:t>
            </a:r>
            <a:r>
              <a:rPr lang="ru-RU" sz="1600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позволяющая визуализировать результаты обработки данных;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1" i="1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</a:t>
            </a:r>
            <a:r>
              <a:rPr lang="ru-RU" sz="1600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- язык программирования и программная среда, специализированные для статистической обработки данных, машинного обучения и работы с графиками;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1" i="1" dirty="0" err="1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Weka</a:t>
            </a:r>
            <a:r>
              <a:rPr lang="ru-RU" sz="1600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- комплекс алгоритмов и инструментов для анализа данных и построения прогностических моделей. Он характеризуется удобством интерфейса, возможностью предварительной очистки данных, поддерживает различные алгоритмы машинного обучения, выводит результаты работы в удобной форме и позволяет сравнивать их точность, представляет ход обработки данных в виде схем взаимосвязей;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1" i="1" dirty="0" err="1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Rapidminer</a:t>
            </a:r>
            <a:r>
              <a:rPr lang="ru-RU" sz="1600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- инструмент для решения задач, связанных с преобразованиями данных, статистическим анализом, машинным обучением и визуализацией результатов.</a:t>
            </a:r>
          </a:p>
        </p:txBody>
      </p:sp>
    </p:spTree>
    <p:extLst>
      <p:ext uri="{BB962C8B-B14F-4D97-AF65-F5344CB8AC3E}">
        <p14:creationId xmlns:p14="http://schemas.microsoft.com/office/powerpoint/2010/main" val="2138475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71F205-E8A9-4237-8AD2-ABD9BF694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947" y="333110"/>
            <a:ext cx="9829800" cy="628284"/>
          </a:xfrm>
        </p:spPr>
        <p:txBody>
          <a:bodyPr anchor="b">
            <a:normAutofit/>
          </a:bodyPr>
          <a:lstStyle/>
          <a:p>
            <a:pPr algn="ctr"/>
            <a:r>
              <a:rPr lang="ru-RU" sz="3600" b="1" dirty="0">
                <a:solidFill>
                  <a:schemeClr val="tx2"/>
                </a:solidFill>
              </a:rPr>
              <a:t>Области применения </a:t>
            </a:r>
            <a:r>
              <a:rPr lang="en-US" sz="3600" b="1" dirty="0">
                <a:solidFill>
                  <a:schemeClr val="tx2"/>
                </a:solidFill>
              </a:rPr>
              <a:t>Data Mining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A85DCCBC-E6CE-5F67-776B-7D4C7D3E578D}"/>
              </a:ext>
            </a:extLst>
          </p:cNvPr>
          <p:cNvSpPr txBox="1"/>
          <p:nvPr/>
        </p:nvSpPr>
        <p:spPr>
          <a:xfrm>
            <a:off x="680205" y="961394"/>
            <a:ext cx="3640984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altLang="LID4096" sz="1900" dirty="0">
                <a:latin typeface="TimesNewRomanPSMT"/>
              </a:rPr>
              <a:t>Особенности  областей, где применение технологии Data Mining будет успешным:</a:t>
            </a:r>
            <a:endParaRPr lang="ru-RU" sz="1900" b="0" i="0" u="none" strike="noStrike" baseline="0" dirty="0">
              <a:latin typeface="TimesNewRomanPSMT"/>
            </a:endParaRPr>
          </a:p>
        </p:txBody>
      </p:sp>
      <p:pic>
        <p:nvPicPr>
          <p:cNvPr id="3" name="Picture 5">
            <a:extLst>
              <a:ext uri="{FF2B5EF4-FFF2-40B4-BE49-F238E27FC236}">
                <a16:creationId xmlns:a16="http://schemas.microsoft.com/office/drawing/2014/main" id="{45365653-BE43-528C-8554-7E00901ADA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5967" y="934255"/>
            <a:ext cx="7704137" cy="541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C196CF1-CED2-1C55-09F1-85FF4D20CB24}"/>
              </a:ext>
            </a:extLst>
          </p:cNvPr>
          <p:cNvSpPr txBox="1"/>
          <p:nvPr/>
        </p:nvSpPr>
        <p:spPr>
          <a:xfrm>
            <a:off x="497840" y="2520474"/>
            <a:ext cx="370653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altLang="LID4096" sz="1800" dirty="0">
                <a:solidFill>
                  <a:srgbClr val="37385B"/>
                </a:solidFill>
              </a:rPr>
              <a:t>требуют решений, основанных на знаниях;</a:t>
            </a:r>
          </a:p>
          <a:p>
            <a:pPr algn="just">
              <a:buFont typeface="Wingdings" panose="05000000000000000000" pitchFamily="2" charset="2"/>
              <a:buNone/>
            </a:pPr>
            <a:endParaRPr lang="ru-RU" altLang="LID4096" sz="1800" dirty="0">
              <a:solidFill>
                <a:srgbClr val="37385B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altLang="LID4096" sz="1800" dirty="0">
                <a:solidFill>
                  <a:srgbClr val="37385B"/>
                </a:solidFill>
              </a:rPr>
              <a:t>имеют изменяющуюся окружающую среду;</a:t>
            </a:r>
          </a:p>
          <a:p>
            <a:pPr algn="just">
              <a:buFont typeface="Wingdings" panose="05000000000000000000" pitchFamily="2" charset="2"/>
              <a:buNone/>
            </a:pPr>
            <a:endParaRPr lang="ru-RU" altLang="LID4096" sz="1800" dirty="0">
              <a:solidFill>
                <a:srgbClr val="37385B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altLang="LID4096" sz="1800" dirty="0">
                <a:solidFill>
                  <a:srgbClr val="37385B"/>
                </a:solidFill>
              </a:rPr>
              <a:t>имеют доступные, достаточные и значимые данные;</a:t>
            </a:r>
          </a:p>
          <a:p>
            <a:pPr algn="just">
              <a:buFont typeface="Wingdings" panose="05000000000000000000" pitchFamily="2" charset="2"/>
              <a:buNone/>
            </a:pPr>
            <a:endParaRPr lang="ru-RU" altLang="LID4096" sz="1800" dirty="0">
              <a:solidFill>
                <a:srgbClr val="37385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4087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71F205-E8A9-4237-8AD2-ABD9BF694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03425"/>
            <a:ext cx="4368602" cy="195684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200" b="1"/>
              <a:t>Недостатки технологии Data Mining</a:t>
            </a:r>
          </a:p>
        </p:txBody>
      </p:sp>
      <p:sp>
        <p:nvSpPr>
          <p:cNvPr id="44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196CF1-CED2-1C55-09F1-85FF4D20CB24}"/>
              </a:ext>
            </a:extLst>
          </p:cNvPr>
          <p:cNvSpPr txBox="1"/>
          <p:nvPr/>
        </p:nvSpPr>
        <p:spPr>
          <a:xfrm>
            <a:off x="640080" y="2872899"/>
            <a:ext cx="4243589" cy="33206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altLang="LID4096" sz="1700" dirty="0"/>
              <a:t>Data Mining не может заменить аналитика;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altLang="LID4096" sz="1700" dirty="0"/>
              <a:t>Сложность разработки и эксплуатации приложения Data Mining;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altLang="LID4096" sz="1700" dirty="0"/>
              <a:t>Требует определенной квалификации пользователя;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altLang="LID4096" sz="1700" dirty="0"/>
              <a:t>Сложность подготовки данных;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altLang="LID4096" sz="1700" dirty="0"/>
              <a:t>Большой процент ложных, недостоверных или бессмысленных результатов;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altLang="LID4096" sz="1700" dirty="0"/>
              <a:t>Высокая стоимость.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LID4096" sz="17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8FE5CD-18C1-5177-D3E4-36F894A0855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563" r="18487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3498462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71F205-E8A9-4237-8AD2-ABD9BF694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dirty="0" err="1"/>
              <a:t>Модели</a:t>
            </a:r>
            <a:r>
              <a:rPr lang="en-US" sz="4000" b="1" dirty="0"/>
              <a:t> Data Mining</a:t>
            </a: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7" name="Rectangle 76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196CF1-CED2-1C55-09F1-85FF4D20CB24}"/>
              </a:ext>
            </a:extLst>
          </p:cNvPr>
          <p:cNvSpPr txBox="1"/>
          <p:nvPr/>
        </p:nvSpPr>
        <p:spPr>
          <a:xfrm>
            <a:off x="590719" y="2330505"/>
            <a:ext cx="4559425" cy="39795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altLang="LID4096" sz="2000" dirty="0"/>
              <a:t>Ассоциация (а</a:t>
            </a:r>
            <a:r>
              <a:rPr lang="en-US" altLang="LID4096" sz="2000" dirty="0" err="1"/>
              <a:t>ссоциативные</a:t>
            </a:r>
            <a:r>
              <a:rPr lang="en-US" altLang="LID4096" sz="2000" dirty="0"/>
              <a:t> </a:t>
            </a:r>
            <a:r>
              <a:rPr lang="en-US" altLang="LID4096" sz="2000" dirty="0" err="1"/>
              <a:t>правила</a:t>
            </a:r>
            <a:r>
              <a:rPr lang="ru-RU" altLang="LID4096" sz="2000" dirty="0"/>
              <a:t>)</a:t>
            </a:r>
            <a:r>
              <a:rPr lang="en-US" altLang="LID4096" sz="2000" dirty="0"/>
              <a:t>;</a:t>
            </a:r>
            <a:endParaRPr lang="ru-RU" altLang="LID4096" sz="20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altLang="LID4096" sz="2000" dirty="0"/>
              <a:t>Последовательности;</a:t>
            </a:r>
            <a:endParaRPr lang="en-US" altLang="LID4096" sz="20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LID4096" sz="2000" dirty="0" err="1"/>
              <a:t>Деревья</a:t>
            </a:r>
            <a:r>
              <a:rPr lang="en-US" altLang="LID4096" sz="2000" dirty="0"/>
              <a:t> </a:t>
            </a:r>
            <a:r>
              <a:rPr lang="en-US" altLang="LID4096" sz="2000" dirty="0" err="1"/>
              <a:t>решений</a:t>
            </a:r>
            <a:r>
              <a:rPr lang="en-US" altLang="LID4096" sz="2000" dirty="0"/>
              <a:t>;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LID4096" sz="2000" dirty="0" err="1"/>
              <a:t>Кластеры</a:t>
            </a:r>
            <a:r>
              <a:rPr lang="en-US" altLang="LID4096" sz="2000" dirty="0"/>
              <a:t>;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LID4096" sz="2000" dirty="0" err="1"/>
              <a:t>Классификаторы</a:t>
            </a:r>
            <a:r>
              <a:rPr lang="en-US" altLang="LID4096" sz="2000" dirty="0"/>
              <a:t>;</a:t>
            </a:r>
            <a:endParaRPr lang="ru-RU" altLang="LID4096" sz="20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altLang="LID4096" sz="2000" dirty="0"/>
              <a:t>Временные закономерности;</a:t>
            </a:r>
            <a:endParaRPr lang="en-US" altLang="LID4096" sz="20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LID4096" sz="2000" dirty="0" err="1"/>
              <a:t>Математические</a:t>
            </a:r>
            <a:r>
              <a:rPr lang="en-US" altLang="LID4096" sz="2000" dirty="0"/>
              <a:t> </a:t>
            </a:r>
            <a:r>
              <a:rPr lang="en-US" altLang="LID4096" sz="2000" dirty="0" err="1"/>
              <a:t>функции</a:t>
            </a:r>
            <a:r>
              <a:rPr lang="en-US" altLang="LID4096" sz="2000" dirty="0"/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LID4096" sz="2000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diagram of data mining&#10;&#10;Description automatically generated">
            <a:extLst>
              <a:ext uri="{FF2B5EF4-FFF2-40B4-BE49-F238E27FC236}">
                <a16:creationId xmlns:a16="http://schemas.microsoft.com/office/drawing/2014/main" id="{1CDA85C4-339D-2D9A-6D6E-6BD981BC056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" b="1838"/>
          <a:stretch/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4793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>
            <a:extLst>
              <a:ext uri="{FF2B5EF4-FFF2-40B4-BE49-F238E27FC236}">
                <a16:creationId xmlns:a16="http://schemas.microsoft.com/office/drawing/2014/main" id="{CAE89D75-B82A-2957-2A8C-391622CFB4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57202"/>
            <a:ext cx="8229600" cy="457198"/>
          </a:xfrm>
        </p:spPr>
        <p:txBody>
          <a:bodyPr>
            <a:noAutofit/>
          </a:bodyPr>
          <a:lstStyle/>
          <a:p>
            <a:pPr algn="ctr"/>
            <a:r>
              <a:rPr lang="ru-RU" altLang="LID4096" sz="4000" b="1" dirty="0">
                <a:solidFill>
                  <a:srgbClr val="000066"/>
                </a:solidFill>
              </a:rPr>
              <a:t>Методы </a:t>
            </a:r>
            <a:r>
              <a:rPr lang="en-US" altLang="LID4096" sz="4000" b="1" dirty="0">
                <a:solidFill>
                  <a:srgbClr val="000066"/>
                </a:solidFill>
              </a:rPr>
              <a:t>Data Mining</a:t>
            </a:r>
            <a:r>
              <a:rPr lang="ru-RU" altLang="LID4096" sz="4000" b="1" dirty="0">
                <a:solidFill>
                  <a:srgbClr val="000066"/>
                </a:solidFill>
              </a:rPr>
              <a:t>:</a:t>
            </a:r>
          </a:p>
        </p:txBody>
      </p:sp>
      <p:sp>
        <p:nvSpPr>
          <p:cNvPr id="132100" name="Text Box 4">
            <a:extLst>
              <a:ext uri="{FF2B5EF4-FFF2-40B4-BE49-F238E27FC236}">
                <a16:creationId xmlns:a16="http://schemas.microsoft.com/office/drawing/2014/main" id="{3F875B8D-B719-AF96-07D6-49F69CE303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9651" y="115888"/>
            <a:ext cx="30956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LID4096" altLang="LID4096">
              <a:latin typeface="Comic Sans MS" panose="030F0702030302020204" pitchFamily="66" charset="0"/>
            </a:endParaRPr>
          </a:p>
        </p:txBody>
      </p:sp>
      <p:grpSp>
        <p:nvGrpSpPr>
          <p:cNvPr id="132113" name="Group 17">
            <a:extLst>
              <a:ext uri="{FF2B5EF4-FFF2-40B4-BE49-F238E27FC236}">
                <a16:creationId xmlns:a16="http://schemas.microsoft.com/office/drawing/2014/main" id="{D46C58A9-BD3F-1DEC-6F87-D248EB4E037C}"/>
              </a:ext>
            </a:extLst>
          </p:cNvPr>
          <p:cNvGrpSpPr>
            <a:grpSpLocks/>
          </p:cNvGrpSpPr>
          <p:nvPr/>
        </p:nvGrpSpPr>
        <p:grpSpPr bwMode="auto">
          <a:xfrm>
            <a:off x="2027899" y="2276872"/>
            <a:ext cx="2952750" cy="3238500"/>
            <a:chOff x="295" y="1480"/>
            <a:chExt cx="1860" cy="2040"/>
          </a:xfrm>
        </p:grpSpPr>
        <p:grpSp>
          <p:nvGrpSpPr>
            <p:cNvPr id="132106" name="Group 10">
              <a:extLst>
                <a:ext uri="{FF2B5EF4-FFF2-40B4-BE49-F238E27FC236}">
                  <a16:creationId xmlns:a16="http://schemas.microsoft.com/office/drawing/2014/main" id="{FDEC7884-6667-DF06-AE7A-4C4B8783A7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5" y="1480"/>
              <a:ext cx="1815" cy="317"/>
              <a:chOff x="385" y="981"/>
              <a:chExt cx="1815" cy="317"/>
            </a:xfrm>
          </p:grpSpPr>
          <p:sp>
            <p:nvSpPr>
              <p:cNvPr id="132103" name="Rectangle 7">
                <a:extLst>
                  <a:ext uri="{FF2B5EF4-FFF2-40B4-BE49-F238E27FC236}">
                    <a16:creationId xmlns:a16="http://schemas.microsoft.com/office/drawing/2014/main" id="{24015540-E600-219D-9293-7D732FD3A6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" y="981"/>
                <a:ext cx="1815" cy="317"/>
              </a:xfrm>
              <a:prstGeom prst="rect">
                <a:avLst/>
              </a:prstGeom>
              <a:solidFill>
                <a:schemeClr val="accent1">
                  <a:alpha val="46001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LID4096"/>
              </a:p>
            </p:txBody>
          </p:sp>
          <p:sp>
            <p:nvSpPr>
              <p:cNvPr id="132105" name="Text Box 9">
                <a:extLst>
                  <a:ext uri="{FF2B5EF4-FFF2-40B4-BE49-F238E27FC236}">
                    <a16:creationId xmlns:a16="http://schemas.microsoft.com/office/drawing/2014/main" id="{127E7A60-5C2F-4754-A659-AEB5649909A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03" y="1026"/>
                <a:ext cx="1180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ru-RU" altLang="LID4096" dirty="0"/>
                  <a:t>Статистические</a:t>
                </a:r>
              </a:p>
            </p:txBody>
          </p:sp>
        </p:grpSp>
        <p:grpSp>
          <p:nvGrpSpPr>
            <p:cNvPr id="132108" name="Group 12">
              <a:extLst>
                <a:ext uri="{FF2B5EF4-FFF2-40B4-BE49-F238E27FC236}">
                  <a16:creationId xmlns:a16="http://schemas.microsoft.com/office/drawing/2014/main" id="{CD645F5A-A3D5-396E-272D-80EF719522C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0" y="3203"/>
              <a:ext cx="1815" cy="317"/>
              <a:chOff x="385" y="2387"/>
              <a:chExt cx="1815" cy="317"/>
            </a:xfrm>
          </p:grpSpPr>
          <p:sp>
            <p:nvSpPr>
              <p:cNvPr id="132104" name="Rectangle 8">
                <a:extLst>
                  <a:ext uri="{FF2B5EF4-FFF2-40B4-BE49-F238E27FC236}">
                    <a16:creationId xmlns:a16="http://schemas.microsoft.com/office/drawing/2014/main" id="{63B71443-2F74-D47E-B05C-A9A789A5D6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" y="2387"/>
                <a:ext cx="1815" cy="317"/>
              </a:xfrm>
              <a:prstGeom prst="rect">
                <a:avLst/>
              </a:prstGeom>
              <a:solidFill>
                <a:schemeClr val="accent1">
                  <a:alpha val="46001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LID4096"/>
              </a:p>
            </p:txBody>
          </p:sp>
          <p:sp>
            <p:nvSpPr>
              <p:cNvPr id="132107" name="Text Box 11">
                <a:extLst>
                  <a:ext uri="{FF2B5EF4-FFF2-40B4-BE49-F238E27FC236}">
                    <a16:creationId xmlns:a16="http://schemas.microsoft.com/office/drawing/2014/main" id="{C2270962-B4D5-A35A-4902-0505A34397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03" y="2432"/>
                <a:ext cx="1315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ru-RU" altLang="LID4096"/>
                  <a:t>Кибернетические</a:t>
                </a:r>
              </a:p>
            </p:txBody>
          </p:sp>
        </p:grpSp>
      </p:grpSp>
      <p:sp>
        <p:nvSpPr>
          <p:cNvPr id="132109" name="AutoShape 13">
            <a:extLst>
              <a:ext uri="{FF2B5EF4-FFF2-40B4-BE49-F238E27FC236}">
                <a16:creationId xmlns:a16="http://schemas.microsoft.com/office/drawing/2014/main" id="{405A27E6-B6B7-CA13-C683-F1C48889265F}"/>
              </a:ext>
            </a:extLst>
          </p:cNvPr>
          <p:cNvSpPr>
            <a:spLocks/>
          </p:cNvSpPr>
          <p:nvPr/>
        </p:nvSpPr>
        <p:spPr bwMode="auto">
          <a:xfrm>
            <a:off x="5016501" y="1196976"/>
            <a:ext cx="792163" cy="2879725"/>
          </a:xfrm>
          <a:prstGeom prst="leftBrace">
            <a:avLst>
              <a:gd name="adj1" fmla="val 30294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LID4096"/>
          </a:p>
        </p:txBody>
      </p:sp>
      <p:sp>
        <p:nvSpPr>
          <p:cNvPr id="132110" name="Text Box 14">
            <a:extLst>
              <a:ext uri="{FF2B5EF4-FFF2-40B4-BE49-F238E27FC236}">
                <a16:creationId xmlns:a16="http://schemas.microsoft.com/office/drawing/2014/main" id="{F9FA9390-97C3-E00F-C637-36EAB51444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0463" y="1052513"/>
            <a:ext cx="3744912" cy="311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rgbClr val="000066"/>
              </a:buClr>
              <a:buFontTx/>
              <a:buChar char="•"/>
            </a:pPr>
            <a:r>
              <a:rPr lang="ru-RU" altLang="LID4096" dirty="0"/>
              <a:t>дескриптивный анализ,</a:t>
            </a:r>
          </a:p>
          <a:p>
            <a:pPr>
              <a:spcBef>
                <a:spcPct val="50000"/>
              </a:spcBef>
              <a:buClr>
                <a:srgbClr val="000066"/>
              </a:buClr>
              <a:buFontTx/>
              <a:buChar char="•"/>
            </a:pPr>
            <a:r>
              <a:rPr lang="ru-RU" altLang="LID4096" dirty="0"/>
              <a:t>корреляционный и регрессионный анализ,</a:t>
            </a:r>
          </a:p>
          <a:p>
            <a:pPr>
              <a:spcBef>
                <a:spcPct val="50000"/>
              </a:spcBef>
              <a:buClr>
                <a:srgbClr val="000066"/>
              </a:buClr>
              <a:buFontTx/>
              <a:buChar char="•"/>
            </a:pPr>
            <a:r>
              <a:rPr lang="ru-RU" altLang="LID4096" dirty="0"/>
              <a:t>факторный анализ,</a:t>
            </a:r>
          </a:p>
          <a:p>
            <a:pPr>
              <a:spcBef>
                <a:spcPct val="50000"/>
              </a:spcBef>
              <a:buClr>
                <a:srgbClr val="000066"/>
              </a:buClr>
              <a:buFontTx/>
              <a:buChar char="•"/>
            </a:pPr>
            <a:r>
              <a:rPr lang="ru-RU" altLang="LID4096" dirty="0"/>
              <a:t>дисперсионный анализ,</a:t>
            </a:r>
          </a:p>
          <a:p>
            <a:pPr>
              <a:spcBef>
                <a:spcPct val="50000"/>
              </a:spcBef>
              <a:buClr>
                <a:srgbClr val="000066"/>
              </a:buClr>
              <a:buFontTx/>
              <a:buChar char="•"/>
            </a:pPr>
            <a:r>
              <a:rPr lang="ru-RU" altLang="LID4096" dirty="0"/>
              <a:t>компонентный анализ,</a:t>
            </a:r>
          </a:p>
          <a:p>
            <a:pPr>
              <a:spcBef>
                <a:spcPct val="50000"/>
              </a:spcBef>
              <a:buClr>
                <a:srgbClr val="000066"/>
              </a:buClr>
              <a:buFontTx/>
              <a:buChar char="•"/>
            </a:pPr>
            <a:r>
              <a:rPr lang="ru-RU" altLang="LID4096" dirty="0"/>
              <a:t>дискриминантный анализ,</a:t>
            </a:r>
          </a:p>
          <a:p>
            <a:pPr>
              <a:spcBef>
                <a:spcPct val="50000"/>
              </a:spcBef>
              <a:buClr>
                <a:srgbClr val="000066"/>
              </a:buClr>
              <a:buFontTx/>
              <a:buChar char="•"/>
            </a:pPr>
            <a:r>
              <a:rPr lang="ru-RU" altLang="LID4096" dirty="0"/>
              <a:t>анализ временных рядов</a:t>
            </a:r>
          </a:p>
        </p:txBody>
      </p:sp>
      <p:sp>
        <p:nvSpPr>
          <p:cNvPr id="132111" name="AutoShape 15">
            <a:extLst>
              <a:ext uri="{FF2B5EF4-FFF2-40B4-BE49-F238E27FC236}">
                <a16:creationId xmlns:a16="http://schemas.microsoft.com/office/drawing/2014/main" id="{8C7C70F8-4C50-05E0-563A-A44CA3DB0763}"/>
              </a:ext>
            </a:extLst>
          </p:cNvPr>
          <p:cNvSpPr>
            <a:spLocks/>
          </p:cNvSpPr>
          <p:nvPr/>
        </p:nvSpPr>
        <p:spPr bwMode="auto">
          <a:xfrm>
            <a:off x="5448300" y="4508500"/>
            <a:ext cx="431800" cy="2160588"/>
          </a:xfrm>
          <a:prstGeom prst="leftBrace">
            <a:avLst>
              <a:gd name="adj1" fmla="val 41697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LID4096"/>
          </a:p>
        </p:txBody>
      </p:sp>
      <p:sp>
        <p:nvSpPr>
          <p:cNvPr id="132112" name="Text Box 16">
            <a:extLst>
              <a:ext uri="{FF2B5EF4-FFF2-40B4-BE49-F238E27FC236}">
                <a16:creationId xmlns:a16="http://schemas.microsoft.com/office/drawing/2014/main" id="{DE5E0518-823C-40B5-3514-6DA2EE81EE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0464" y="4292601"/>
            <a:ext cx="4427537" cy="2430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rgbClr val="000066"/>
              </a:buClr>
              <a:buFontTx/>
              <a:buChar char="•"/>
            </a:pPr>
            <a:r>
              <a:rPr lang="ru-RU" altLang="LID4096" dirty="0"/>
              <a:t>искусственные нейронные сети,</a:t>
            </a:r>
          </a:p>
          <a:p>
            <a:pPr>
              <a:spcBef>
                <a:spcPct val="50000"/>
              </a:spcBef>
              <a:buClr>
                <a:srgbClr val="000066"/>
              </a:buClr>
              <a:buFontTx/>
              <a:buChar char="•"/>
            </a:pPr>
            <a:r>
              <a:rPr lang="ru-RU" altLang="LID4096" dirty="0"/>
              <a:t>эволюционное программирование,</a:t>
            </a:r>
          </a:p>
          <a:p>
            <a:pPr>
              <a:spcBef>
                <a:spcPct val="50000"/>
              </a:spcBef>
              <a:buClr>
                <a:srgbClr val="000066"/>
              </a:buClr>
              <a:buFontTx/>
              <a:buChar char="•"/>
            </a:pPr>
            <a:r>
              <a:rPr lang="ru-RU" altLang="LID4096" dirty="0"/>
              <a:t>генетические алгоритмы,</a:t>
            </a:r>
          </a:p>
          <a:p>
            <a:pPr>
              <a:spcBef>
                <a:spcPct val="50000"/>
              </a:spcBef>
              <a:buClr>
                <a:srgbClr val="000066"/>
              </a:buClr>
              <a:buFontTx/>
              <a:buChar char="•"/>
            </a:pPr>
            <a:r>
              <a:rPr lang="ru-RU" altLang="LID4096" dirty="0"/>
              <a:t>ассоциативная память,</a:t>
            </a:r>
          </a:p>
          <a:p>
            <a:pPr>
              <a:spcBef>
                <a:spcPct val="50000"/>
              </a:spcBef>
              <a:buClr>
                <a:srgbClr val="000066"/>
              </a:buClr>
              <a:buFontTx/>
              <a:buChar char="•"/>
            </a:pPr>
            <a:r>
              <a:rPr lang="ru-RU" altLang="LID4096" dirty="0"/>
              <a:t> деревья решений, </a:t>
            </a:r>
          </a:p>
          <a:p>
            <a:pPr>
              <a:spcBef>
                <a:spcPct val="50000"/>
              </a:spcBef>
              <a:buClr>
                <a:srgbClr val="000066"/>
              </a:buClr>
              <a:buFontTx/>
              <a:buChar char="•"/>
            </a:pPr>
            <a:r>
              <a:rPr lang="ru-RU" altLang="LID4096" dirty="0"/>
              <a:t>системы обработки экспертных знаний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1320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13209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132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132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32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32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2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2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8" dur="1000"/>
                                        <p:tgtEl>
                                          <p:spTgt spid="132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2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2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32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2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2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32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32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098" grpId="0"/>
      <p:bldP spid="132110" grpId="0"/>
      <p:bldP spid="13211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ectangle 92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71F205-E8A9-4237-8AD2-ABD9BF694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Свойства методов Data Mining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1BF6BCA0-D288-C2F5-1100-28100AEB02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6524" y="1675227"/>
            <a:ext cx="7058951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2393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71F205-E8A9-4237-8AD2-ABD9BF694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Свойства методов Data Mining</a:t>
            </a:r>
          </a:p>
        </p:txBody>
      </p:sp>
      <p:pic>
        <p:nvPicPr>
          <p:cNvPr id="3" name="Picture 2" descr="A table with different colored squares&#10;&#10;Description automatically generated with medium confidence">
            <a:extLst>
              <a:ext uri="{FF2B5EF4-FFF2-40B4-BE49-F238E27FC236}">
                <a16:creationId xmlns:a16="http://schemas.microsoft.com/office/drawing/2014/main" id="{A445E71D-851F-B756-CE27-149ADDFEB2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8976" y="1675227"/>
            <a:ext cx="8574047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8177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3" name="Rectangle 92">
            <a:extLst>
              <a:ext uri="{FF2B5EF4-FFF2-40B4-BE49-F238E27FC236}">
                <a16:creationId xmlns:a16="http://schemas.microsoft.com/office/drawing/2014/main" id="{28D31E1B-0407-4223-9642-0B642CBF5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0" name="Rectangle 99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67266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71F205-E8A9-4237-8AD2-ABD9BF694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5052369" cy="10357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Этапы Data Mining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70E96339-907C-46C3-99AC-31179B6F0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16299" y="608401"/>
            <a:ext cx="4637502" cy="559344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diagram of data mining&#10;&#10;Description automatically generated">
            <a:extLst>
              <a:ext uri="{FF2B5EF4-FFF2-40B4-BE49-F238E27FC236}">
                <a16:creationId xmlns:a16="http://schemas.microsoft.com/office/drawing/2014/main" id="{20F2AF52-0523-9BD4-CD1B-2DFF3E16F3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0493" y="1896539"/>
            <a:ext cx="4223252" cy="3125206"/>
          </a:xfrm>
          <a:prstGeom prst="rect">
            <a:avLst/>
          </a:prstGeom>
        </p:spPr>
      </p:pic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86CCDD4B-90B3-4E16-764C-6DC75D21FA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255" y="2109956"/>
            <a:ext cx="4637502" cy="4633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8753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4" name="Rectangle 63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71F205-E8A9-4237-8AD2-ABD9BF694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Основные понятия Data Mining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F7AE2D-3043-76D2-8F7E-4C5982EA0CFB}"/>
              </a:ext>
            </a:extLst>
          </p:cNvPr>
          <p:cNvSpPr txBox="1"/>
          <p:nvPr/>
        </p:nvSpPr>
        <p:spPr>
          <a:xfrm>
            <a:off x="645066" y="2031101"/>
            <a:ext cx="4282984" cy="3511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 err="1"/>
              <a:t>Данные</a:t>
            </a:r>
            <a:r>
              <a:rPr lang="en-US" dirty="0"/>
              <a:t>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 err="1"/>
              <a:t>Объект</a:t>
            </a:r>
            <a:endParaRPr lang="en-US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 err="1"/>
              <a:t>Атрибут</a:t>
            </a:r>
            <a:endParaRPr lang="en-US" b="1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 err="1"/>
              <a:t>Генеральная</a:t>
            </a:r>
            <a:r>
              <a:rPr lang="en-US" b="1" dirty="0"/>
              <a:t> </a:t>
            </a:r>
            <a:r>
              <a:rPr lang="en-US" b="1" dirty="0" err="1"/>
              <a:t>совокупность</a:t>
            </a:r>
            <a:r>
              <a:rPr lang="en-US" dirty="0"/>
              <a:t> (population)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 err="1"/>
              <a:t>Выборка</a:t>
            </a:r>
            <a:r>
              <a:rPr lang="en-US" dirty="0"/>
              <a:t> (sample)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 err="1"/>
              <a:t>Параметры</a:t>
            </a:r>
            <a:r>
              <a:rPr lang="en-US" b="1" dirty="0"/>
              <a:t> </a:t>
            </a:r>
            <a:r>
              <a:rPr lang="en-US" b="1" dirty="0" err="1"/>
              <a:t>выборки</a:t>
            </a:r>
            <a:r>
              <a:rPr lang="en-US" dirty="0"/>
              <a:t>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 err="1"/>
              <a:t>Статистики</a:t>
            </a:r>
            <a:r>
              <a:rPr lang="en-US" b="1" dirty="0"/>
              <a:t> </a:t>
            </a:r>
            <a:r>
              <a:rPr lang="en-US" b="1" dirty="0" err="1"/>
              <a:t>выборки</a:t>
            </a:r>
            <a:r>
              <a:rPr lang="en-US" dirty="0"/>
              <a:t>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 err="1"/>
              <a:t>Гипотеза</a:t>
            </a:r>
            <a:r>
              <a:rPr lang="en-US" dirty="0"/>
              <a:t> 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730A0D85-0A31-7300-6EF2-1DFF8649DB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7738" y="1659335"/>
            <a:ext cx="5628018" cy="3306460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EC261214-F9ED-9E79-6BE0-142CB75876BA}"/>
              </a:ext>
            </a:extLst>
          </p:cNvPr>
          <p:cNvSpPr txBox="1">
            <a:spLocks noChangeArrowheads="1"/>
          </p:cNvSpPr>
          <p:nvPr/>
        </p:nvSpPr>
        <p:spPr>
          <a:xfrm>
            <a:off x="6137346" y="1015916"/>
            <a:ext cx="5561990" cy="4238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b="1" dirty="0"/>
              <a:t>Набор данных - д</a:t>
            </a:r>
            <a:r>
              <a:rPr lang="en-US" sz="3200" b="1" dirty="0" err="1"/>
              <a:t>вухмерная</a:t>
            </a:r>
            <a:r>
              <a:rPr lang="en-US" sz="3200" b="1" dirty="0"/>
              <a:t> </a:t>
            </a:r>
            <a:r>
              <a:rPr lang="en-US" sz="3200" b="1" dirty="0" err="1"/>
              <a:t>таблица</a:t>
            </a:r>
            <a:r>
              <a:rPr lang="en-US" sz="3200" b="1" dirty="0"/>
              <a:t> "</a:t>
            </a:r>
            <a:r>
              <a:rPr lang="en-US" sz="3200" b="1" dirty="0" err="1"/>
              <a:t>объект-атрибут</a:t>
            </a:r>
            <a:r>
              <a:rPr lang="en-US" sz="2800" b="1" dirty="0"/>
              <a:t>"</a:t>
            </a:r>
            <a:r>
              <a:rPr lang="en-US" sz="40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272462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76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384E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71F205-E8A9-4237-8AD2-ABD9BF694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Измерения и шкалы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4BE5663-14E4-21E5-1C88-055AA01FA3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0934" y="793528"/>
            <a:ext cx="7437765" cy="5128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3343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4" name="Rectangle 83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71F205-E8A9-4237-8AD2-ABD9BF694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  <a:prstGeom prst="ellipse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3700" b="1" dirty="0">
                <a:solidFill>
                  <a:srgbClr val="FFFFFF"/>
                </a:solidFill>
              </a:rPr>
              <a:t>Примеры</a:t>
            </a:r>
            <a:r>
              <a:rPr lang="en-US" sz="3700" b="1" dirty="0">
                <a:solidFill>
                  <a:srgbClr val="FFFFFF"/>
                </a:solidFill>
              </a:rPr>
              <a:t> </a:t>
            </a:r>
            <a:r>
              <a:rPr lang="en-US" sz="3700" b="1" dirty="0" err="1">
                <a:solidFill>
                  <a:srgbClr val="FFFFFF"/>
                </a:solidFill>
              </a:rPr>
              <a:t>шкал</a:t>
            </a:r>
            <a:endParaRPr lang="en-US" sz="3700" b="1" dirty="0">
              <a:solidFill>
                <a:srgbClr val="FFFFFF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AD2CC2-3B9B-B75D-CFDC-91E26C3428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748" y="2948783"/>
            <a:ext cx="5131088" cy="24629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5AC4A16-CCD3-C7C3-583E-C2B10BD4B5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165" y="2600438"/>
            <a:ext cx="5131087" cy="3232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2035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4" name="Rectangle 83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71F205-E8A9-4237-8AD2-ABD9BF694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  <a:prstGeom prst="ellipse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3700" b="1" dirty="0">
                <a:solidFill>
                  <a:srgbClr val="FFFFFF"/>
                </a:solidFill>
              </a:rPr>
              <a:t>Примеры</a:t>
            </a:r>
            <a:r>
              <a:rPr lang="en-US" sz="3700" b="1" dirty="0">
                <a:solidFill>
                  <a:srgbClr val="FFFFFF"/>
                </a:solidFill>
              </a:rPr>
              <a:t> </a:t>
            </a:r>
            <a:r>
              <a:rPr lang="en-US" sz="3700" b="1" dirty="0" err="1">
                <a:solidFill>
                  <a:srgbClr val="FFFFFF"/>
                </a:solidFill>
              </a:rPr>
              <a:t>шкал</a:t>
            </a:r>
            <a:endParaRPr lang="en-US" sz="3700" b="1" dirty="0">
              <a:solidFill>
                <a:srgbClr val="FFFF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293BFF-25B6-C2F1-BC91-20FF386927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51816"/>
            <a:ext cx="8317735" cy="22884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3110E0-8383-24B8-9583-511EC1506D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4048" y="4321640"/>
            <a:ext cx="8681292" cy="2007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9270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4" name="Rectangle 83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71F205-E8A9-4237-8AD2-ABD9BF694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  <a:prstGeom prst="ellipse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3700" b="1" dirty="0">
                <a:solidFill>
                  <a:srgbClr val="FFFFFF"/>
                </a:solidFill>
              </a:rPr>
              <a:t>Типы наборов данных</a:t>
            </a:r>
            <a:endParaRPr lang="en-US" sz="3700" b="1" dirty="0">
              <a:solidFill>
                <a:srgbClr val="FFFFFF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57294D-8207-B4AB-F451-8B1F82A516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7671" y="1928621"/>
            <a:ext cx="6864330" cy="457621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8CD1C14-9509-89DF-F816-9609375411C1}"/>
              </a:ext>
            </a:extLst>
          </p:cNvPr>
          <p:cNvSpPr txBox="1"/>
          <p:nvPr/>
        </p:nvSpPr>
        <p:spPr>
          <a:xfrm>
            <a:off x="187960" y="1603915"/>
            <a:ext cx="4951751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Табличные данные</a:t>
            </a:r>
          </a:p>
          <a:p>
            <a:pPr marL="285750" marR="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Транзакционные данные</a:t>
            </a:r>
          </a:p>
          <a:p>
            <a:pPr marL="285750" marR="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Графические данные (WWW-данные; молекулярные структуры; графы; карты)</a:t>
            </a:r>
          </a:p>
          <a:p>
            <a:pPr marL="285750" marR="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Химические данные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uk-UA" dirty="0">
              <a:solidFill>
                <a:srgbClr val="000000"/>
              </a:solidFill>
              <a:latin typeface="Verdana" panose="020B060403050404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k-UA" dirty="0" err="1">
                <a:solidFill>
                  <a:srgbClr val="00000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Наиболее</a:t>
            </a:r>
            <a:r>
              <a:rPr lang="uk-UA" dirty="0">
                <a:solidFill>
                  <a:srgbClr val="00000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uk-UA" dirty="0" err="1">
                <a:solidFill>
                  <a:srgbClr val="00000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популярные</a:t>
            </a:r>
            <a:r>
              <a:rPr lang="uk-UA" dirty="0">
                <a:solidFill>
                  <a:srgbClr val="00000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uk-UA" dirty="0" err="1">
                <a:solidFill>
                  <a:srgbClr val="00000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типы</a:t>
            </a:r>
            <a:r>
              <a:rPr lang="uk-UA" dirty="0">
                <a:solidFill>
                  <a:srgbClr val="00000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uk-UA" dirty="0" err="1">
                <a:solidFill>
                  <a:srgbClr val="00000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наборов</a:t>
            </a:r>
            <a:r>
              <a:rPr lang="uk-UA" dirty="0">
                <a:solidFill>
                  <a:srgbClr val="00000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данные из "плоских" (</a:t>
            </a:r>
            <a:r>
              <a:rPr lang="ru-RU" dirty="0" err="1">
                <a:solidFill>
                  <a:srgbClr val="00000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flat</a:t>
            </a: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table</a:t>
            </a: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) и реляционных таблиц (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65</a:t>
            </a: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%)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временные ряды (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41</a:t>
            </a: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%)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данные в виде текста (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43</a:t>
            </a: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%)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W</a:t>
            </a:r>
            <a:r>
              <a:rPr lang="ru-RU" dirty="0" err="1">
                <a:solidFill>
                  <a:srgbClr val="00000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eb-контенты</a:t>
            </a:r>
            <a:endParaRPr lang="ru-RU" dirty="0">
              <a:solidFill>
                <a:srgbClr val="000000"/>
              </a:solidFill>
              <a:latin typeface="Verdana" panose="020B0604030504040204" pitchFamily="34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XML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Графика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Аудио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Видео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другие</a:t>
            </a:r>
          </a:p>
        </p:txBody>
      </p:sp>
    </p:spTree>
    <p:extLst>
      <p:ext uri="{BB962C8B-B14F-4D97-AF65-F5344CB8AC3E}">
        <p14:creationId xmlns:p14="http://schemas.microsoft.com/office/powerpoint/2010/main" val="23374913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8972ED-2AF8-7DF7-4717-5EFE36440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4" name="Rectangle 83">
            <a:extLst>
              <a:ext uri="{FF2B5EF4-FFF2-40B4-BE49-F238E27FC236}">
                <a16:creationId xmlns:a16="http://schemas.microsoft.com/office/drawing/2014/main" id="{7BCD95BE-5AB1-2480-C937-87C25A1937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17A135DC-1533-7E32-B3A4-F330DF088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FDB2A1F8-3FF7-1ADB-3FAF-AA390842B0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B64D665B-AEF7-1CCC-33B0-7F4BDAE5B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0D81B9EC-2DC5-5E36-9E14-DCDF6FFFE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3BDF3E-2DB8-6B65-3B12-7AB3F21CC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338" y="353160"/>
            <a:ext cx="7642181" cy="898581"/>
          </a:xfrm>
          <a:prstGeom prst="ellipse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ru-RU" sz="3700" b="1" dirty="0">
                <a:solidFill>
                  <a:srgbClr val="FFFFFF"/>
                </a:solidFill>
              </a:rPr>
              <a:t>Классификация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700" b="1" dirty="0">
                <a:solidFill>
                  <a:srgbClr val="FFFFFF"/>
                </a:solidFill>
              </a:rPr>
              <a:t>видов данных</a:t>
            </a:r>
            <a:endParaRPr lang="en-US" sz="3700" b="1" dirty="0">
              <a:solidFill>
                <a:srgbClr val="FFFFF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FA18A4-ED36-ED17-E19D-D2D4339EA8D3}"/>
              </a:ext>
            </a:extLst>
          </p:cNvPr>
          <p:cNvSpPr txBox="1"/>
          <p:nvPr/>
        </p:nvSpPr>
        <p:spPr>
          <a:xfrm>
            <a:off x="187960" y="1603915"/>
            <a:ext cx="4951751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Реляционные данные</a:t>
            </a:r>
          </a:p>
          <a:p>
            <a:pPr marL="285750" marR="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Многомерные данные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Измерение (</a:t>
            </a:r>
            <a:r>
              <a:rPr lang="ru-RU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dimension</a:t>
            </a:r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или ось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uk-UA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 критерию постоянства значений в ходе решения задачи</a:t>
            </a:r>
            <a:r>
              <a:rPr lang="uk-UA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Переменные данные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Постоянные данные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Условно-постоянные данные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ru-RU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Данные, в зависимости от тех функций, которые они выполняют, могут быть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справочными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оперативными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архивными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ru-RU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Данные за период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Точечные данные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ru-RU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Данные бывают 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первичными и вторичными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54DC36-9E52-1982-7D2F-E16C80804082}"/>
              </a:ext>
            </a:extLst>
          </p:cNvPr>
          <p:cNvSpPr txBox="1"/>
          <p:nvPr/>
        </p:nvSpPr>
        <p:spPr>
          <a:xfrm>
            <a:off x="5778634" y="1665041"/>
            <a:ext cx="4951751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Метаданные (</a:t>
            </a:r>
            <a:r>
              <a:rPr lang="ru-RU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Metadate</a:t>
            </a: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это данные о </a:t>
            </a:r>
            <a:r>
              <a:rPr lang="ru-RU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данных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uk-UA" dirty="0">
              <a:solidFill>
                <a:srgbClr val="000000"/>
              </a:solidFill>
              <a:latin typeface="Verdana" panose="020B060403050404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Метаданные содержат сведения о составе </a:t>
            </a:r>
            <a:r>
              <a:rPr lang="ru-RU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данных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содержании, статусе, происхождении, местонахождении, качестве, форматах и формах представления, условиях доступа, приобретения и использования, авторских, имущественных и смежных с ними правах на данные и др.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/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Бизнес-метаданные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содержат бизнес-термины и определения, принадлежность </a:t>
            </a:r>
            <a:r>
              <a:rPr lang="ru-RU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данных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и правила оплаты услуг хранилища. </a:t>
            </a:r>
            <a:endParaRPr lang="en-US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/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Оперативные метаданные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это информация, собранная во время работы хранилища </a:t>
            </a:r>
            <a:r>
              <a:rPr lang="ru-RU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данных</a:t>
            </a:r>
            <a:endParaRPr lang="ru-RU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38448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7E70FC5-1855-47AB-8CE1-CB3C873A8988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30CB38EC-895A-4F8F-8F75-E263501ABB5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560E646-30AD-4BA0-97EA-A7A07DF549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6897</Words>
  <Application>Microsoft Office PowerPoint</Application>
  <PresentationFormat>Widescreen</PresentationFormat>
  <Paragraphs>464</Paragraphs>
  <Slides>25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41" baseType="lpstr">
      <vt:lpstr>Arial</vt:lpstr>
      <vt:lpstr>Calibri</vt:lpstr>
      <vt:lpstr>Calibri Light</vt:lpstr>
      <vt:lpstr>Comic Sans MS</vt:lpstr>
      <vt:lpstr>ff0</vt:lpstr>
      <vt:lpstr>ff1</vt:lpstr>
      <vt:lpstr>ff2</vt:lpstr>
      <vt:lpstr>ff7</vt:lpstr>
      <vt:lpstr>Roboto</vt:lpstr>
      <vt:lpstr>Symbol</vt:lpstr>
      <vt:lpstr>Times New Roman</vt:lpstr>
      <vt:lpstr>TimesNewRomanPS-BoldMT</vt:lpstr>
      <vt:lpstr>TimesNewRomanPSMT</vt:lpstr>
      <vt:lpstr>Verdana</vt:lpstr>
      <vt:lpstr>Wingdings</vt:lpstr>
      <vt:lpstr>Office Theme</vt:lpstr>
      <vt:lpstr>Интеллектуальный анализ данных  Data Mining</vt:lpstr>
      <vt:lpstr>Общие сведения об интеллектуальном анализе данных</vt:lpstr>
      <vt:lpstr>KDD vs Data Mining</vt:lpstr>
      <vt:lpstr>KDD vs Data Mining</vt:lpstr>
      <vt:lpstr>Что такое Data Mining?</vt:lpstr>
      <vt:lpstr>Исторические предпосылки</vt:lpstr>
      <vt:lpstr>Определение Data Mining</vt:lpstr>
      <vt:lpstr>Определение Data Mining</vt:lpstr>
      <vt:lpstr>PowerPoint Presentation</vt:lpstr>
      <vt:lpstr>PowerPoint Presentation</vt:lpstr>
      <vt:lpstr>PowerPoint Presentation</vt:lpstr>
      <vt:lpstr>Инструменты Data Mining</vt:lpstr>
      <vt:lpstr>Области применения Data Mining</vt:lpstr>
      <vt:lpstr>Недостатки технологии Data Mining</vt:lpstr>
      <vt:lpstr>Модели Data Mining</vt:lpstr>
      <vt:lpstr>Методы Data Mining:</vt:lpstr>
      <vt:lpstr>Свойства методов Data Mining</vt:lpstr>
      <vt:lpstr>Свойства методов Data Mining</vt:lpstr>
      <vt:lpstr>Этапы Data Mining</vt:lpstr>
      <vt:lpstr>Основные понятия Data Mining</vt:lpstr>
      <vt:lpstr>Измерения и шкалы</vt:lpstr>
      <vt:lpstr>Примеры шкал</vt:lpstr>
      <vt:lpstr>Примеры шкал</vt:lpstr>
      <vt:lpstr>Типы наборов данных</vt:lpstr>
      <vt:lpstr>Классификация видов данных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Lorem Ipsum</dc:title>
  <dc:creator>Petrushina Tatiana</dc:creator>
  <cp:lastModifiedBy>Petrushina Tatiana</cp:lastModifiedBy>
  <cp:revision>29</cp:revision>
  <dcterms:created xsi:type="dcterms:W3CDTF">2024-02-25T14:48:52Z</dcterms:created>
  <dcterms:modified xsi:type="dcterms:W3CDTF">2025-03-18T20:12:55Z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