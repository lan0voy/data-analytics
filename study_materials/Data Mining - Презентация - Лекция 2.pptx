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7" r:id="rId4"/>
  </p:sldMasterIdLst>
  <p:notesMasterIdLst>
    <p:notesMasterId r:id="rId14"/>
  </p:notesMasterIdLst>
  <p:sldIdLst>
    <p:sldId id="280" r:id="rId5"/>
    <p:sldId id="281" r:id="rId6"/>
    <p:sldId id="440" r:id="rId7"/>
    <p:sldId id="441" r:id="rId8"/>
    <p:sldId id="442" r:id="rId9"/>
    <p:sldId id="443" r:id="rId10"/>
    <p:sldId id="444" r:id="rId11"/>
    <p:sldId id="445" r:id="rId12"/>
    <p:sldId id="446" r:id="rId13"/>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944" autoAdjust="0"/>
  </p:normalViewPr>
  <p:slideViewPr>
    <p:cSldViewPr snapToGrid="0">
      <p:cViewPr varScale="1">
        <p:scale>
          <a:sx n="86" d="100"/>
          <a:sy n="86" d="100"/>
        </p:scale>
        <p:origin x="514" y="5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A59E2-B5A9-478D-86D1-BE11948EA825}" type="datetimeFigureOut">
              <a:rPr lang="LID4096" smtClean="0"/>
              <a:t>01/14/2025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615917-8825-4C11-9D2C-C82340C4B4E7}" type="slidenum">
              <a:rPr lang="LID4096" smtClean="0"/>
              <a:t>‹#›</a:t>
            </a:fld>
            <a:endParaRPr lang="LID4096"/>
          </a:p>
        </p:txBody>
      </p:sp>
    </p:spTree>
    <p:extLst>
      <p:ext uri="{BB962C8B-B14F-4D97-AF65-F5344CB8AC3E}">
        <p14:creationId xmlns:p14="http://schemas.microsoft.com/office/powerpoint/2010/main" val="194768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основу технологии Data Mining положена концепция шаблонов, представляющих собой закономерности.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результате обнаружения этих, скрытых от невооруженного глаза закономерностей, решаются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задачи Data Mining</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Различным типам закономерностей, которые могут быть выражены в форме, понятной человеку, соответствуют определенные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задачи Data Mining</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Задачи (</a:t>
            </a:r>
            <a:r>
              <a:rPr lang="ru-RU" sz="1800" b="1" i="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tasks</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Data Mining</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иногда называют закономерностями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regularity</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техниками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techniques</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Единого мнения относительно того, какие задачи следует относить к Data Mining, нет.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Большинство авторитетных источников перечисляют следующие: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классификация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ассоциация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анализ и обнаружение отклонений,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оценивание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 связей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подведение итогов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endParaRPr lang="ru-RU" sz="1800" dirty="0">
              <a:effectLst/>
              <a:latin typeface="Times New Roman" panose="02020603050405020304" pitchFamily="18" charset="0"/>
              <a:ea typeface="Times New Roman" panose="02020603050405020304" pitchFamily="18" charset="0"/>
            </a:endParaRPr>
          </a:p>
          <a:p>
            <a:r>
              <a:rPr lang="ru-RU" sz="1800" dirty="0">
                <a:effectLst/>
                <a:latin typeface="Times New Roman" panose="02020603050405020304" pitchFamily="18" charset="0"/>
                <a:ea typeface="Times New Roman" panose="02020603050405020304" pitchFamily="18" charset="0"/>
              </a:rPr>
              <a:t>Мы рассмотрим общее представление о </a:t>
            </a:r>
            <a:r>
              <a:rPr lang="ru-RU" sz="1800" i="1" dirty="0">
                <a:effectLst/>
                <a:latin typeface="Times New Roman" panose="02020603050405020304" pitchFamily="18" charset="0"/>
                <a:ea typeface="Times New Roman" panose="02020603050405020304" pitchFamily="18" charset="0"/>
              </a:rPr>
              <a:t>задачах Data Mining</a:t>
            </a:r>
            <a:r>
              <a:rPr lang="ru-RU" sz="1800" dirty="0">
                <a:effectLst/>
                <a:latin typeface="Times New Roman" panose="02020603050405020304" pitchFamily="18" charset="0"/>
                <a:ea typeface="Times New Roman" panose="02020603050405020304" pitchFamily="18" charset="0"/>
              </a:rPr>
              <a:t>, сравним некоторые из них, а также представим некоторые методы, с помощью которых эти задачи решаются. </a:t>
            </a:r>
          </a:p>
          <a:p>
            <a:r>
              <a:rPr lang="ru-RU" sz="1800" dirty="0">
                <a:effectLst/>
                <a:latin typeface="Times New Roman" panose="02020603050405020304" pitchFamily="18" charset="0"/>
                <a:ea typeface="Times New Roman" panose="02020603050405020304" pitchFamily="18" charset="0"/>
              </a:rPr>
              <a:t>Наиболее распространенные </a:t>
            </a:r>
            <a:r>
              <a:rPr lang="ru-RU" sz="1800" i="1" dirty="0">
                <a:effectLst/>
                <a:latin typeface="Times New Roman" panose="02020603050405020304" pitchFamily="18" charset="0"/>
                <a:ea typeface="Times New Roman" panose="02020603050405020304" pitchFamily="18" charset="0"/>
              </a:rPr>
              <a:t>задачи Data Mining</a:t>
            </a:r>
            <a:r>
              <a:rPr lang="ru-RU" sz="1800" dirty="0">
                <a:effectLst/>
                <a:latin typeface="Times New Roman" panose="02020603050405020304" pitchFamily="18" charset="0"/>
                <a:ea typeface="Times New Roman" panose="02020603050405020304" pitchFamily="18" charset="0"/>
              </a:rPr>
              <a:t> - </a:t>
            </a:r>
            <a:r>
              <a:rPr lang="ru-RU" sz="1800" i="1" dirty="0">
                <a:effectLst/>
                <a:latin typeface="Times New Roman" panose="02020603050405020304" pitchFamily="18" charset="0"/>
                <a:ea typeface="Times New Roman" panose="02020603050405020304" pitchFamily="18" charset="0"/>
              </a:rPr>
              <a:t>классификация</a:t>
            </a:r>
            <a:r>
              <a:rPr lang="ru-RU" sz="1800" dirty="0">
                <a:effectLst/>
                <a:latin typeface="Times New Roman" panose="02020603050405020304" pitchFamily="18" charset="0"/>
                <a:ea typeface="Times New Roman" panose="02020603050405020304" pitchFamily="18" charset="0"/>
              </a:rPr>
              <a:t>, </a:t>
            </a:r>
            <a:r>
              <a:rPr lang="ru-RU" sz="1800" i="1" dirty="0">
                <a:effectLst/>
                <a:latin typeface="Times New Roman" panose="02020603050405020304" pitchFamily="18" charset="0"/>
                <a:ea typeface="Times New Roman" panose="02020603050405020304" pitchFamily="18" charset="0"/>
              </a:rPr>
              <a:t>кластеризация</a:t>
            </a:r>
            <a:r>
              <a:rPr lang="ru-RU" sz="1800" dirty="0">
                <a:effectLst/>
                <a:latin typeface="Times New Roman" panose="02020603050405020304" pitchFamily="18" charset="0"/>
                <a:ea typeface="Times New Roman" panose="02020603050405020304" pitchFamily="18" charset="0"/>
              </a:rPr>
              <a:t>, </a:t>
            </a:r>
            <a:r>
              <a:rPr lang="ru-RU" sz="1800" i="1" dirty="0">
                <a:effectLst/>
                <a:latin typeface="Times New Roman" panose="02020603050405020304" pitchFamily="18" charset="0"/>
                <a:ea typeface="Times New Roman" panose="02020603050405020304" pitchFamily="18" charset="0"/>
              </a:rPr>
              <a:t>ассоциация</a:t>
            </a:r>
            <a:r>
              <a:rPr lang="ru-RU" sz="1800" dirty="0">
                <a:effectLst/>
                <a:latin typeface="Times New Roman" panose="02020603050405020304" pitchFamily="18" charset="0"/>
                <a:ea typeface="Times New Roman" panose="02020603050405020304" pitchFamily="18" charset="0"/>
              </a:rPr>
              <a:t>, </a:t>
            </a:r>
            <a:r>
              <a:rPr lang="ru-RU" sz="1800" i="1" dirty="0">
                <a:effectLst/>
                <a:latin typeface="Times New Roman" panose="02020603050405020304" pitchFamily="18" charset="0"/>
                <a:ea typeface="Times New Roman" panose="02020603050405020304" pitchFamily="18" charset="0"/>
              </a:rPr>
              <a:t>прогнозирование</a:t>
            </a:r>
            <a:r>
              <a:rPr lang="ru-RU" sz="1800" dirty="0">
                <a:effectLst/>
                <a:latin typeface="Times New Roman" panose="02020603050405020304" pitchFamily="18" charset="0"/>
                <a:ea typeface="Times New Roman" panose="02020603050405020304" pitchFamily="18" charset="0"/>
              </a:rPr>
              <a:t> и </a:t>
            </a:r>
            <a:r>
              <a:rPr lang="ru-RU" sz="1800" i="1" dirty="0">
                <a:effectLst/>
                <a:latin typeface="Times New Roman" panose="02020603050405020304" pitchFamily="18" charset="0"/>
                <a:ea typeface="Times New Roman" panose="02020603050405020304" pitchFamily="18" charset="0"/>
              </a:rPr>
              <a:t>визуализация</a:t>
            </a:r>
            <a:r>
              <a:rPr lang="ru-RU" sz="1800" dirty="0">
                <a:effectLst/>
                <a:latin typeface="Times New Roman" panose="02020603050405020304" pitchFamily="18" charset="0"/>
                <a:ea typeface="Times New Roman" panose="02020603050405020304" pitchFamily="18" charset="0"/>
              </a:rPr>
              <a:t> - будут подробно рассмотрены в последующих лекциях.</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2</a:t>
            </a:fld>
            <a:endParaRPr lang="LID4096"/>
          </a:p>
        </p:txBody>
      </p:sp>
    </p:spTree>
    <p:extLst>
      <p:ext uri="{BB962C8B-B14F-4D97-AF65-F5344CB8AC3E}">
        <p14:creationId xmlns:p14="http://schemas.microsoft.com/office/powerpoint/2010/main" val="2780835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A774F-4C63-8C39-5AD8-AC0022038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DC6B4-E041-E8E0-0AC8-8C4B1E2785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9E7F7-75BD-F0DE-D090-F70F1D8A622B}"/>
              </a:ext>
            </a:extLst>
          </p:cNvPr>
          <p:cNvSpPr>
            <a:spLocks noGrp="1"/>
          </p:cNvSpPr>
          <p:nvPr>
            <p:ph type="body" idx="1"/>
          </p:nvPr>
        </p:nvSpPr>
        <p:spPr/>
        <p:txBody>
          <a:bodyPr/>
          <a:lstStyle/>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Краткое описание. </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Наиболее простая и распространенная задача Data Mining. В результате решения задачи классификации обнаруживаются признаки, которые характеризуют группы объектов исследуемого набора данных - классы; по этим признакам новый объект можно отнести к тому или иному классу.</a:t>
            </a:r>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rPr>
              <a:t>Этот метод используется для определения категории объекта на основе изучения уже классифицированных примеров. Модели классификации обучаются на данных с известными метками, а затем применяются для предсказания категории новых, ранее неизвестных объектов.</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 решения. </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Для решения задачи классификации могут использоваться методы: ближайшего соседа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Nearest</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Neighbor</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k-ближайшего соседа (k-</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Nearest</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Neighbor</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байесовские сети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Bayesian</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Networks); индукция деревьев решений; нейронные сети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neural</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networks</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endParaRPr lang="ru-RU" dirty="0"/>
          </a:p>
          <a:p>
            <a:pPr algn="l" fontAlgn="base"/>
            <a:r>
              <a:rPr lang="ru-RU" b="0" i="0" dirty="0">
                <a:solidFill>
                  <a:srgbClr val="000000"/>
                </a:solidFill>
                <a:effectLst/>
                <a:latin typeface="times new roman" panose="02020603050405020304" pitchFamily="18" charset="0"/>
              </a:rPr>
              <a:t>При анализе часто бывает необходимо определить, к какому известному классу относятся исследуемые объекты, т.е. классифицировать их. Например, когда человек обращается в банк за предоставлением ему кредита, сотрудник банка должен решить, является ли потенциальный клиент кредитоспособным или нет. Очевидно, такое решение принимается на основе данных об исследуемом объекте (в данном случае, лице): месте его работы, размере заработной платы, возрасте, составе семьи и т.д. В результате анализируя эту информацию, сотрудник банка должен отнести лицо к одному из двух известных классов «кредитоспособные» и «некредитоспособные».</a:t>
            </a:r>
            <a:endParaRPr lang="ru-RU" b="0" i="0" dirty="0">
              <a:effectLst/>
            </a:endParaRPr>
          </a:p>
          <a:p>
            <a:pPr algn="l" fontAlgn="base"/>
            <a:r>
              <a:rPr lang="ru-RU" b="0" i="0" dirty="0">
                <a:solidFill>
                  <a:srgbClr val="000000"/>
                </a:solidFill>
                <a:effectLst/>
                <a:latin typeface="times new roman" panose="02020603050405020304" pitchFamily="18" charset="0"/>
              </a:rPr>
              <a:t>Другим примером проблемы классификации является фильтрация электронной почты. В этом случае программа фильтрации должна классифицировать входящее сообщение как спам (нежелательная электронная почта) или как письмо. Это решение принимается исходя из частоты появления в сообщении определенных слов (например, имя получателя, безличное обращение, слова и фразы: приобретать, «зарабатывать», «выгодное предложение» и т.д.).</a:t>
            </a:r>
            <a:endParaRPr lang="ru-RU" b="0" i="0" dirty="0">
              <a:effectLst/>
            </a:endParaRPr>
          </a:p>
          <a:p>
            <a:pPr algn="l" fontAlgn="base"/>
            <a:r>
              <a:rPr lang="ru-RU" b="0" i="0" dirty="0">
                <a:solidFill>
                  <a:srgbClr val="000000"/>
                </a:solidFill>
                <a:effectLst/>
                <a:latin typeface="times new roman" panose="02020603050405020304" pitchFamily="18" charset="0"/>
              </a:rPr>
              <a:t>В общем случае число классов в задачах классификации может быть больше двух. Например, в задаче распознавания образа фигур таких классов может быть 10 (по числу цифр в десятичной системе). В такой задаче объект классификации представляет собой матрицу пикселей, представляющую изображение распознанной цифры. В этом случае цвет каждого пикселя является характеристикой анализируемого объекта.</a:t>
            </a:r>
            <a:endParaRPr lang="ru-RU" b="0" i="0" dirty="0">
              <a:effectLst/>
            </a:endParaRPr>
          </a:p>
          <a:p>
            <a:pPr marL="0" marR="0"/>
            <a:endParaRPr lang="LID4096" dirty="0"/>
          </a:p>
        </p:txBody>
      </p:sp>
      <p:sp>
        <p:nvSpPr>
          <p:cNvPr id="4" name="Slide Number Placeholder 3">
            <a:extLst>
              <a:ext uri="{FF2B5EF4-FFF2-40B4-BE49-F238E27FC236}">
                <a16:creationId xmlns:a16="http://schemas.microsoft.com/office/drawing/2014/main" id="{E9902A72-CB52-30BC-0351-1BE42A405BE4}"/>
              </a:ext>
            </a:extLst>
          </p:cNvPr>
          <p:cNvSpPr>
            <a:spLocks noGrp="1"/>
          </p:cNvSpPr>
          <p:nvPr>
            <p:ph type="sldNum" sz="quarter" idx="5"/>
          </p:nvPr>
        </p:nvSpPr>
        <p:spPr/>
        <p:txBody>
          <a:bodyPr/>
          <a:lstStyle/>
          <a:p>
            <a:fld id="{3B615917-8825-4C11-9D2C-C82340C4B4E7}" type="slidenum">
              <a:rPr lang="LID4096" smtClean="0"/>
              <a:t>3</a:t>
            </a:fld>
            <a:endParaRPr lang="LID4096"/>
          </a:p>
        </p:txBody>
      </p:sp>
    </p:spTree>
    <p:extLst>
      <p:ext uri="{BB962C8B-B14F-4D97-AF65-F5344CB8AC3E}">
        <p14:creationId xmlns:p14="http://schemas.microsoft.com/office/powerpoint/2010/main" val="2807643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4C41F-9EF6-B008-A627-6826593A7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ACEAD-3A27-5751-929D-662EC2051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7B079-A3E9-6CD1-6050-391383D5AF8E}"/>
              </a:ext>
            </a:extLst>
          </p:cNvPr>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Краткое описание.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логическим продолжением идеи классификации. Это задача более сложная, особенность кластеризации заключается в том, что классы объектов изначально не предопределены. Результатом кластеризации является разбиение объектов на группы.</a:t>
            </a:r>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rPr>
              <a:t>В отличие от классификации, кластеризация исследует данные без каких-либо предварительных меток, с целью разделения их на группы (или кластеры) по схожести. Этот метод позволяет выявлять в данных незаметные на первый взгляд структуры.</a:t>
            </a:r>
          </a:p>
          <a:p>
            <a:pPr marL="0" marR="0"/>
            <a:r>
              <a:rPr lang="ru-RU" sz="2800" b="0" i="0" dirty="0">
                <a:solidFill>
                  <a:srgbClr val="212529"/>
                </a:solidFill>
                <a:effectLst/>
                <a:latin typeface="Open Sans" panose="020B0606030504020204" pitchFamily="34" charset="0"/>
              </a:rPr>
              <a:t>Более сложная задача по сравнению с классификацией ("автоматическая классификация")Ж</a:t>
            </a:r>
          </a:p>
          <a:p>
            <a:pPr marL="0" marR="0"/>
            <a:r>
              <a:rPr lang="ru-RU" sz="2800" b="0" i="0" dirty="0">
                <a:solidFill>
                  <a:srgbClr val="212529"/>
                </a:solidFill>
                <a:effectLst/>
                <a:latin typeface="Open Sans" panose="020B0606030504020204" pitchFamily="34" charset="0"/>
              </a:rPr>
              <a:t>• Разбиение совокупности объектов на однородные группы (кластеры) </a:t>
            </a:r>
          </a:p>
          <a:p>
            <a:pPr marL="0" marR="0"/>
            <a:r>
              <a:rPr lang="ru-RU" sz="2800" b="0" i="0" dirty="0">
                <a:solidFill>
                  <a:srgbClr val="212529"/>
                </a:solidFill>
                <a:effectLst/>
                <a:latin typeface="Open Sans" panose="020B0606030504020204" pitchFamily="34" charset="0"/>
              </a:rPr>
              <a:t>• Поиск неизвестных существующих структур </a:t>
            </a:r>
          </a:p>
          <a:p>
            <a:pPr marL="0" marR="0"/>
            <a:r>
              <a:rPr lang="ru-RU" sz="2800" b="0" i="0" dirty="0">
                <a:solidFill>
                  <a:srgbClr val="212529"/>
                </a:solidFill>
                <a:effectLst/>
                <a:latin typeface="Open Sans" panose="020B0606030504020204" pitchFamily="34" charset="0"/>
              </a:rPr>
              <a:t>• Классы объектов изначально не предопределены •</a:t>
            </a:r>
          </a:p>
          <a:p>
            <a:pPr marL="0" marR="0"/>
            <a:endParaRPr lang="ru-RU" sz="2800" b="0" i="0" dirty="0">
              <a:solidFill>
                <a:srgbClr val="212529"/>
              </a:solidFill>
              <a:effectLst/>
              <a:latin typeface="Open Sans" panose="020B0606030504020204" pitchFamily="34" charset="0"/>
            </a:endParaRPr>
          </a:p>
          <a:p>
            <a:pPr marL="0" marR="0"/>
            <a:r>
              <a:rPr lang="ru-RU" sz="2800" b="0" i="0" dirty="0">
                <a:solidFill>
                  <a:srgbClr val="212529"/>
                </a:solidFill>
                <a:effectLst/>
                <a:latin typeface="Open Sans" panose="020B0606030504020204" pitchFamily="34" charset="0"/>
              </a:rPr>
              <a:t>Примеры методов и алгоритмов: </a:t>
            </a:r>
          </a:p>
          <a:p>
            <a:pPr marL="0" marR="0"/>
            <a:r>
              <a:rPr lang="ru-RU" sz="2800" b="0" i="0" dirty="0">
                <a:solidFill>
                  <a:srgbClr val="212529"/>
                </a:solidFill>
                <a:effectLst/>
                <a:latin typeface="Open Sans" panose="020B0606030504020204" pitchFamily="34" charset="0"/>
              </a:rPr>
              <a:t>• самоорганизующиеся карты Кохонена (</a:t>
            </a:r>
            <a:r>
              <a:rPr lang="ru-RU" sz="2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обучение "без учителя" особого вида нейронных сетей</a:t>
            </a:r>
            <a:r>
              <a:rPr lang="ru-RU" sz="2800" b="0" i="0" dirty="0">
                <a:solidFill>
                  <a:srgbClr val="212529"/>
                </a:solidFill>
                <a:effectLst/>
                <a:latin typeface="Open Sans" panose="020B0606030504020204" pitchFamily="34" charset="0"/>
              </a:rPr>
              <a:t>) </a:t>
            </a:r>
          </a:p>
          <a:p>
            <a:pPr marL="0" marR="0"/>
            <a:r>
              <a:rPr lang="ru-RU" sz="2800" b="0" i="0" dirty="0">
                <a:solidFill>
                  <a:srgbClr val="212529"/>
                </a:solidFill>
                <a:effectLst/>
                <a:latin typeface="Open Sans" panose="020B0606030504020204" pitchFamily="34" charset="0"/>
              </a:rPr>
              <a:t>• алгоритм k-средних</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algn="l" fontAlgn="base"/>
            <a:r>
              <a:rPr lang="ru-RU" sz="2800" b="0" i="0" dirty="0">
                <a:solidFill>
                  <a:srgbClr val="000000"/>
                </a:solidFill>
                <a:effectLst/>
                <a:latin typeface="times new roman" panose="02020603050405020304" pitchFamily="18" charset="0"/>
              </a:rPr>
              <a:t>Задача кластеризации состоит в разделении исследуемого набора объектов на группы «похожих» объектов, называемых кластерами. Часто решение проблемы разбиения набора элементов на кластеры называется кластерным анализом.</a:t>
            </a:r>
            <a:endParaRPr lang="ru-RU" sz="2800" b="0" i="0" dirty="0">
              <a:effectLst/>
            </a:endParaRPr>
          </a:p>
          <a:p>
            <a:pPr algn="l" fontAlgn="base"/>
            <a:r>
              <a:rPr lang="ru-RU" sz="2800" b="0" i="0" dirty="0">
                <a:solidFill>
                  <a:srgbClr val="000000"/>
                </a:solidFill>
                <a:effectLst/>
                <a:latin typeface="times new roman" panose="02020603050405020304" pitchFamily="18" charset="0"/>
              </a:rPr>
              <a:t>Кластеризация может быть применена практически в любой области, где необходимо изучить экспериментальные или статистические данные. Рассмотрим пример из области маркетинга, в котором эта задача называется сегментацией.</a:t>
            </a:r>
            <a:endParaRPr lang="ru-RU" sz="2800" b="0" i="0" dirty="0">
              <a:effectLst/>
            </a:endParaRPr>
          </a:p>
          <a:p>
            <a:pPr algn="l" fontAlgn="base"/>
            <a:r>
              <a:rPr lang="ru-RU" sz="2800" b="0" i="0" dirty="0">
                <a:solidFill>
                  <a:srgbClr val="000000"/>
                </a:solidFill>
                <a:effectLst/>
                <a:latin typeface="times new roman" panose="02020603050405020304" pitchFamily="18" charset="0"/>
              </a:rPr>
              <a:t>Концептуально сегментирование основано на предпосылке, что все потребители различны. У них разные потребности, разные требования к товарам, они ведут себя по-разному: в процессе выбора товаров, в процессе приобретения товара, в процессе использования товара, в процессе формирования реакции на товар. В этой связи необходимо по-разному подходить к работе с потребителями: предлагать им разные товары в соответствии с их характеристиками, продвигать и продавать товары по-разному. Чтобы определить, как потребители отличаются друг от друга и как эти различия отражаются в требованиях к продукту, проводится сегментация потребителей.</a:t>
            </a:r>
            <a:endParaRPr lang="ru-RU" sz="2800" b="0" i="0" dirty="0">
              <a:effectLst/>
            </a:endParaRPr>
          </a:p>
          <a:p>
            <a:pPr algn="l" fontAlgn="base"/>
            <a:r>
              <a:rPr lang="ru-RU" sz="2800" b="0" i="0" dirty="0">
                <a:solidFill>
                  <a:srgbClr val="000000"/>
                </a:solidFill>
                <a:effectLst/>
                <a:latin typeface="times new roman" panose="02020603050405020304" pitchFamily="18" charset="0"/>
              </a:rPr>
              <a:t>В маркетинге критериями (характеристиками) сегментации являются: географическое положение, социально-демографические характеристики, мотивы для покупки и т.д.</a:t>
            </a:r>
            <a:endParaRPr lang="ru-RU" sz="2800" b="0" i="0" dirty="0">
              <a:effectLst/>
            </a:endParaRPr>
          </a:p>
          <a:p>
            <a:pPr algn="l" fontAlgn="base"/>
            <a:r>
              <a:rPr lang="ru-RU" sz="2800" b="0" i="0" dirty="0">
                <a:solidFill>
                  <a:srgbClr val="000000"/>
                </a:solidFill>
                <a:effectLst/>
                <a:latin typeface="times new roman" panose="02020603050405020304" pitchFamily="18" charset="0"/>
              </a:rPr>
              <a:t>Основываясь на результатах сегментирования, маркетолог может определить, например, такие характеристики сегментов рынка, как реальная и потенциальная емкость сегмента, группы потребителей, потребности которых не полностью удовлетворяются любым производителем, работающим в этом сегменте рынка, и т.д. На основании этих параметров маркетолог может сделать вывод о привлекательности фирмы в каждом из выбранных сегментов рынка.</a:t>
            </a:r>
            <a:endParaRPr lang="ru-RU" sz="2800" b="0" i="0" dirty="0">
              <a:effectLst/>
            </a:endParaRPr>
          </a:p>
          <a:p>
            <a:pPr algn="l" fontAlgn="base"/>
            <a:r>
              <a:rPr lang="ru-RU" sz="2800" b="0" i="0" dirty="0">
                <a:solidFill>
                  <a:srgbClr val="000000"/>
                </a:solidFill>
                <a:effectLst/>
                <a:latin typeface="times new roman" panose="02020603050405020304" pitchFamily="18" charset="0"/>
              </a:rPr>
              <a:t>Для научных исследований изучение результатов кластеризации, а именно выяснение причин группировки объектов, может открыть новые перспективные направления. Традиционный пример, который обычно дается для этого случая, - это периодическая таблица элементов. В 1869 году Дмитрий Менделеев разделил 60 известных в то время элементов на кластеры или периоды. Элементы, которые попадают в одну группу, имеют сходные характеристики. Изучение причин, по которым эти элементы были разбиты на явные кластеры, во многом определило приоритеты научных исследований на долгие годы. Но только через 50 лет квантовая физика дала убедительные объяснения периодической системы.</a:t>
            </a:r>
            <a:endParaRPr lang="ru-RU" sz="2800" b="0" i="0" dirty="0">
              <a:effectLst/>
            </a:endParaRPr>
          </a:p>
          <a:p>
            <a:pPr algn="l" fontAlgn="base"/>
            <a:r>
              <a:rPr lang="ru-RU" sz="2800" b="0" i="0" dirty="0">
                <a:solidFill>
                  <a:srgbClr val="000000"/>
                </a:solidFill>
                <a:effectLst/>
                <a:latin typeface="times new roman" panose="02020603050405020304" pitchFamily="18" charset="0"/>
              </a:rPr>
              <a:t>Кластеризация отличается от классификации тем, что для анализа не требуется выделенная зависимая переменная. С этой точки зрения это относится к классу неконтролируемого обучения. Эта проблема решается на начальных этапах исследования, когда мало известно о данных. Его решение помогает лучше понять данные, и с этой точки зрения задача кластеризации - описательная задача.</a:t>
            </a:r>
            <a:endParaRPr lang="ru-RU" sz="2800" b="0" i="0" dirty="0">
              <a:effectLst/>
            </a:endParaRPr>
          </a:p>
          <a:p>
            <a:pPr algn="l" fontAlgn="base"/>
            <a:r>
              <a:rPr lang="ru-RU" sz="2800" b="0" i="0" dirty="0">
                <a:solidFill>
                  <a:srgbClr val="000000"/>
                </a:solidFill>
                <a:effectLst/>
                <a:latin typeface="times new roman" panose="02020603050405020304" pitchFamily="18" charset="0"/>
              </a:rPr>
              <a:t>Проблема кластеризации характеризуется отсутствием каких-либо различий между обеими переменными и между объектами. Наоборот, ищутся группы ближайших, подобных объектов. Методы автоматической кластеризации редко используются сами по себе, просто для получения групп похожих объектов. После определения кластеров используются другие методы интеллектуального анализа данных, чтобы попытаться установить принцип секционирования.</a:t>
            </a:r>
            <a:endParaRPr lang="ru-RU" sz="2800" b="0" i="0" dirty="0">
              <a:effectLst/>
            </a:endParaRPr>
          </a:p>
          <a:p>
            <a:pPr algn="l" fontAlgn="base"/>
            <a:r>
              <a:rPr lang="ru-RU" sz="2800" b="0" i="0" dirty="0">
                <a:solidFill>
                  <a:srgbClr val="000000"/>
                </a:solidFill>
                <a:effectLst/>
                <a:latin typeface="times new roman" panose="02020603050405020304" pitchFamily="18" charset="0"/>
              </a:rPr>
              <a:t>Кластерный анализ позволяет рассматривать довольно большой объем информации и резко сокращать, сжимать большие объемы информации, делать их компактными и интуитивно понятными.</a:t>
            </a:r>
            <a:endParaRPr lang="ru-RU" sz="2800" b="0" i="0" dirty="0">
              <a:effectLst/>
            </a:endParaRPr>
          </a:p>
          <a:p>
            <a:pPr algn="l" fontAlgn="base"/>
            <a:r>
              <a:rPr lang="ru-RU" sz="2800" b="0" i="0" dirty="0">
                <a:solidFill>
                  <a:srgbClr val="000000"/>
                </a:solidFill>
                <a:effectLst/>
                <a:latin typeface="times new roman" panose="02020603050405020304" pitchFamily="18" charset="0"/>
              </a:rPr>
              <a:t>Отметим ряд особенностей, присущих проблеме кластеризации.</a:t>
            </a:r>
            <a:endParaRPr lang="ru-RU" sz="2800" b="0" i="0" dirty="0">
              <a:effectLst/>
            </a:endParaRPr>
          </a:p>
          <a:p>
            <a:pPr algn="l" fontAlgn="base"/>
            <a:r>
              <a:rPr lang="ru-RU" sz="2800" b="0" i="0" dirty="0">
                <a:solidFill>
                  <a:srgbClr val="000000"/>
                </a:solidFill>
                <a:effectLst/>
                <a:latin typeface="times new roman" panose="02020603050405020304" pitchFamily="18" charset="0"/>
              </a:rPr>
              <a:t>Во-первых, решение сильно зависит от природы объектов данных (и их атрибутов). Таким образом, с одной стороны, это могут быть однозначно определенные, четко определенные объекты, а с другой - объекты, которые имеют вероятностное или нечеткое описание.</a:t>
            </a:r>
            <a:endParaRPr lang="ru-RU" sz="2800" b="0" i="0" dirty="0">
              <a:effectLst/>
            </a:endParaRPr>
          </a:p>
          <a:p>
            <a:pPr algn="l" fontAlgn="base"/>
            <a:r>
              <a:rPr lang="ru-RU" sz="2800" b="0" i="0" dirty="0">
                <a:solidFill>
                  <a:srgbClr val="000000"/>
                </a:solidFill>
                <a:effectLst/>
                <a:latin typeface="times new roman" panose="02020603050405020304" pitchFamily="18" charset="0"/>
              </a:rPr>
              <a:t>Во-вторых, решение также зависит от представления кластеров и ожидаемых отношений объектов данных и кластеров. Таким образом, необходимо учитывать такие свойства, как возможность/невозможность объектов принадлежать нескольким кластерам. Необходимо определить само понятие принадлежности к кластеру: однозначное (принадлежит/не принадлежит), вероятностное (вероятность принадлежности), нечеткое (степень принадлежности).</a:t>
            </a:r>
            <a:endParaRPr lang="ru-RU" sz="2800" b="0" i="0" dirty="0">
              <a:effectLst/>
            </a:endParaRPr>
          </a:p>
          <a:p>
            <a:pPr marL="0" marR="0"/>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5D455F8-3169-B552-C7A3-494F86AF602E}"/>
              </a:ext>
            </a:extLst>
          </p:cNvPr>
          <p:cNvSpPr>
            <a:spLocks noGrp="1"/>
          </p:cNvSpPr>
          <p:nvPr>
            <p:ph type="sldNum" sz="quarter" idx="5"/>
          </p:nvPr>
        </p:nvSpPr>
        <p:spPr/>
        <p:txBody>
          <a:bodyPr/>
          <a:lstStyle/>
          <a:p>
            <a:fld id="{3B615917-8825-4C11-9D2C-C82340C4B4E7}" type="slidenum">
              <a:rPr lang="LID4096" smtClean="0"/>
              <a:t>4</a:t>
            </a:fld>
            <a:endParaRPr lang="LID4096"/>
          </a:p>
        </p:txBody>
      </p:sp>
    </p:spTree>
    <p:extLst>
      <p:ext uri="{BB962C8B-B14F-4D97-AF65-F5344CB8AC3E}">
        <p14:creationId xmlns:p14="http://schemas.microsoft.com/office/powerpoint/2010/main" val="250291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33001-0EEB-039D-0A98-2A7A08E6E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C07E0-325A-9FD7-E234-C924C93BF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3C343-5A48-B67D-AEFC-C179D5DC6D63}"/>
              </a:ext>
            </a:extLst>
          </p:cNvPr>
          <p:cNvSpPr>
            <a:spLocks noGrp="1"/>
          </p:cNvSpPr>
          <p:nvPr>
            <p:ph type="body" idx="1"/>
          </p:nvPr>
        </p:nvSpPr>
        <p:spPr/>
        <p:txBody>
          <a:bodyPr/>
          <a:lstStyle/>
          <a:p>
            <a:pPr marL="0" marR="0" lvl="0" indent="0">
              <a:lnSpc>
                <a:spcPts val="1800"/>
              </a:lnSpc>
              <a:spcBef>
                <a:spcPts val="0"/>
              </a:spcBef>
              <a:spcAft>
                <a:spcPts val="1500"/>
              </a:spcAft>
              <a:buSzPts val="1000"/>
              <a:buFont typeface="Symbol" panose="05050102010706020507" pitchFamily="18" charset="2"/>
              <a:buNone/>
              <a:tabLst>
                <a:tab pos="457200" algn="l"/>
              </a:tabLst>
            </a:pPr>
            <a:r>
              <a:rPr lang="ru-RU" sz="1800" b="1" i="1" dirty="0">
                <a:solidFill>
                  <a:srgbClr val="000A1A"/>
                </a:solidFill>
                <a:effectLst/>
                <a:latin typeface="Times New Roman" panose="02020603050405020304" pitchFamily="18" charset="0"/>
                <a:ea typeface="Times New Roman" panose="02020603050405020304" pitchFamily="18" charset="0"/>
              </a:rPr>
              <a:t>Ассоциативный анализ.</a:t>
            </a:r>
            <a:r>
              <a:rPr lang="ru-RU" sz="1800" i="1" dirty="0">
                <a:solidFill>
                  <a:srgbClr val="000A1A"/>
                </a:solidFill>
                <a:effectLst/>
                <a:latin typeface="Times New Roman" panose="02020603050405020304" pitchFamily="18" charset="0"/>
                <a:ea typeface="Times New Roman" panose="02020603050405020304" pitchFamily="18" charset="0"/>
              </a:rPr>
              <a:t> </a:t>
            </a:r>
            <a:r>
              <a:rPr lang="ru-RU" sz="1800" dirty="0">
                <a:solidFill>
                  <a:srgbClr val="000A1A"/>
                </a:solidFill>
                <a:effectLst/>
                <a:latin typeface="Times New Roman" panose="02020603050405020304" pitchFamily="18" charset="0"/>
                <a:ea typeface="Times New Roman" panose="02020603050405020304" pitchFamily="18" charset="0"/>
              </a:rPr>
              <a:t>Основная задача этого метода — нахождение интересных, часто встречающихся в данных паттернов, правил или ассоциаций. Наиболее известное применение — анализ корзины покупок, когда исследуются комбинации товаров, часто покупаемых вместе.</a:t>
            </a:r>
            <a:endParaRPr lang="en-US" sz="1800" dirty="0">
              <a:solidFill>
                <a:srgbClr val="000A1A"/>
              </a:solidFill>
              <a:effectLst/>
              <a:latin typeface="Times New Roman" panose="02020603050405020304" pitchFamily="18" charset="0"/>
              <a:ea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Краткое описание. В ходе решения задачи поиска ассоциативных правил отыскиваются закономерности между связанными событиями в наборе данных.</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Отличие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ассоциации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 двух предыдущих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 Data Mining</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поиск закономерностей осуществляется не на основе свойств анализируемого объекта, а между несколькими событиями, которые происходят одновременно.</a:t>
            </a:r>
          </a:p>
          <a:p>
            <a:r>
              <a:rPr lang="ru-RU" sz="1800" dirty="0">
                <a:effectLst/>
                <a:latin typeface="Times New Roman" panose="02020603050405020304" pitchFamily="18" charset="0"/>
                <a:ea typeface="Times New Roman" panose="02020603050405020304" pitchFamily="18" charset="0"/>
              </a:rPr>
              <a:t>Наиболее известный алгоритм решения задачи поиска ассоциативных правил - алгоритм </a:t>
            </a:r>
            <a:r>
              <a:rPr lang="ru-RU" sz="1800" dirty="0" err="1">
                <a:effectLst/>
                <a:latin typeface="Times New Roman" panose="02020603050405020304" pitchFamily="18" charset="0"/>
                <a:ea typeface="Times New Roman" panose="02020603050405020304" pitchFamily="18" charset="0"/>
              </a:rPr>
              <a:t>Apriori</a:t>
            </a:r>
            <a:r>
              <a:rPr lang="ru-RU" sz="1800" dirty="0">
                <a:effectLst/>
                <a:latin typeface="Times New Roman" panose="02020603050405020304" pitchFamily="18" charset="0"/>
                <a:ea typeface="Times New Roman" panose="02020603050405020304" pitchFamily="18" charset="0"/>
              </a:rPr>
              <a:t>.</a:t>
            </a:r>
          </a:p>
          <a:p>
            <a:pPr marL="0" marR="0"/>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2800" b="0" i="0" dirty="0">
                <a:solidFill>
                  <a:srgbClr val="605E5E"/>
                </a:solidFill>
                <a:effectLst/>
                <a:latin typeface="din-next-w01-light"/>
              </a:rPr>
              <a:t>Поиск ассоциативных правил - одно из самых популярных приложений интеллектуального анализа данных. </a:t>
            </a:r>
          </a:p>
          <a:p>
            <a:pPr marL="0" marR="0"/>
            <a:r>
              <a:rPr lang="ru-RU" sz="2800" b="0" i="0" dirty="0">
                <a:solidFill>
                  <a:srgbClr val="605E5E"/>
                </a:solidFill>
                <a:effectLst/>
                <a:latin typeface="din-next-w01-light"/>
              </a:rPr>
              <a:t>Суть проблемы заключается в определении часто встречающихся множеств объектов в большом наборе таких множеств. </a:t>
            </a:r>
          </a:p>
          <a:p>
            <a:pPr marL="0" marR="0"/>
            <a:r>
              <a:rPr lang="ru-RU" sz="2800" b="0" i="0" dirty="0">
                <a:solidFill>
                  <a:srgbClr val="605E5E"/>
                </a:solidFill>
                <a:effectLst/>
                <a:latin typeface="din-next-w01-light"/>
              </a:rPr>
              <a:t>Эта задача является частным случаем проблемы классификации. Изначально она применялась при анализе тенденций поведения клиентов в супермаркетах. Анализу были подвергнуты данные о сделанных покупках, которые покупатели положили в тележку (корзину). Это стало причиной второго общепринятого названия - анализа рыночных корзин (</a:t>
            </a:r>
            <a:r>
              <a:rPr lang="ru-RU" sz="2800" b="0" i="0" dirty="0" err="1">
                <a:solidFill>
                  <a:srgbClr val="605E5E"/>
                </a:solidFill>
                <a:effectLst/>
                <a:latin typeface="din-next-w01-light"/>
              </a:rPr>
              <a:t>Basket</a:t>
            </a:r>
            <a:r>
              <a:rPr lang="ru-RU" sz="2800" b="0" i="0" dirty="0">
                <a:solidFill>
                  <a:srgbClr val="605E5E"/>
                </a:solidFill>
                <a:effectLst/>
                <a:latin typeface="din-next-w01-light"/>
              </a:rPr>
              <a:t> Analysis). Анализ этих данных позволяет судить о том, какие товары покупаются вместе, в каком порядке, какими категориями потребителей, какие продукты предпочтительней, в какие периоды времени и т.д. Такая информация позволяет более эффективно планировать закупку товаров, проведение рекламной кампании и т.д. </a:t>
            </a:r>
          </a:p>
          <a:p>
            <a:pPr marL="0" marR="0"/>
            <a:r>
              <a:rPr lang="ru-RU" sz="2800" b="0" i="0" dirty="0">
                <a:solidFill>
                  <a:srgbClr val="605E5E"/>
                </a:solidFill>
                <a:effectLst/>
                <a:latin typeface="din-next-w01-light"/>
              </a:rPr>
              <a:t>Например, из набора покупок, сделанных в магазине, вы можете определить следующие наборы продуктов, которые покупаются вместе:</a:t>
            </a:r>
          </a:p>
          <a:p>
            <a:pPr marL="0" marR="0"/>
            <a:r>
              <a:rPr lang="ru-RU" sz="2800" b="0" i="0" dirty="0">
                <a:solidFill>
                  <a:srgbClr val="605E5E"/>
                </a:solidFill>
                <a:effectLst/>
                <a:latin typeface="din-next-w01-light"/>
              </a:rPr>
              <a:t>- {макароны, кетчуп};</a:t>
            </a:r>
          </a:p>
          <a:p>
            <a:pPr marL="0" marR="0"/>
            <a:r>
              <a:rPr lang="ru-RU" sz="2800" b="0" i="0" dirty="0">
                <a:solidFill>
                  <a:srgbClr val="605E5E"/>
                </a:solidFill>
                <a:effectLst/>
                <a:latin typeface="din-next-w01-light"/>
              </a:rPr>
              <a:t>- {сосиски, картофель}.</a:t>
            </a:r>
          </a:p>
          <a:p>
            <a:pPr marL="0" marR="0"/>
            <a:r>
              <a:rPr lang="ru-RU" sz="2800" b="0" i="0" dirty="0">
                <a:solidFill>
                  <a:srgbClr val="605E5E"/>
                </a:solidFill>
                <a:effectLst/>
                <a:latin typeface="din-next-w01-light"/>
              </a:rPr>
              <a:t>Поэтому можно заключить, что если куплены макароны или картофель, то, как правило, покупают кетчуп или сосиски соответственно. Обладая такими знаниями, можно разместить эти товары бок о бок, объединить их в один пакет со скидкой или предпринять другие действия, которые стимулируют покупателя к покупке товара.</a:t>
            </a:r>
          </a:p>
          <a:p>
            <a:pPr marL="0" marR="0"/>
            <a:r>
              <a:rPr lang="ru-RU" sz="2800" b="0" i="0" dirty="0">
                <a:solidFill>
                  <a:srgbClr val="605E5E"/>
                </a:solidFill>
                <a:effectLst/>
                <a:latin typeface="din-next-w01-light"/>
              </a:rPr>
              <a:t>Задача поиска ассоциативных правил актуальна не только в сфере торговли. Например, в сфере услуг интерес представляет то, какие услуги клиенты предпочитают использовать в совокупности. Чтобы получить эту информацию, проблема решается со ссылкой на данные об услугах, которые один клиент использует в течение определенного времени (месяц, год). Это помогает определить, например, как лучше всего составить пакеты услуг, предлагаемых клиенту.</a:t>
            </a:r>
          </a:p>
          <a:p>
            <a:pPr marL="0" marR="0"/>
            <a:r>
              <a:rPr lang="ru-RU" sz="2800" b="0" i="0" dirty="0">
                <a:solidFill>
                  <a:srgbClr val="605E5E"/>
                </a:solidFill>
                <a:effectLst/>
                <a:latin typeface="din-next-w01-light"/>
              </a:rPr>
              <a:t>В медицине симптомы и заболевания, наблюдаемые у пациентов, могут быть проанализированы. В этом случае знание комбинаций заболеваний и симптомов наиболее часто помогают правильно диагностировать в будущем.</a:t>
            </a:r>
          </a:p>
          <a:p>
            <a:pPr marL="0" marR="0"/>
            <a:endParaRPr lang="ru-RU" sz="2800" b="0" i="0" dirty="0">
              <a:solidFill>
                <a:srgbClr val="605E5E"/>
              </a:solidFill>
              <a:effectLst/>
              <a:latin typeface="din-next-w01-light"/>
            </a:endParaRPr>
          </a:p>
        </p:txBody>
      </p:sp>
      <p:sp>
        <p:nvSpPr>
          <p:cNvPr id="4" name="Slide Number Placeholder 3">
            <a:extLst>
              <a:ext uri="{FF2B5EF4-FFF2-40B4-BE49-F238E27FC236}">
                <a16:creationId xmlns:a16="http://schemas.microsoft.com/office/drawing/2014/main" id="{1A036FA5-C75D-2780-83E4-D8B3F3CDCCA8}"/>
              </a:ext>
            </a:extLst>
          </p:cNvPr>
          <p:cNvSpPr>
            <a:spLocks noGrp="1"/>
          </p:cNvSpPr>
          <p:nvPr>
            <p:ph type="sldNum" sz="quarter" idx="5"/>
          </p:nvPr>
        </p:nvSpPr>
        <p:spPr/>
        <p:txBody>
          <a:bodyPr/>
          <a:lstStyle/>
          <a:p>
            <a:fld id="{3B615917-8825-4C11-9D2C-C82340C4B4E7}" type="slidenum">
              <a:rPr lang="LID4096" smtClean="0"/>
              <a:t>5</a:t>
            </a:fld>
            <a:endParaRPr lang="LID4096"/>
          </a:p>
        </p:txBody>
      </p:sp>
    </p:spTree>
    <p:extLst>
      <p:ext uri="{BB962C8B-B14F-4D97-AF65-F5344CB8AC3E}">
        <p14:creationId xmlns:p14="http://schemas.microsoft.com/office/powerpoint/2010/main" val="2649548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106AE-021D-3EF9-274B-FA065B392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73BAD-0604-2F0B-F35A-74C0ABB94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FB302-2B65-99FD-4667-CA85FB2EF315}"/>
              </a:ext>
            </a:extLst>
          </p:cNvPr>
          <p:cNvSpPr>
            <a:spLocks noGrp="1"/>
          </p:cNvSpPr>
          <p:nvPr>
            <p:ph type="body" idx="1"/>
          </p:nvPr>
        </p:nvSpPr>
        <p:spPr/>
        <p:txBody>
          <a:bodyPr/>
          <a:lstStyle/>
          <a:p>
            <a:pPr marL="0" marR="0"/>
            <a:r>
              <a:rPr lang="ru-RU" sz="1800" b="0" i="0" dirty="0">
                <a:solidFill>
                  <a:srgbClr val="605E5E"/>
                </a:solidFill>
                <a:effectLst/>
                <a:latin typeface="din-next-w01-light"/>
              </a:rPr>
              <a:t>В анализе часто встречается последовательность событий, которые происходят. Если обнаруживаются закономерности в таких последовательностях, можно с определенной вероятностью предсказать возникновение событий в будущем, что позволяет принимать более правильные решения. Такая задача является своего рода проблемой поиска ассоциативных правил и называется последовательным анализом.</a:t>
            </a:r>
          </a:p>
          <a:p>
            <a:pPr marL="0" marR="0"/>
            <a:r>
              <a:rPr lang="ru-RU" sz="1800" b="0" i="0" dirty="0">
                <a:solidFill>
                  <a:srgbClr val="605E5E"/>
                </a:solidFill>
                <a:effectLst/>
                <a:latin typeface="din-next-w01-light"/>
              </a:rPr>
              <a:t>Основное различие между задачей последовательного анализа и поиском ассоциативных правил - установление порядка отношений между изученными множествами. Это соотношение можно определить по-разному. При анализе последовательности событий, происходящих во времени, объекты таких множеств являются событиями, а порядок отношений соответствует хронологии их возникновения.</a:t>
            </a:r>
          </a:p>
          <a:p>
            <a:pPr marL="0" marR="0"/>
            <a:r>
              <a:rPr lang="ru-RU" sz="1800" b="0" i="0" dirty="0">
                <a:solidFill>
                  <a:srgbClr val="605E5E"/>
                </a:solidFill>
                <a:effectLst/>
                <a:latin typeface="din-next-w01-light"/>
              </a:rPr>
              <a:t>Последовательный анализ широко используется, например, в телекоммуникационных компаниях, для анализа данных об авариях в различных узлах сети. Информация о последовательности аварий может помочь в выявлении проблем и предотвращении новых аварий.</a:t>
            </a:r>
            <a:endParaRPr lang="en-US"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Краткое описание.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Последовательность</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позволяет найти временные закономерности между транзакциями. Задача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последовательности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подобна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ассоциации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но ее целью является установление закономерностей не между одновременно наступающими событиями, а между событиями, связанными во времени (т.е. происходящими с некоторым определенным интервалом во времени). Другими словами,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последовательность</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определяется высокой вероятностью цепочки связанных во времени событий. Фактически,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ассоциация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частным случаем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последовательности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 временным лагом, равным нулю. Эту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задачу Data Mining</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также называют задачей нахождения последовательных шаблонов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sequential</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pattern</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Правило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последовательности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после события X через определенное время произойдет событие Y.</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 После покупки квартиры жильцы в 60% случаев в течение двух недель приобретают холодильник, а в течение двух месяцев в 50% случаев приобретается телевизор. Решение данной задачи широко применяется в маркетинге и менеджменте, например, при управлении циклом работы с клиентом (Customer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Lifecycle</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Management).</a:t>
            </a:r>
          </a:p>
          <a:p>
            <a:pPr marL="0" marR="0"/>
            <a:endParaRPr lang="ru-RU" sz="2800" b="0" i="0" dirty="0">
              <a:solidFill>
                <a:srgbClr val="605E5E"/>
              </a:solidFill>
              <a:effectLst/>
              <a:latin typeface="din-next-w01-light"/>
            </a:endParaRPr>
          </a:p>
        </p:txBody>
      </p:sp>
      <p:sp>
        <p:nvSpPr>
          <p:cNvPr id="4" name="Slide Number Placeholder 3">
            <a:extLst>
              <a:ext uri="{FF2B5EF4-FFF2-40B4-BE49-F238E27FC236}">
                <a16:creationId xmlns:a16="http://schemas.microsoft.com/office/drawing/2014/main" id="{CB071069-DC73-5902-DA08-DC3B357D93BA}"/>
              </a:ext>
            </a:extLst>
          </p:cNvPr>
          <p:cNvSpPr>
            <a:spLocks noGrp="1"/>
          </p:cNvSpPr>
          <p:nvPr>
            <p:ph type="sldNum" sz="quarter" idx="5"/>
          </p:nvPr>
        </p:nvSpPr>
        <p:spPr/>
        <p:txBody>
          <a:bodyPr/>
          <a:lstStyle/>
          <a:p>
            <a:fld id="{3B615917-8825-4C11-9D2C-C82340C4B4E7}" type="slidenum">
              <a:rPr lang="LID4096" smtClean="0"/>
              <a:t>6</a:t>
            </a:fld>
            <a:endParaRPr lang="LID4096"/>
          </a:p>
        </p:txBody>
      </p:sp>
    </p:spTree>
    <p:extLst>
      <p:ext uri="{BB962C8B-B14F-4D97-AF65-F5344CB8AC3E}">
        <p14:creationId xmlns:p14="http://schemas.microsoft.com/office/powerpoint/2010/main" val="2343188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51B3-C09C-D80F-1176-1F65FB6C5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679D2-818C-1DE3-BED9-7CDEA5945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1310B-D428-364D-F98C-955A3B1A80DE}"/>
              </a:ext>
            </a:extLst>
          </p:cNvPr>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Краткое описание. В результате решения задачи прогнозирования на основе особенностей исторических данных оцениваются пропущенные или же будущие значения целевых численных показателей. </a:t>
            </a:r>
          </a:p>
          <a:p>
            <a:pPr marL="0" marR="0"/>
            <a:r>
              <a:rPr lang="ru-RU"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rPr>
              <a:t>Этот метод анализа данных нацелен на прогноз будущих событий или тенденций на основе исторических данных. </a:t>
            </a:r>
            <a:endParaRPr lang="en-US"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endParaRPr lang="en-US"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r>
              <a:rPr lang="ru-RU"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rPr>
              <a:t>Прогнозирование может базироваться на статистических моделях, машинном обучении или комбинации подходов.</a:t>
            </a:r>
            <a:endParaRPr lang="en-US"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Для решения таких задач широко применяются методы математической статистики, нейронные сети и др.</a:t>
            </a:r>
          </a:p>
          <a:p>
            <a:pPr marL="0" marR="0"/>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2800" b="0" i="0" dirty="0">
                <a:solidFill>
                  <a:srgbClr val="000000"/>
                </a:solidFill>
                <a:effectLst/>
                <a:latin typeface="times new roman" panose="02020603050405020304" pitchFamily="18" charset="0"/>
              </a:rPr>
              <a:t>Проблема прогнозирования новых значений выделяется отдельно на основе доступных значений числовой последовательности (или нескольких последовательностей между значениями, в которых наблюдается корреляция). Это может учитывать существующие тренды (тенденции), сезонность и другие факторы. Классическим примером является прогнозирование курсов акций на фондовой бирже.</a:t>
            </a:r>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107500C-A11E-2D82-7ED6-7B93DCDBDFF2}"/>
              </a:ext>
            </a:extLst>
          </p:cNvPr>
          <p:cNvSpPr>
            <a:spLocks noGrp="1"/>
          </p:cNvSpPr>
          <p:nvPr>
            <p:ph type="sldNum" sz="quarter" idx="5"/>
          </p:nvPr>
        </p:nvSpPr>
        <p:spPr/>
        <p:txBody>
          <a:bodyPr/>
          <a:lstStyle/>
          <a:p>
            <a:fld id="{3B615917-8825-4C11-9D2C-C82340C4B4E7}" type="slidenum">
              <a:rPr lang="LID4096" smtClean="0"/>
              <a:t>7</a:t>
            </a:fld>
            <a:endParaRPr lang="LID4096"/>
          </a:p>
        </p:txBody>
      </p:sp>
    </p:spTree>
    <p:extLst>
      <p:ext uri="{BB962C8B-B14F-4D97-AF65-F5344CB8AC3E}">
        <p14:creationId xmlns:p14="http://schemas.microsoft.com/office/powerpoint/2010/main" val="1905021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66CE3-374F-E9EA-1CCE-218545C33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07D3D-C2AD-BE77-E5BE-57AA4DFB1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EDFD8-4A2C-1615-9030-6B8A94493F8A}"/>
              </a:ext>
            </a:extLst>
          </p:cNvPr>
          <p:cNvSpPr>
            <a:spLocks noGrp="1"/>
          </p:cNvSpPr>
          <p:nvPr>
            <p:ph type="body" idx="1"/>
          </p:nvPr>
        </p:nvSpPr>
        <p:spPr/>
        <p:txBody>
          <a:bodyPr/>
          <a:lstStyle/>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Определение отклонений или выбросов </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Deviation</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Detection</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анализ отклонений или выбросов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Краткое описание. Цель решения данной задачи - обнаружение и анализ данных, наиболее отличающихся от общего множества данных, выявление так называемых нехарактерных шаблонов.</a:t>
            </a:r>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b="1" i="1"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rPr>
              <a:t>Выявление аномалий.</a:t>
            </a:r>
            <a:r>
              <a:rPr lang="ru-RU" sz="1800" i="1" dirty="0">
                <a:solidFill>
                  <a:srgbClr val="000A1A"/>
                </a:solidFill>
                <a:effectLst/>
                <a:latin typeface="Calibri" panose="020F0502020204030204" pitchFamily="34" charset="0"/>
                <a:ea typeface="Times New Roman" panose="02020603050405020304" pitchFamily="18" charset="0"/>
                <a:cs typeface="Times New Roman" panose="02020603050405020304" pitchFamily="18" charset="0"/>
              </a:rPr>
              <a:t> </a:t>
            </a:r>
            <a:r>
              <a:rPr lang="ru-RU" sz="1800" dirty="0">
                <a:solidFill>
                  <a:srgbClr val="000A1A"/>
                </a:solidFill>
                <a:effectLst/>
                <a:latin typeface="Calibri" panose="020F0502020204030204" pitchFamily="34" charset="0"/>
                <a:ea typeface="Calibri" panose="020F0502020204030204" pitchFamily="34" charset="0"/>
                <a:cs typeface="Times New Roman" panose="02020603050405020304" pitchFamily="18" charset="0"/>
              </a:rPr>
              <a:t>Задачей этого метода является обнаружение необычных, отклоняющихся паттернов или объектов в данных. Эти аномалии могут указывать на ошибки, мошенничество или другие интересные особенности, которые требуют дополнительного изучения.</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45BC80-0B95-D309-3F01-114FEDD0E89C}"/>
              </a:ext>
            </a:extLst>
          </p:cNvPr>
          <p:cNvSpPr>
            <a:spLocks noGrp="1"/>
          </p:cNvSpPr>
          <p:nvPr>
            <p:ph type="sldNum" sz="quarter" idx="5"/>
          </p:nvPr>
        </p:nvSpPr>
        <p:spPr/>
        <p:txBody>
          <a:bodyPr/>
          <a:lstStyle/>
          <a:p>
            <a:fld id="{3B615917-8825-4C11-9D2C-C82340C4B4E7}" type="slidenum">
              <a:rPr lang="LID4096" smtClean="0"/>
              <a:t>8</a:t>
            </a:fld>
            <a:endParaRPr lang="LID4096"/>
          </a:p>
        </p:txBody>
      </p:sp>
    </p:spTree>
    <p:extLst>
      <p:ext uri="{BB962C8B-B14F-4D97-AF65-F5344CB8AC3E}">
        <p14:creationId xmlns:p14="http://schemas.microsoft.com/office/powerpoint/2010/main" val="2797269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ED4E-8780-956E-84FC-700E8EFD1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39430-9F56-D2D5-C39C-B0BC62144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211FE-141B-4913-F9C1-F20671E8A64A}"/>
              </a:ext>
            </a:extLst>
          </p:cNvPr>
          <p:cNvSpPr>
            <a:spLocks noGrp="1"/>
          </p:cNvSpPr>
          <p:nvPr>
            <p:ph type="body" idx="1"/>
          </p:nvPr>
        </p:nvSpPr>
        <p:spPr/>
        <p:txBody>
          <a:bodyPr/>
          <a:lstStyle/>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Оценивание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Estimation</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оценивания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сводится к предсказанию непрерывных значений признака. </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 связей</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(Link Analysis) - задача нахождения зависимостей в наборе данных.</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Visualization</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Graph</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Mining)</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результате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создается графический образ анализируемых данных. Для решения задачи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используются графические методы, показывающие наличие закономерностей в данных.</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 методов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представление данных в 2-D и 3-D измерениях. </a:t>
            </a:r>
          </a:p>
          <a:p>
            <a:r>
              <a:rPr lang="ru-RU" sz="1800" b="1" i="1" dirty="0">
                <a:effectLst/>
                <a:latin typeface="Times New Roman" panose="02020603050405020304" pitchFamily="18" charset="0"/>
                <a:ea typeface="Times New Roman" panose="02020603050405020304" pitchFamily="18" charset="0"/>
              </a:rPr>
              <a:t>Подведение итогов</a:t>
            </a:r>
            <a:r>
              <a:rPr lang="ru-RU" sz="1800" b="1" dirty="0">
                <a:effectLst/>
                <a:latin typeface="Times New Roman" panose="02020603050405020304" pitchFamily="18" charset="0"/>
                <a:ea typeface="Times New Roman" panose="02020603050405020304" pitchFamily="18" charset="0"/>
              </a:rPr>
              <a:t> </a:t>
            </a:r>
            <a:r>
              <a:rPr lang="ru-RU" sz="1800" dirty="0">
                <a:effectLst/>
                <a:latin typeface="Times New Roman" panose="02020603050405020304" pitchFamily="18" charset="0"/>
                <a:ea typeface="Times New Roman" panose="02020603050405020304" pitchFamily="18" charset="0"/>
              </a:rPr>
              <a:t>(</a:t>
            </a:r>
            <a:r>
              <a:rPr lang="ru-RU" sz="1800" dirty="0" err="1">
                <a:effectLst/>
                <a:latin typeface="Times New Roman" panose="02020603050405020304" pitchFamily="18" charset="0"/>
                <a:ea typeface="Times New Roman" panose="02020603050405020304" pitchFamily="18" charset="0"/>
              </a:rPr>
              <a:t>Summarization</a:t>
            </a:r>
            <a:r>
              <a:rPr lang="ru-RU" sz="1800" dirty="0">
                <a:effectLst/>
                <a:latin typeface="Times New Roman" panose="02020603050405020304" pitchFamily="18" charset="0"/>
                <a:ea typeface="Times New Roman" panose="02020603050405020304" pitchFamily="18" charset="0"/>
              </a:rPr>
              <a:t>) - задача, цель которой - описание конкретных групп объектов из анализируемого набора данных.</a:t>
            </a:r>
            <a:endPar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EC9A079-657C-1A6A-559A-1163E7555870}"/>
              </a:ext>
            </a:extLst>
          </p:cNvPr>
          <p:cNvSpPr>
            <a:spLocks noGrp="1"/>
          </p:cNvSpPr>
          <p:nvPr>
            <p:ph type="sldNum" sz="quarter" idx="5"/>
          </p:nvPr>
        </p:nvSpPr>
        <p:spPr/>
        <p:txBody>
          <a:bodyPr/>
          <a:lstStyle/>
          <a:p>
            <a:fld id="{3B615917-8825-4C11-9D2C-C82340C4B4E7}" type="slidenum">
              <a:rPr lang="LID4096" smtClean="0"/>
              <a:t>9</a:t>
            </a:fld>
            <a:endParaRPr lang="LID4096"/>
          </a:p>
        </p:txBody>
      </p:sp>
    </p:spTree>
    <p:extLst>
      <p:ext uri="{BB962C8B-B14F-4D97-AF65-F5344CB8AC3E}">
        <p14:creationId xmlns:p14="http://schemas.microsoft.com/office/powerpoint/2010/main" val="882419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585E-4FEB-4256-CFE3-9589D9588C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3B4AB03D-4C0F-A31D-CAC7-16C3809CC5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3DFCE928-CADC-7C04-F826-9ACD6400E1A5}"/>
              </a:ext>
            </a:extLst>
          </p:cNvPr>
          <p:cNvSpPr>
            <a:spLocks noGrp="1"/>
          </p:cNvSpPr>
          <p:nvPr>
            <p:ph type="dt" sz="half" idx="10"/>
          </p:nvPr>
        </p:nvSpPr>
        <p:spPr/>
        <p:txBody>
          <a:bodyPr/>
          <a:lstStyle/>
          <a:p>
            <a:fld id="{88D38747-4367-4BD2-8D51-C97E202738E2}" type="datetime1">
              <a:rPr lang="en-US" smtClean="0"/>
              <a:t>1/14/2025</a:t>
            </a:fld>
            <a:endParaRPr lang="en-US" dirty="0"/>
          </a:p>
        </p:txBody>
      </p:sp>
      <p:sp>
        <p:nvSpPr>
          <p:cNvPr id="5" name="Footer Placeholder 4">
            <a:extLst>
              <a:ext uri="{FF2B5EF4-FFF2-40B4-BE49-F238E27FC236}">
                <a16:creationId xmlns:a16="http://schemas.microsoft.com/office/drawing/2014/main" id="{7CD70ED9-5856-A446-7229-B32643D91F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99E500-425B-057C-F612-79A55D7883B6}"/>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25072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1DD8-AC17-A5C4-DC8A-3A1A20541470}"/>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574509D-300C-F422-E8CC-492AE49C32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EB9E1ED-E74F-3DC4-6889-BD356C05AB02}"/>
              </a:ext>
            </a:extLst>
          </p:cNvPr>
          <p:cNvSpPr>
            <a:spLocks noGrp="1"/>
          </p:cNvSpPr>
          <p:nvPr>
            <p:ph type="dt" sz="half" idx="10"/>
          </p:nvPr>
        </p:nvSpPr>
        <p:spPr/>
        <p:txBody>
          <a:bodyPr/>
          <a:lstStyle/>
          <a:p>
            <a:fld id="{73C55A3C-5767-4844-A0A3-83778C2E5409}" type="datetime1">
              <a:rPr lang="en-US" smtClean="0"/>
              <a:t>1/14/2025</a:t>
            </a:fld>
            <a:endParaRPr lang="en-US" dirty="0"/>
          </a:p>
        </p:txBody>
      </p:sp>
      <p:sp>
        <p:nvSpPr>
          <p:cNvPr id="5" name="Footer Placeholder 4">
            <a:extLst>
              <a:ext uri="{FF2B5EF4-FFF2-40B4-BE49-F238E27FC236}">
                <a16:creationId xmlns:a16="http://schemas.microsoft.com/office/drawing/2014/main" id="{666CEA5A-FCBF-3BF5-0F64-F937C5F911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A109D-9B73-4831-F494-7CEB6F5FF914}"/>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54206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0624-F093-1691-1B63-6BF5DD826E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9EB26D71-12FD-5A5F-151B-8A50756EAF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58A94B-0DD6-19F6-4CB0-871698BC3D5E}"/>
              </a:ext>
            </a:extLst>
          </p:cNvPr>
          <p:cNvSpPr>
            <a:spLocks noGrp="1"/>
          </p:cNvSpPr>
          <p:nvPr>
            <p:ph type="dt" sz="half" idx="10"/>
          </p:nvPr>
        </p:nvSpPr>
        <p:spPr/>
        <p:txBody>
          <a:bodyPr/>
          <a:lstStyle/>
          <a:p>
            <a:fld id="{CAE507A8-A5CF-4D38-AB86-7EDDA87A85D4}" type="datetime1">
              <a:rPr lang="en-US" smtClean="0"/>
              <a:t>1/14/2025</a:t>
            </a:fld>
            <a:endParaRPr lang="en-US" dirty="0"/>
          </a:p>
        </p:txBody>
      </p:sp>
      <p:sp>
        <p:nvSpPr>
          <p:cNvPr id="5" name="Footer Placeholder 4">
            <a:extLst>
              <a:ext uri="{FF2B5EF4-FFF2-40B4-BE49-F238E27FC236}">
                <a16:creationId xmlns:a16="http://schemas.microsoft.com/office/drawing/2014/main" id="{BD2E7D1F-58E3-6665-F857-559472D2A9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C6B672-6734-6E36-FF1C-7AAD351F2FB9}"/>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3768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7834-2FD0-2DA9-ECAC-AB5603E6618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BD52CE9-A90B-145C-E692-31CE3B77D4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DA98E02-27F6-E4A4-C6BA-E603645E08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F272A9B-FA1D-CE7A-5CDE-1DA080B31031}"/>
              </a:ext>
            </a:extLst>
          </p:cNvPr>
          <p:cNvSpPr>
            <a:spLocks noGrp="1"/>
          </p:cNvSpPr>
          <p:nvPr>
            <p:ph type="dt" sz="half" idx="10"/>
          </p:nvPr>
        </p:nvSpPr>
        <p:spPr/>
        <p:txBody>
          <a:bodyPr/>
          <a:lstStyle/>
          <a:p>
            <a:fld id="{BDFCD27C-8599-43EF-BA1D-14DDC1946E06}" type="datetime1">
              <a:rPr lang="en-US" smtClean="0"/>
              <a:t>1/14/2025</a:t>
            </a:fld>
            <a:endParaRPr lang="en-US" dirty="0"/>
          </a:p>
        </p:txBody>
      </p:sp>
      <p:sp>
        <p:nvSpPr>
          <p:cNvPr id="6" name="Footer Placeholder 5">
            <a:extLst>
              <a:ext uri="{FF2B5EF4-FFF2-40B4-BE49-F238E27FC236}">
                <a16:creationId xmlns:a16="http://schemas.microsoft.com/office/drawing/2014/main" id="{35731A3B-4E5F-8F72-1A11-C16A193FE9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52F3359-5032-5B1B-F97C-2CD628D3039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09552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D544-1E09-D1F5-4CEF-0569D101790B}"/>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551C6D9-D64A-07FA-6FC4-F416F3878F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BDD94A-3F5D-59A8-6683-4766C278D8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2A44B8E-321B-185A-FA52-46530BA23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835322-5E6E-4D15-41EA-37BD74B68F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EBAABE85-7EBB-DEC1-E565-02AC5B284014}"/>
              </a:ext>
            </a:extLst>
          </p:cNvPr>
          <p:cNvSpPr>
            <a:spLocks noGrp="1"/>
          </p:cNvSpPr>
          <p:nvPr>
            <p:ph type="dt" sz="half" idx="10"/>
          </p:nvPr>
        </p:nvSpPr>
        <p:spPr/>
        <p:txBody>
          <a:bodyPr/>
          <a:lstStyle/>
          <a:p>
            <a:fld id="{49343D99-809A-49C0-96E5-4250D0B498EE}" type="datetime1">
              <a:rPr lang="en-US" smtClean="0"/>
              <a:t>1/14/2025</a:t>
            </a:fld>
            <a:endParaRPr lang="en-US" dirty="0"/>
          </a:p>
        </p:txBody>
      </p:sp>
      <p:sp>
        <p:nvSpPr>
          <p:cNvPr id="8" name="Footer Placeholder 7">
            <a:extLst>
              <a:ext uri="{FF2B5EF4-FFF2-40B4-BE49-F238E27FC236}">
                <a16:creationId xmlns:a16="http://schemas.microsoft.com/office/drawing/2014/main" id="{E2D8AE5B-7F43-B92D-D3DA-8162FFA1B81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F9479B4-2D8F-16E0-95C4-0B243E465B5E}"/>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044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7751-D972-237E-9A45-2F4229D22906}"/>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75FB84B1-3E71-103A-24F3-90F95BA17C0B}"/>
              </a:ext>
            </a:extLst>
          </p:cNvPr>
          <p:cNvSpPr>
            <a:spLocks noGrp="1"/>
          </p:cNvSpPr>
          <p:nvPr>
            <p:ph type="dt" sz="half" idx="10"/>
          </p:nvPr>
        </p:nvSpPr>
        <p:spPr/>
        <p:txBody>
          <a:bodyPr/>
          <a:lstStyle/>
          <a:p>
            <a:fld id="{A143DE9B-B678-4EFB-BB7D-A4370204A0B0}" type="datetime1">
              <a:rPr lang="en-US" smtClean="0"/>
              <a:t>1/14/2025</a:t>
            </a:fld>
            <a:endParaRPr lang="en-US" dirty="0"/>
          </a:p>
        </p:txBody>
      </p:sp>
      <p:sp>
        <p:nvSpPr>
          <p:cNvPr id="4" name="Footer Placeholder 3">
            <a:extLst>
              <a:ext uri="{FF2B5EF4-FFF2-40B4-BE49-F238E27FC236}">
                <a16:creationId xmlns:a16="http://schemas.microsoft.com/office/drawing/2014/main" id="{04E947BB-8C48-C912-4160-E82CD50DEFE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5B279BB-044E-6FA4-ECE3-148243B7B6A6}"/>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606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839B6A-E344-5C0B-BBAB-962FA99DE369}"/>
              </a:ext>
            </a:extLst>
          </p:cNvPr>
          <p:cNvSpPr>
            <a:spLocks noGrp="1"/>
          </p:cNvSpPr>
          <p:nvPr>
            <p:ph type="dt" sz="half" idx="10"/>
          </p:nvPr>
        </p:nvSpPr>
        <p:spPr/>
        <p:txBody>
          <a:bodyPr/>
          <a:lstStyle/>
          <a:p>
            <a:fld id="{E68812DA-F765-4142-A6A3-A8ED7235E082}" type="datetime1">
              <a:rPr lang="en-US" smtClean="0"/>
              <a:t>1/14/2025</a:t>
            </a:fld>
            <a:endParaRPr lang="en-US" dirty="0"/>
          </a:p>
        </p:txBody>
      </p:sp>
      <p:sp>
        <p:nvSpPr>
          <p:cNvPr id="3" name="Footer Placeholder 2">
            <a:extLst>
              <a:ext uri="{FF2B5EF4-FFF2-40B4-BE49-F238E27FC236}">
                <a16:creationId xmlns:a16="http://schemas.microsoft.com/office/drawing/2014/main" id="{AE083FF4-A3BF-471D-4823-D04E2BDFD4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1FCE28D-8218-F8CE-DAE8-1CE260C08DF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8400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615C-3643-7E6B-4AEB-E3E96FD51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8F9A298-8AE7-D9B2-314E-B81629F7F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08470A29-A638-8A78-1220-1420E54CC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1A2FD-632A-FCF0-CFF7-4AFBBD0D61AC}"/>
              </a:ext>
            </a:extLst>
          </p:cNvPr>
          <p:cNvSpPr>
            <a:spLocks noGrp="1"/>
          </p:cNvSpPr>
          <p:nvPr>
            <p:ph type="dt" sz="half" idx="10"/>
          </p:nvPr>
        </p:nvSpPr>
        <p:spPr/>
        <p:txBody>
          <a:bodyPr/>
          <a:lstStyle/>
          <a:p>
            <a:fld id="{3E0277FD-7DE6-41D4-930D-AC99F5AFE54E}" type="datetime1">
              <a:rPr lang="en-US" smtClean="0"/>
              <a:t>1/14/2025</a:t>
            </a:fld>
            <a:endParaRPr lang="en-US" dirty="0"/>
          </a:p>
        </p:txBody>
      </p:sp>
      <p:sp>
        <p:nvSpPr>
          <p:cNvPr id="6" name="Footer Placeholder 5">
            <a:extLst>
              <a:ext uri="{FF2B5EF4-FFF2-40B4-BE49-F238E27FC236}">
                <a16:creationId xmlns:a16="http://schemas.microsoft.com/office/drawing/2014/main" id="{401C9B20-7DFD-CFB7-A9A7-E6447924550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3E9245-BD02-B58E-1FA5-81571D187AAF}"/>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4952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BC07-1CA5-2050-18D0-C8DD52050B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48F8B63-200C-4FBC-2054-8C97255D9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F8F30FD9-265A-179E-47CC-0692EB775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A4517-ACE5-C20D-506F-ECC64E7FCA81}"/>
              </a:ext>
            </a:extLst>
          </p:cNvPr>
          <p:cNvSpPr>
            <a:spLocks noGrp="1"/>
          </p:cNvSpPr>
          <p:nvPr>
            <p:ph type="dt" sz="half" idx="10"/>
          </p:nvPr>
        </p:nvSpPr>
        <p:spPr/>
        <p:txBody>
          <a:bodyPr/>
          <a:lstStyle/>
          <a:p>
            <a:fld id="{9EA15526-7079-4B7B-987C-1B5FAE11A0FF}" type="datetime1">
              <a:rPr lang="en-US" smtClean="0"/>
              <a:t>1/14/2025</a:t>
            </a:fld>
            <a:endParaRPr lang="en-US" dirty="0"/>
          </a:p>
        </p:txBody>
      </p:sp>
      <p:sp>
        <p:nvSpPr>
          <p:cNvPr id="6" name="Footer Placeholder 5">
            <a:extLst>
              <a:ext uri="{FF2B5EF4-FFF2-40B4-BE49-F238E27FC236}">
                <a16:creationId xmlns:a16="http://schemas.microsoft.com/office/drawing/2014/main" id="{B09876ED-ED18-EAA7-5301-03F84F959267}"/>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9B36D671-316B-11E5-1586-F3D4AD38F34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405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C718-6881-DD08-160A-25D605501F9B}"/>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EA1CBE3-BCA9-2AB3-CCB7-71D2E8DD9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FCD1952-6952-78B9-31C7-30CF67DBE107}"/>
              </a:ext>
            </a:extLst>
          </p:cNvPr>
          <p:cNvSpPr>
            <a:spLocks noGrp="1"/>
          </p:cNvSpPr>
          <p:nvPr>
            <p:ph type="dt" sz="half" idx="10"/>
          </p:nvPr>
        </p:nvSpPr>
        <p:spPr/>
        <p:txBody>
          <a:bodyPr/>
          <a:lstStyle/>
          <a:p>
            <a:fld id="{073ED0CC-082F-4160-86E5-0D6041F12778}" type="datetime1">
              <a:rPr lang="en-US" smtClean="0"/>
              <a:t>1/14/2025</a:t>
            </a:fld>
            <a:endParaRPr lang="en-US" dirty="0"/>
          </a:p>
        </p:txBody>
      </p:sp>
      <p:sp>
        <p:nvSpPr>
          <p:cNvPr id="5" name="Footer Placeholder 4">
            <a:extLst>
              <a:ext uri="{FF2B5EF4-FFF2-40B4-BE49-F238E27FC236}">
                <a16:creationId xmlns:a16="http://schemas.microsoft.com/office/drawing/2014/main" id="{0E657E76-F82E-75C3-4556-AAA9A5334B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5471DA-3152-4BBE-16F7-DF08D65C90FA}"/>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57824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D08075-2C2B-5452-4830-547E405B6F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1A39AFA0-68B8-1D1D-D327-A362FDD27C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DC259B6-B220-F819-C6CD-DB253DEA2911}"/>
              </a:ext>
            </a:extLst>
          </p:cNvPr>
          <p:cNvSpPr>
            <a:spLocks noGrp="1"/>
          </p:cNvSpPr>
          <p:nvPr>
            <p:ph type="dt" sz="half" idx="10"/>
          </p:nvPr>
        </p:nvSpPr>
        <p:spPr/>
        <p:txBody>
          <a:bodyPr/>
          <a:lstStyle/>
          <a:p>
            <a:fld id="{073ED0CC-082F-4160-86E5-0D6041F12778}" type="datetime1">
              <a:rPr lang="en-US" smtClean="0"/>
              <a:t>1/14/2025</a:t>
            </a:fld>
            <a:endParaRPr lang="en-US" dirty="0"/>
          </a:p>
        </p:txBody>
      </p:sp>
      <p:sp>
        <p:nvSpPr>
          <p:cNvPr id="5" name="Footer Placeholder 4">
            <a:extLst>
              <a:ext uri="{FF2B5EF4-FFF2-40B4-BE49-F238E27FC236}">
                <a16:creationId xmlns:a16="http://schemas.microsoft.com/office/drawing/2014/main" id="{44E49A06-06AE-C8B0-8E15-FDE3D88014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48CBBF-BBC9-752C-C5B3-78509ED2681B}"/>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146487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B70B52-852D-B172-1C90-7340183C47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565D691-5248-F160-B3AE-F755F272C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F78DA69-2975-4698-6E3E-B108566EF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3ED0CC-082F-4160-86E5-0D6041F12778}" type="datetime1">
              <a:rPr lang="en-US" smtClean="0"/>
              <a:t>1/14/2025</a:t>
            </a:fld>
            <a:endParaRPr lang="en-US" dirty="0"/>
          </a:p>
        </p:txBody>
      </p:sp>
      <p:sp>
        <p:nvSpPr>
          <p:cNvPr id="5" name="Footer Placeholder 4">
            <a:extLst>
              <a:ext uri="{FF2B5EF4-FFF2-40B4-BE49-F238E27FC236}">
                <a16:creationId xmlns:a16="http://schemas.microsoft.com/office/drawing/2014/main" id="{FCF4C229-3E95-5173-BA5F-99A869AEF8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CE5FAD2-6F44-FF92-942B-BB59884051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499967750"/>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 id="21474839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2">
            <a:extLst>
              <a:ext uri="{28A0092B-C50C-407E-A947-70E740481C1C}">
                <a14:useLocalDpi xmlns:a14="http://schemas.microsoft.com/office/drawing/2010/main" val="0"/>
              </a:ext>
            </a:extLst>
          </a:blip>
          <a:srcRect l="3288" r="17401"/>
          <a:stretch/>
        </p:blipFill>
        <p:spPr>
          <a:xfrm>
            <a:off x="2431568" y="-31189"/>
            <a:ext cx="9669642" cy="6857990"/>
          </a:xfrm>
          <a:prstGeom prst="rect">
            <a:avLst/>
          </a:prstGeom>
        </p:spPr>
      </p:pic>
      <p:sp>
        <p:nvSpPr>
          <p:cNvPr id="26" name="Rectangle 2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952227" y="4988560"/>
            <a:ext cx="3973386" cy="1125993"/>
          </a:xfrm>
          <a:noFill/>
        </p:spPr>
        <p:txBody>
          <a:bodyPr>
            <a:normAutofit/>
          </a:bodyPr>
          <a:lstStyle/>
          <a:p>
            <a:pPr algn="l"/>
            <a:r>
              <a:rPr lang="en-US" dirty="0"/>
              <a:t>prof. Tatyana Petrushina</a:t>
            </a:r>
          </a:p>
          <a:p>
            <a:pPr algn="l"/>
            <a:r>
              <a:rPr lang="en-US" dirty="0"/>
              <a:t>202</a:t>
            </a:r>
            <a:r>
              <a:rPr lang="ru-RU" dirty="0"/>
              <a:t>4</a:t>
            </a:r>
            <a:r>
              <a:rPr lang="en-US" dirty="0"/>
              <a:t>-202</a:t>
            </a:r>
            <a:r>
              <a:rPr lang="ru-RU" dirty="0"/>
              <a:t>5</a:t>
            </a:r>
            <a:endParaRPr lang="en-US" dirty="0"/>
          </a:p>
        </p:txBody>
      </p:sp>
      <p:sp>
        <p:nvSpPr>
          <p:cNvPr id="4" name="Text Box 6">
            <a:extLst>
              <a:ext uri="{FF2B5EF4-FFF2-40B4-BE49-F238E27FC236}">
                <a16:creationId xmlns:a16="http://schemas.microsoft.com/office/drawing/2014/main" id="{F6B07DD9-EEAF-A4E1-A464-BDB22E16B24F}"/>
              </a:ext>
            </a:extLst>
          </p:cNvPr>
          <p:cNvSpPr txBox="1">
            <a:spLocks noChangeArrowheads="1"/>
          </p:cNvSpPr>
          <p:nvPr/>
        </p:nvSpPr>
        <p:spPr bwMode="auto">
          <a:xfrm>
            <a:off x="3195873" y="6329501"/>
            <a:ext cx="61214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fontAlgn="base">
              <a:spcBef>
                <a:spcPct val="50000"/>
              </a:spcBef>
              <a:spcAft>
                <a:spcPct val="0"/>
              </a:spcAft>
              <a:buFontTx/>
              <a:buNone/>
            </a:pPr>
            <a:r>
              <a:rPr lang="en-US" altLang="ru-RU" sz="1600" b="1" dirty="0">
                <a:solidFill>
                  <a:srgbClr val="1F497D"/>
                </a:solidFill>
                <a:cs typeface="Arial" panose="020B0604020202020204" pitchFamily="34" charset="0"/>
              </a:rPr>
              <a:t>Odesa I. I. </a:t>
            </a:r>
            <a:r>
              <a:rPr lang="en-US" altLang="ru-RU" sz="1600" b="1" dirty="0" err="1">
                <a:solidFill>
                  <a:srgbClr val="1F497D"/>
                </a:solidFill>
                <a:cs typeface="Arial" panose="020B0604020202020204" pitchFamily="34" charset="0"/>
              </a:rPr>
              <a:t>Mechnikov</a:t>
            </a:r>
            <a:r>
              <a:rPr lang="en-US" altLang="ru-RU" sz="1600" b="1" dirty="0">
                <a:solidFill>
                  <a:srgbClr val="1F497D"/>
                </a:solidFill>
                <a:cs typeface="Arial" panose="020B0604020202020204" pitchFamily="34" charset="0"/>
              </a:rPr>
              <a:t> National University</a:t>
            </a:r>
            <a:endParaRPr lang="ru-RU" altLang="ru-RU" sz="1600" b="1" dirty="0">
              <a:solidFill>
                <a:srgbClr val="1F497D"/>
              </a:solidFill>
              <a:cs typeface="Arial" panose="020B0604020202020204" pitchFamily="34" charset="0"/>
            </a:endParaRPr>
          </a:p>
        </p:txBody>
      </p:sp>
      <p:sp>
        <p:nvSpPr>
          <p:cNvPr id="10" name="Title 9">
            <a:extLst>
              <a:ext uri="{FF2B5EF4-FFF2-40B4-BE49-F238E27FC236}">
                <a16:creationId xmlns:a16="http://schemas.microsoft.com/office/drawing/2014/main" id="{79CAD4ED-813A-1542-FC7C-70F3E777D22A}"/>
              </a:ext>
            </a:extLst>
          </p:cNvPr>
          <p:cNvSpPr>
            <a:spLocks noGrp="1"/>
          </p:cNvSpPr>
          <p:nvPr>
            <p:ph type="ctrTitle"/>
          </p:nvPr>
        </p:nvSpPr>
        <p:spPr>
          <a:xfrm>
            <a:off x="-2" y="568565"/>
            <a:ext cx="6004560" cy="2560319"/>
          </a:xfrm>
        </p:spPr>
        <p:txBody>
          <a:bodyPr>
            <a:normAutofit/>
          </a:bodyPr>
          <a:lstStyle/>
          <a:p>
            <a:r>
              <a:rPr lang="ru-RU" sz="5400" b="1" dirty="0"/>
              <a:t>Интеллектуальный анализ данных</a:t>
            </a:r>
            <a:br>
              <a:rPr lang="en-US" sz="5400" b="1" dirty="0"/>
            </a:br>
            <a:r>
              <a:rPr lang="ru-RU" sz="5400" b="1" dirty="0"/>
              <a:t> </a:t>
            </a:r>
            <a:r>
              <a:rPr lang="en-US" sz="5400" b="1" dirty="0"/>
              <a:t>Data Mining</a:t>
            </a:r>
            <a:endParaRPr lang="LID4096" sz="5400" b="1" dirty="0"/>
          </a:p>
        </p:txBody>
      </p:sp>
      <p:sp>
        <p:nvSpPr>
          <p:cNvPr id="12" name="TextBox 11">
            <a:extLst>
              <a:ext uri="{FF2B5EF4-FFF2-40B4-BE49-F238E27FC236}">
                <a16:creationId xmlns:a16="http://schemas.microsoft.com/office/drawing/2014/main" id="{A2D5CC7E-8C57-4CF5-E5DA-F6E4D6E90DF4}"/>
              </a:ext>
            </a:extLst>
          </p:cNvPr>
          <p:cNvSpPr txBox="1"/>
          <p:nvPr/>
        </p:nvSpPr>
        <p:spPr>
          <a:xfrm>
            <a:off x="552543" y="3460194"/>
            <a:ext cx="6004561" cy="369332"/>
          </a:xfrm>
          <a:prstGeom prst="rect">
            <a:avLst/>
          </a:prstGeom>
          <a:noFill/>
        </p:spPr>
        <p:txBody>
          <a:bodyPr wrap="square">
            <a:spAutoFit/>
          </a:bodyPr>
          <a:lstStyle/>
          <a:p>
            <a:r>
              <a:rPr lang="ru-RU" sz="1800" b="1" dirty="0"/>
              <a:t>Умные методы получения паттернов данных</a:t>
            </a:r>
            <a:r>
              <a:rPr lang="en-US" sz="1800" b="1" dirty="0">
                <a:solidFill>
                  <a:schemeClr val="tx2"/>
                </a:solidFill>
              </a:rPr>
              <a:t> </a:t>
            </a:r>
            <a:endParaRPr lang="LID4096" dirty="0"/>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71F205-E8A9-4237-8AD2-ABD9BF694F3E}"/>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4000" b="1" dirty="0" err="1"/>
              <a:t>Задачи</a:t>
            </a:r>
            <a:r>
              <a:rPr lang="en-US" sz="4000" b="1" dirty="0"/>
              <a:t> Data Mining</a:t>
            </a:r>
          </a:p>
        </p:txBody>
      </p:sp>
      <p:grpSp>
        <p:nvGrpSpPr>
          <p:cNvPr id="59" name="Group 5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60" name="Rectangle 5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 name="Rectangle 6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85DCCBC-E6CE-5F67-776B-7D4C7D3E578D}"/>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К</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лассификация,</a:t>
            </a:r>
          </a:p>
          <a:p>
            <a:pPr marL="342900" indent="-342900">
              <a:lnSpc>
                <a:spcPct val="90000"/>
              </a:lnSpc>
              <a:spcAft>
                <a:spcPts val="600"/>
              </a:spcAft>
              <a:buFont typeface="Arial" panose="020B0604020202020204" pitchFamily="34" charset="0"/>
              <a:buChar char="•"/>
            </a:pP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endPar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endParaRP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П</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рогнозирование,</a:t>
            </a: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А</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ссоциация, </a:t>
            </a: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В</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изуализация, </a:t>
            </a: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А</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нализ и обнаружение отклонений, </a:t>
            </a: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О</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ценивание, </a:t>
            </a: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А</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нализ связей, </a:t>
            </a:r>
          </a:p>
          <a:p>
            <a:pPr marL="342900" indent="-342900">
              <a:lnSpc>
                <a:spcPct val="90000"/>
              </a:lnSpc>
              <a:spcAft>
                <a:spcPts val="600"/>
              </a:spcAft>
              <a:buFont typeface="Arial" panose="020B0604020202020204" pitchFamily="34" charset="0"/>
              <a:buChar char="•"/>
            </a:pPr>
            <a:r>
              <a:rPr lang="ru-RU" sz="2000" b="1"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П</a:t>
            </a:r>
            <a:r>
              <a:rPr lang="ru-RU"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одведение итогов</a:t>
            </a:r>
            <a:endParaRPr lang="en-US" sz="2000" b="1" dirty="0"/>
          </a:p>
        </p:txBody>
      </p:sp>
      <p:sp>
        <p:nvSpPr>
          <p:cNvPr id="65" name="Rectangle 6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data mining&#10;&#10;Description automatically generated">
            <a:extLst>
              <a:ext uri="{FF2B5EF4-FFF2-40B4-BE49-F238E27FC236}">
                <a16:creationId xmlns:a16="http://schemas.microsoft.com/office/drawing/2014/main" id="{BF0D4D2F-A6F8-E189-56F6-033E4B80DBFF}"/>
              </a:ext>
            </a:extLst>
          </p:cNvPr>
          <p:cNvPicPr>
            <a:picLocks noChangeAspect="1"/>
          </p:cNvPicPr>
          <p:nvPr/>
        </p:nvPicPr>
        <p:blipFill rotWithShape="1">
          <a:blip r:embed="rId3"/>
          <a:srcRect r="4" b="2086"/>
          <a:stretch/>
        </p:blipFill>
        <p:spPr>
          <a:xfrm>
            <a:off x="5977788" y="799352"/>
            <a:ext cx="5425410" cy="5259296"/>
          </a:xfrm>
          <a:prstGeom prst="rect">
            <a:avLst/>
          </a:prstGeom>
        </p:spPr>
      </p:pic>
    </p:spTree>
    <p:extLst>
      <p:ext uri="{BB962C8B-B14F-4D97-AF65-F5344CB8AC3E}">
        <p14:creationId xmlns:p14="http://schemas.microsoft.com/office/powerpoint/2010/main" val="326507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105337-1461-1D5A-CBF6-3E28DB5AEACA}"/>
            </a:ext>
          </a:extLst>
        </p:cNvPr>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D16B9-2552-AA73-E3EA-36245A99A455}"/>
              </a:ext>
            </a:extLst>
          </p:cNvPr>
          <p:cNvSpPr>
            <a:spLocks noGrp="1"/>
          </p:cNvSpPr>
          <p:nvPr>
            <p:ph type="title"/>
          </p:nvPr>
        </p:nvSpPr>
        <p:spPr>
          <a:xfrm>
            <a:off x="630936" y="639520"/>
            <a:ext cx="3429000" cy="1294156"/>
          </a:xfrm>
        </p:spPr>
        <p:txBody>
          <a:bodyPr vert="horz" lIns="91440" tIns="45720" rIns="91440" bIns="45720" rtlCol="0" anchor="b">
            <a:normAutofit/>
          </a:bodyPr>
          <a:lstStyle/>
          <a:p>
            <a:r>
              <a:rPr lang="en-US" sz="3800" b="1" kern="1200" dirty="0" err="1">
                <a:solidFill>
                  <a:schemeClr val="tx1"/>
                </a:solidFill>
                <a:latin typeface="+mj-lt"/>
                <a:ea typeface="+mj-ea"/>
                <a:cs typeface="+mj-cs"/>
              </a:rPr>
              <a:t>Классификация</a:t>
            </a:r>
            <a:r>
              <a:rPr lang="en-US" sz="3800" b="1" kern="1200" dirty="0">
                <a:solidFill>
                  <a:schemeClr val="tx1"/>
                </a:solidFill>
                <a:latin typeface="+mj-lt"/>
                <a:ea typeface="+mj-ea"/>
                <a:cs typeface="+mj-cs"/>
              </a:rPr>
              <a:t> (Classification)</a:t>
            </a:r>
          </a:p>
        </p:txBody>
      </p:sp>
      <p:sp>
        <p:nvSpPr>
          <p:cNvPr id="10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2241AC4-8BC9-2B71-0812-53E74C8902F5}"/>
              </a:ext>
            </a:extLst>
          </p:cNvPr>
          <p:cNvSpPr txBox="1"/>
          <p:nvPr/>
        </p:nvSpPr>
        <p:spPr>
          <a:xfrm>
            <a:off x="630936" y="2807208"/>
            <a:ext cx="3429000" cy="3410712"/>
          </a:xfrm>
          <a:prstGeom prst="rect">
            <a:avLst/>
          </a:prstGeom>
        </p:spPr>
        <p:txBody>
          <a:bodyPr vert="horz" lIns="91440" tIns="45720" rIns="91440" bIns="45720" rtlCol="0" anchor="t">
            <a:normAutofit/>
          </a:bodyPr>
          <a:lstStyle/>
          <a:p>
            <a:pPr marR="0">
              <a:lnSpc>
                <a:spcPct val="90000"/>
              </a:lnSpc>
            </a:pPr>
            <a:r>
              <a:rPr lang="en-US" sz="1400" dirty="0">
                <a:effectLst/>
              </a:rPr>
              <a:t>В </a:t>
            </a:r>
            <a:r>
              <a:rPr lang="en-US" sz="1400" dirty="0" err="1">
                <a:effectLst/>
              </a:rPr>
              <a:t>результате</a:t>
            </a:r>
            <a:r>
              <a:rPr lang="en-US" sz="1400" dirty="0">
                <a:effectLst/>
              </a:rPr>
              <a:t> </a:t>
            </a:r>
            <a:r>
              <a:rPr lang="en-US" sz="1400" dirty="0" err="1">
                <a:effectLst/>
              </a:rPr>
              <a:t>решения</a:t>
            </a:r>
            <a:r>
              <a:rPr lang="en-US" sz="1400" dirty="0">
                <a:effectLst/>
              </a:rPr>
              <a:t> </a:t>
            </a:r>
            <a:r>
              <a:rPr lang="en-US" sz="1400" dirty="0" err="1">
                <a:effectLst/>
              </a:rPr>
              <a:t>задачи</a:t>
            </a:r>
            <a:r>
              <a:rPr lang="en-US" sz="1400" dirty="0">
                <a:effectLst/>
              </a:rPr>
              <a:t> </a:t>
            </a:r>
            <a:r>
              <a:rPr lang="en-US" sz="1400" dirty="0" err="1">
                <a:effectLst/>
              </a:rPr>
              <a:t>классификации</a:t>
            </a:r>
            <a:r>
              <a:rPr lang="en-US" sz="1400" dirty="0">
                <a:effectLst/>
              </a:rPr>
              <a:t> </a:t>
            </a:r>
            <a:r>
              <a:rPr lang="en-US" sz="1400" dirty="0" err="1">
                <a:effectLst/>
              </a:rPr>
              <a:t>обнаруживаются</a:t>
            </a:r>
            <a:r>
              <a:rPr lang="en-US" sz="1400" dirty="0">
                <a:effectLst/>
              </a:rPr>
              <a:t> </a:t>
            </a:r>
            <a:r>
              <a:rPr lang="en-US" sz="1400" dirty="0" err="1">
                <a:effectLst/>
              </a:rPr>
              <a:t>признаки</a:t>
            </a:r>
            <a:r>
              <a:rPr lang="en-US" sz="1400" dirty="0">
                <a:effectLst/>
              </a:rPr>
              <a:t>, </a:t>
            </a:r>
            <a:r>
              <a:rPr lang="en-US" sz="1400" dirty="0" err="1">
                <a:effectLst/>
              </a:rPr>
              <a:t>которые</a:t>
            </a:r>
            <a:r>
              <a:rPr lang="en-US" sz="1400" dirty="0">
                <a:effectLst/>
              </a:rPr>
              <a:t> </a:t>
            </a:r>
            <a:r>
              <a:rPr lang="en-US" sz="1400" dirty="0" err="1">
                <a:effectLst/>
              </a:rPr>
              <a:t>характеризуют</a:t>
            </a:r>
            <a:r>
              <a:rPr lang="en-US" sz="1400" dirty="0">
                <a:effectLst/>
              </a:rPr>
              <a:t> </a:t>
            </a:r>
            <a:r>
              <a:rPr lang="en-US" sz="1400" dirty="0" err="1">
                <a:effectLst/>
              </a:rPr>
              <a:t>группы</a:t>
            </a:r>
            <a:r>
              <a:rPr lang="en-US" sz="1400" dirty="0">
                <a:effectLst/>
              </a:rPr>
              <a:t> </a:t>
            </a:r>
            <a:r>
              <a:rPr lang="en-US" sz="1400" dirty="0" err="1">
                <a:effectLst/>
              </a:rPr>
              <a:t>объектов</a:t>
            </a:r>
            <a:r>
              <a:rPr lang="en-US" sz="1400" dirty="0">
                <a:effectLst/>
              </a:rPr>
              <a:t> </a:t>
            </a:r>
            <a:r>
              <a:rPr lang="en-US" sz="1400" dirty="0" err="1">
                <a:effectLst/>
              </a:rPr>
              <a:t>исследуемого</a:t>
            </a:r>
            <a:r>
              <a:rPr lang="en-US" sz="1400" dirty="0">
                <a:effectLst/>
              </a:rPr>
              <a:t> </a:t>
            </a:r>
            <a:r>
              <a:rPr lang="en-US" sz="1400" dirty="0" err="1">
                <a:effectLst/>
              </a:rPr>
              <a:t>набора</a:t>
            </a:r>
            <a:r>
              <a:rPr lang="en-US" sz="1400" dirty="0">
                <a:effectLst/>
              </a:rPr>
              <a:t> </a:t>
            </a:r>
            <a:r>
              <a:rPr lang="en-US" sz="1400" dirty="0" err="1">
                <a:effectLst/>
              </a:rPr>
              <a:t>данных</a:t>
            </a:r>
            <a:r>
              <a:rPr lang="en-US" sz="1400" dirty="0">
                <a:effectLst/>
              </a:rPr>
              <a:t> - </a:t>
            </a:r>
            <a:r>
              <a:rPr lang="en-US" sz="1400" dirty="0" err="1">
                <a:effectLst/>
              </a:rPr>
              <a:t>классы</a:t>
            </a:r>
            <a:r>
              <a:rPr lang="en-US" sz="1400" dirty="0">
                <a:effectLst/>
              </a:rPr>
              <a:t>; </a:t>
            </a:r>
            <a:r>
              <a:rPr lang="en-US" sz="1400" dirty="0" err="1">
                <a:effectLst/>
              </a:rPr>
              <a:t>по</a:t>
            </a:r>
            <a:r>
              <a:rPr lang="en-US" sz="1400" dirty="0">
                <a:effectLst/>
              </a:rPr>
              <a:t> </a:t>
            </a:r>
            <a:r>
              <a:rPr lang="en-US" sz="1400" dirty="0" err="1">
                <a:effectLst/>
              </a:rPr>
              <a:t>этим</a:t>
            </a:r>
            <a:r>
              <a:rPr lang="en-US" sz="1400" dirty="0">
                <a:effectLst/>
              </a:rPr>
              <a:t> </a:t>
            </a:r>
            <a:r>
              <a:rPr lang="en-US" sz="1400" dirty="0" err="1">
                <a:effectLst/>
              </a:rPr>
              <a:t>признакам</a:t>
            </a:r>
            <a:r>
              <a:rPr lang="en-US" sz="1400" dirty="0">
                <a:effectLst/>
              </a:rPr>
              <a:t> </a:t>
            </a:r>
            <a:r>
              <a:rPr lang="en-US" sz="1400" dirty="0" err="1">
                <a:effectLst/>
              </a:rPr>
              <a:t>новый</a:t>
            </a:r>
            <a:r>
              <a:rPr lang="en-US" sz="1400" dirty="0">
                <a:effectLst/>
              </a:rPr>
              <a:t> </a:t>
            </a:r>
            <a:r>
              <a:rPr lang="en-US" sz="1400" dirty="0" err="1">
                <a:effectLst/>
              </a:rPr>
              <a:t>объект</a:t>
            </a:r>
            <a:r>
              <a:rPr lang="en-US" sz="1400" dirty="0">
                <a:effectLst/>
              </a:rPr>
              <a:t> </a:t>
            </a:r>
            <a:r>
              <a:rPr lang="en-US" sz="1400" dirty="0" err="1">
                <a:effectLst/>
              </a:rPr>
              <a:t>можно</a:t>
            </a:r>
            <a:r>
              <a:rPr lang="en-US" sz="1400" dirty="0">
                <a:effectLst/>
              </a:rPr>
              <a:t> </a:t>
            </a:r>
            <a:r>
              <a:rPr lang="en-US" sz="1400" dirty="0" err="1">
                <a:effectLst/>
              </a:rPr>
              <a:t>отнести</a:t>
            </a:r>
            <a:r>
              <a:rPr lang="en-US" sz="1400" dirty="0">
                <a:effectLst/>
              </a:rPr>
              <a:t> к </a:t>
            </a:r>
            <a:r>
              <a:rPr lang="en-US" sz="1400" dirty="0" err="1">
                <a:effectLst/>
              </a:rPr>
              <a:t>тому</a:t>
            </a:r>
            <a:r>
              <a:rPr lang="en-US" sz="1400" dirty="0">
                <a:effectLst/>
              </a:rPr>
              <a:t> </a:t>
            </a:r>
            <a:r>
              <a:rPr lang="en-US" sz="1400" dirty="0" err="1">
                <a:effectLst/>
              </a:rPr>
              <a:t>или</a:t>
            </a:r>
            <a:r>
              <a:rPr lang="en-US" sz="1400" dirty="0">
                <a:effectLst/>
              </a:rPr>
              <a:t> </a:t>
            </a:r>
            <a:r>
              <a:rPr lang="en-US" sz="1400" dirty="0" err="1">
                <a:effectLst/>
              </a:rPr>
              <a:t>иному</a:t>
            </a:r>
            <a:r>
              <a:rPr lang="en-US" sz="1400" dirty="0">
                <a:effectLst/>
              </a:rPr>
              <a:t> </a:t>
            </a:r>
            <a:r>
              <a:rPr lang="en-US" sz="1400" dirty="0" err="1">
                <a:effectLst/>
              </a:rPr>
              <a:t>классу</a:t>
            </a:r>
            <a:r>
              <a:rPr lang="en-US" sz="1400" dirty="0">
                <a:effectLst/>
              </a:rPr>
              <a:t>.</a:t>
            </a:r>
          </a:p>
          <a:p>
            <a:pPr marL="0" marR="0" indent="-228600">
              <a:lnSpc>
                <a:spcPct val="90000"/>
              </a:lnSpc>
              <a:buFont typeface="Arial" panose="020B0604020202020204" pitchFamily="34" charset="0"/>
              <a:buChar char="•"/>
            </a:pPr>
            <a:endParaRPr lang="en-US" sz="1400" dirty="0">
              <a:effectLst/>
            </a:endParaRPr>
          </a:p>
          <a:p>
            <a:pPr marR="0">
              <a:lnSpc>
                <a:spcPct val="90000"/>
              </a:lnSpc>
            </a:pPr>
            <a:r>
              <a:rPr lang="en-US" sz="1400" dirty="0" err="1">
                <a:effectLst/>
              </a:rPr>
              <a:t>Методы</a:t>
            </a:r>
            <a:r>
              <a:rPr lang="en-US" sz="1400" dirty="0">
                <a:effectLst/>
              </a:rPr>
              <a:t> </a:t>
            </a:r>
            <a:r>
              <a:rPr lang="en-US" sz="1400" dirty="0" err="1">
                <a:effectLst/>
              </a:rPr>
              <a:t>решения</a:t>
            </a:r>
            <a:r>
              <a:rPr lang="en-US" sz="1400" dirty="0">
                <a:effectLst/>
              </a:rPr>
              <a:t>: </a:t>
            </a:r>
          </a:p>
          <a:p>
            <a:pPr marL="285750" marR="0" indent="-228600">
              <a:lnSpc>
                <a:spcPct val="90000"/>
              </a:lnSpc>
              <a:buFont typeface="Arial" panose="020B0604020202020204" pitchFamily="34" charset="0"/>
              <a:buChar char="•"/>
            </a:pPr>
            <a:r>
              <a:rPr lang="en-US" sz="1400" dirty="0" err="1">
                <a:effectLst/>
              </a:rPr>
              <a:t>ближайшего</a:t>
            </a:r>
            <a:r>
              <a:rPr lang="en-US" sz="1400" dirty="0">
                <a:effectLst/>
              </a:rPr>
              <a:t> </a:t>
            </a:r>
            <a:r>
              <a:rPr lang="en-US" sz="1400" dirty="0" err="1">
                <a:effectLst/>
              </a:rPr>
              <a:t>соседа</a:t>
            </a:r>
            <a:r>
              <a:rPr lang="en-US" sz="1400" dirty="0">
                <a:effectLst/>
              </a:rPr>
              <a:t> (Nearest Neighbor); </a:t>
            </a:r>
          </a:p>
          <a:p>
            <a:pPr marL="285750" marR="0" indent="-228600">
              <a:lnSpc>
                <a:spcPct val="90000"/>
              </a:lnSpc>
              <a:buFont typeface="Arial" panose="020B0604020202020204" pitchFamily="34" charset="0"/>
              <a:buChar char="•"/>
            </a:pPr>
            <a:r>
              <a:rPr lang="en-US" sz="1400" dirty="0">
                <a:effectLst/>
              </a:rPr>
              <a:t>k-</a:t>
            </a:r>
            <a:r>
              <a:rPr lang="en-US" sz="1400" dirty="0" err="1">
                <a:effectLst/>
              </a:rPr>
              <a:t>ближайшего</a:t>
            </a:r>
            <a:r>
              <a:rPr lang="en-US" sz="1400" dirty="0">
                <a:effectLst/>
              </a:rPr>
              <a:t> </a:t>
            </a:r>
            <a:r>
              <a:rPr lang="en-US" sz="1400" dirty="0" err="1">
                <a:effectLst/>
              </a:rPr>
              <a:t>соседа</a:t>
            </a:r>
            <a:r>
              <a:rPr lang="en-US" sz="1400" dirty="0">
                <a:effectLst/>
              </a:rPr>
              <a:t> (k-Nearest Neighbor); </a:t>
            </a:r>
          </a:p>
          <a:p>
            <a:pPr marL="285750" marR="0" indent="-228600">
              <a:lnSpc>
                <a:spcPct val="90000"/>
              </a:lnSpc>
              <a:buFont typeface="Arial" panose="020B0604020202020204" pitchFamily="34" charset="0"/>
              <a:buChar char="•"/>
            </a:pPr>
            <a:r>
              <a:rPr lang="en-US" sz="1400" dirty="0" err="1">
                <a:effectLst/>
              </a:rPr>
              <a:t>байесовские</a:t>
            </a:r>
            <a:r>
              <a:rPr lang="en-US" sz="1400" dirty="0">
                <a:effectLst/>
              </a:rPr>
              <a:t> </a:t>
            </a:r>
            <a:r>
              <a:rPr lang="en-US" sz="1400" dirty="0" err="1">
                <a:effectLst/>
              </a:rPr>
              <a:t>сети</a:t>
            </a:r>
            <a:r>
              <a:rPr lang="en-US" sz="1400" dirty="0">
                <a:effectLst/>
              </a:rPr>
              <a:t> (Bayesian Networks); </a:t>
            </a:r>
          </a:p>
          <a:p>
            <a:pPr marL="285750" marR="0" indent="-228600">
              <a:lnSpc>
                <a:spcPct val="90000"/>
              </a:lnSpc>
              <a:buFont typeface="Arial" panose="020B0604020202020204" pitchFamily="34" charset="0"/>
              <a:buChar char="•"/>
            </a:pPr>
            <a:r>
              <a:rPr lang="en-US" sz="1400" dirty="0" err="1">
                <a:effectLst/>
              </a:rPr>
              <a:t>индукция</a:t>
            </a:r>
            <a:r>
              <a:rPr lang="en-US" sz="1400" dirty="0">
                <a:effectLst/>
              </a:rPr>
              <a:t> </a:t>
            </a:r>
            <a:r>
              <a:rPr lang="en-US" sz="1400" dirty="0" err="1">
                <a:effectLst/>
              </a:rPr>
              <a:t>деревьев</a:t>
            </a:r>
            <a:r>
              <a:rPr lang="en-US" sz="1400" dirty="0">
                <a:effectLst/>
              </a:rPr>
              <a:t> </a:t>
            </a:r>
            <a:r>
              <a:rPr lang="en-US" sz="1400" dirty="0" err="1">
                <a:effectLst/>
              </a:rPr>
              <a:t>решений</a:t>
            </a:r>
            <a:r>
              <a:rPr lang="en-US" sz="1400" dirty="0">
                <a:effectLst/>
              </a:rPr>
              <a:t>;</a:t>
            </a:r>
          </a:p>
          <a:p>
            <a:pPr marL="285750" marR="0" indent="-228600">
              <a:lnSpc>
                <a:spcPct val="90000"/>
              </a:lnSpc>
              <a:buFont typeface="Arial" panose="020B0604020202020204" pitchFamily="34" charset="0"/>
              <a:buChar char="•"/>
            </a:pPr>
            <a:r>
              <a:rPr lang="en-US" sz="1400" dirty="0" err="1">
                <a:effectLst/>
              </a:rPr>
              <a:t>нейронные</a:t>
            </a:r>
            <a:r>
              <a:rPr lang="en-US" sz="1400" dirty="0">
                <a:effectLst/>
              </a:rPr>
              <a:t> </a:t>
            </a:r>
            <a:r>
              <a:rPr lang="en-US" sz="1400" dirty="0" err="1">
                <a:effectLst/>
              </a:rPr>
              <a:t>сети</a:t>
            </a:r>
            <a:r>
              <a:rPr lang="en-US" sz="1400" dirty="0">
                <a:effectLst/>
              </a:rPr>
              <a:t> (neural networks).</a:t>
            </a:r>
          </a:p>
          <a:p>
            <a:pPr indent="-228600">
              <a:lnSpc>
                <a:spcPct val="90000"/>
              </a:lnSpc>
              <a:spcAft>
                <a:spcPts val="600"/>
              </a:spcAft>
              <a:buFont typeface="Arial" panose="020B0604020202020204" pitchFamily="34" charset="0"/>
              <a:buChar char="•"/>
            </a:pPr>
            <a:endParaRPr lang="en-US" sz="1400" b="1" dirty="0"/>
          </a:p>
        </p:txBody>
      </p:sp>
      <p:pic>
        <p:nvPicPr>
          <p:cNvPr id="4" name="Picture 3">
            <a:extLst>
              <a:ext uri="{FF2B5EF4-FFF2-40B4-BE49-F238E27FC236}">
                <a16:creationId xmlns:a16="http://schemas.microsoft.com/office/drawing/2014/main" id="{8D9EE5C3-DB8E-681A-0802-F37412E927AE}"/>
              </a:ext>
            </a:extLst>
          </p:cNvPr>
          <p:cNvPicPr>
            <a:picLocks noChangeAspect="1"/>
          </p:cNvPicPr>
          <p:nvPr/>
        </p:nvPicPr>
        <p:blipFill>
          <a:blip r:embed="rId3"/>
          <a:stretch>
            <a:fillRect/>
          </a:stretch>
        </p:blipFill>
        <p:spPr>
          <a:xfrm>
            <a:off x="4654296" y="1487329"/>
            <a:ext cx="6903720" cy="3883342"/>
          </a:xfrm>
          <a:prstGeom prst="rect">
            <a:avLst/>
          </a:prstGeom>
        </p:spPr>
      </p:pic>
    </p:spTree>
    <p:extLst>
      <p:ext uri="{BB962C8B-B14F-4D97-AF65-F5344CB8AC3E}">
        <p14:creationId xmlns:p14="http://schemas.microsoft.com/office/powerpoint/2010/main" val="3430049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07FF7A-51F2-F453-D2C1-A5046BAEB669}"/>
            </a:ext>
          </a:extLst>
        </p:cNvPr>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2427FF92-BBB8-E89D-5B72-20688A93B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451D59-8357-BABD-9912-D50B511C102F}"/>
              </a:ext>
            </a:extLst>
          </p:cNvPr>
          <p:cNvSpPr>
            <a:spLocks noGrp="1"/>
          </p:cNvSpPr>
          <p:nvPr>
            <p:ph type="title"/>
          </p:nvPr>
        </p:nvSpPr>
        <p:spPr>
          <a:xfrm>
            <a:off x="556325" y="747102"/>
            <a:ext cx="3429000" cy="1264578"/>
          </a:xfrm>
        </p:spPr>
        <p:txBody>
          <a:bodyPr vert="horz" lIns="91440" tIns="45720" rIns="91440" bIns="45720" rtlCol="0" anchor="b">
            <a:normAutofit/>
          </a:bodyPr>
          <a:lstStyle/>
          <a:p>
            <a:r>
              <a:rPr lang="ru-RU" sz="3800" b="1" dirty="0"/>
              <a:t>Кластеризация (</a:t>
            </a:r>
            <a:r>
              <a:rPr lang="ru-RU" sz="3800" b="1" dirty="0" err="1"/>
              <a:t>Clustering</a:t>
            </a:r>
            <a:r>
              <a:rPr lang="ru-RU" sz="3800" b="1" dirty="0"/>
              <a:t>)</a:t>
            </a:r>
            <a:endParaRPr lang="en-US" sz="3800" b="1" dirty="0"/>
          </a:p>
        </p:txBody>
      </p:sp>
      <p:sp>
        <p:nvSpPr>
          <p:cNvPr id="103" name="sketch line">
            <a:extLst>
              <a:ext uri="{FF2B5EF4-FFF2-40B4-BE49-F238E27FC236}">
                <a16:creationId xmlns:a16="http://schemas.microsoft.com/office/drawing/2014/main" id="{8866DAD9-1302-D30A-05EB-AD6F0F090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ECBE9F-A22E-094A-27B1-6B88F73FFB5D}"/>
              </a:ext>
            </a:extLst>
          </p:cNvPr>
          <p:cNvSpPr txBox="1"/>
          <p:nvPr/>
        </p:nvSpPr>
        <p:spPr>
          <a:xfrm>
            <a:off x="630936" y="2807208"/>
            <a:ext cx="4134104" cy="3410712"/>
          </a:xfrm>
          <a:prstGeom prst="rect">
            <a:avLst/>
          </a:prstGeom>
        </p:spPr>
        <p:txBody>
          <a:bodyPr vert="horz" lIns="91440" tIns="45720" rIns="91440" bIns="45720" rtlCol="0" anchor="t">
            <a:normAutofit fontScale="92500" lnSpcReduction="20000"/>
          </a:bodyPr>
          <a:lstStyle/>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логическим продолжением идеи классификации. Это задача более сложная, особенность кластеризации заключается в том, что классы объектов изначально не предопределены. </a:t>
            </a:r>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endPar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Результатом кластеризации является разбиение объектов на группы.</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 метода решения задачи кластеризации: обучение "без учителя" особого вида нейронных сетей - самоорганизующихся карт Кохонена.</a:t>
            </a:r>
          </a:p>
          <a:p>
            <a:pPr marR="0">
              <a:lnSpc>
                <a:spcPct val="90000"/>
              </a:lnSpc>
            </a:pPr>
            <a:endParaRPr lang="en-US" sz="1400" dirty="0">
              <a:effectLst/>
            </a:endParaRPr>
          </a:p>
        </p:txBody>
      </p:sp>
      <p:pic>
        <p:nvPicPr>
          <p:cNvPr id="3" name="Picture 2">
            <a:extLst>
              <a:ext uri="{FF2B5EF4-FFF2-40B4-BE49-F238E27FC236}">
                <a16:creationId xmlns:a16="http://schemas.microsoft.com/office/drawing/2014/main" id="{52657287-6364-CDBD-B557-58E9C09BE8C7}"/>
              </a:ext>
            </a:extLst>
          </p:cNvPr>
          <p:cNvPicPr>
            <a:picLocks noChangeAspect="1"/>
          </p:cNvPicPr>
          <p:nvPr/>
        </p:nvPicPr>
        <p:blipFill>
          <a:blip r:embed="rId3"/>
          <a:stretch>
            <a:fillRect/>
          </a:stretch>
        </p:blipFill>
        <p:spPr>
          <a:xfrm>
            <a:off x="4571990" y="640080"/>
            <a:ext cx="6946392" cy="2894330"/>
          </a:xfrm>
          <a:prstGeom prst="rect">
            <a:avLst/>
          </a:prstGeom>
        </p:spPr>
      </p:pic>
    </p:spTree>
    <p:extLst>
      <p:ext uri="{BB962C8B-B14F-4D97-AF65-F5344CB8AC3E}">
        <p14:creationId xmlns:p14="http://schemas.microsoft.com/office/powerpoint/2010/main" val="4238021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76081D-EBA5-F8AE-1687-CE50D75ACD8A}"/>
            </a:ext>
          </a:extLst>
        </p:cNvPr>
        <p:cNvGrpSpPr/>
        <p:nvPr/>
      </p:nvGrpSpPr>
      <p:grpSpPr>
        <a:xfrm>
          <a:off x="0" y="0"/>
          <a:ext cx="0" cy="0"/>
          <a:chOff x="0" y="0"/>
          <a:chExt cx="0" cy="0"/>
        </a:xfrm>
      </p:grpSpPr>
      <p:sp useBgFill="1">
        <p:nvSpPr>
          <p:cNvPr id="108" name="Rectangle 10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388F5-0D44-2976-B580-A7B5C491D58A}"/>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b="1" kern="1200">
                <a:solidFill>
                  <a:schemeClr val="tx1"/>
                </a:solidFill>
                <a:latin typeface="+mj-lt"/>
                <a:ea typeface="+mj-ea"/>
                <a:cs typeface="+mj-cs"/>
              </a:rPr>
              <a:t>Ассоциация (Associations)</a:t>
            </a:r>
          </a:p>
        </p:txBody>
      </p:sp>
      <p:sp>
        <p:nvSpPr>
          <p:cNvPr id="11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858F820-4029-BC9A-F4B1-BCA4EF312B74}"/>
              </a:ext>
            </a:extLst>
          </p:cNvPr>
          <p:cNvSpPr txBox="1"/>
          <p:nvPr/>
        </p:nvSpPr>
        <p:spPr>
          <a:xfrm>
            <a:off x="630936" y="2807208"/>
            <a:ext cx="3910584" cy="3410712"/>
          </a:xfrm>
          <a:prstGeom prst="rect">
            <a:avLst/>
          </a:prstGeom>
        </p:spPr>
        <p:txBody>
          <a:bodyPr vert="horz" lIns="91440" tIns="45720" rIns="91440" bIns="45720" rtlCol="0" anchor="t">
            <a:normAutofit/>
          </a:bodyPr>
          <a:lstStyle/>
          <a:p>
            <a:pPr marR="0">
              <a:lnSpc>
                <a:spcPct val="90000"/>
              </a:lnSpc>
              <a:spcAft>
                <a:spcPts val="600"/>
              </a:spcAft>
            </a:pPr>
            <a:r>
              <a:rPr lang="en-US" sz="1500" dirty="0">
                <a:effectLst/>
              </a:rPr>
              <a:t>В </a:t>
            </a:r>
            <a:r>
              <a:rPr lang="en-US" sz="1500" dirty="0" err="1">
                <a:effectLst/>
              </a:rPr>
              <a:t>ходе</a:t>
            </a:r>
            <a:r>
              <a:rPr lang="en-US" sz="1500" dirty="0">
                <a:effectLst/>
              </a:rPr>
              <a:t> </a:t>
            </a:r>
            <a:r>
              <a:rPr lang="en-US" sz="1500" dirty="0" err="1">
                <a:effectLst/>
              </a:rPr>
              <a:t>решения</a:t>
            </a:r>
            <a:r>
              <a:rPr lang="en-US" sz="1500" dirty="0">
                <a:effectLst/>
              </a:rPr>
              <a:t> </a:t>
            </a:r>
            <a:r>
              <a:rPr lang="en-US" sz="1500" dirty="0" err="1">
                <a:effectLst/>
              </a:rPr>
              <a:t>задачи</a:t>
            </a:r>
            <a:r>
              <a:rPr lang="en-US" sz="1500" dirty="0">
                <a:effectLst/>
              </a:rPr>
              <a:t> </a:t>
            </a:r>
            <a:r>
              <a:rPr lang="en-US" sz="1500" dirty="0" err="1">
                <a:effectLst/>
              </a:rPr>
              <a:t>поиска</a:t>
            </a:r>
            <a:r>
              <a:rPr lang="en-US" sz="1500" dirty="0">
                <a:effectLst/>
              </a:rPr>
              <a:t> </a:t>
            </a:r>
            <a:r>
              <a:rPr lang="en-US" sz="1500" dirty="0" err="1">
                <a:effectLst/>
              </a:rPr>
              <a:t>ассоциативных</a:t>
            </a:r>
            <a:r>
              <a:rPr lang="en-US" sz="1500" dirty="0">
                <a:effectLst/>
              </a:rPr>
              <a:t> </a:t>
            </a:r>
            <a:r>
              <a:rPr lang="en-US" sz="1500" dirty="0" err="1">
                <a:effectLst/>
              </a:rPr>
              <a:t>правил</a:t>
            </a:r>
            <a:r>
              <a:rPr lang="en-US" sz="1500" dirty="0">
                <a:effectLst/>
              </a:rPr>
              <a:t> </a:t>
            </a:r>
            <a:r>
              <a:rPr lang="en-US" sz="1500" dirty="0" err="1">
                <a:effectLst/>
              </a:rPr>
              <a:t>отыскиваются</a:t>
            </a:r>
            <a:r>
              <a:rPr lang="en-US" sz="1500" dirty="0">
                <a:effectLst/>
              </a:rPr>
              <a:t> </a:t>
            </a:r>
            <a:r>
              <a:rPr lang="en-US" sz="1500" dirty="0" err="1">
                <a:effectLst/>
              </a:rPr>
              <a:t>закономерности</a:t>
            </a:r>
            <a:r>
              <a:rPr lang="en-US" sz="1500" dirty="0">
                <a:effectLst/>
              </a:rPr>
              <a:t> </a:t>
            </a:r>
            <a:r>
              <a:rPr lang="en-US" sz="1500" dirty="0" err="1">
                <a:effectLst/>
              </a:rPr>
              <a:t>между</a:t>
            </a:r>
            <a:r>
              <a:rPr lang="en-US" sz="1500" dirty="0">
                <a:effectLst/>
              </a:rPr>
              <a:t> </a:t>
            </a:r>
            <a:r>
              <a:rPr lang="en-US" sz="1500" dirty="0" err="1">
                <a:effectLst/>
              </a:rPr>
              <a:t>связанными</a:t>
            </a:r>
            <a:r>
              <a:rPr lang="en-US" sz="1500" dirty="0">
                <a:effectLst/>
              </a:rPr>
              <a:t> </a:t>
            </a:r>
            <a:r>
              <a:rPr lang="en-US" sz="1500" dirty="0" err="1">
                <a:effectLst/>
              </a:rPr>
              <a:t>событиями</a:t>
            </a:r>
            <a:r>
              <a:rPr lang="en-US" sz="1500" dirty="0">
                <a:effectLst/>
              </a:rPr>
              <a:t> в </a:t>
            </a:r>
            <a:r>
              <a:rPr lang="en-US" sz="1500" dirty="0" err="1">
                <a:effectLst/>
              </a:rPr>
              <a:t>наборе</a:t>
            </a:r>
            <a:r>
              <a:rPr lang="en-US" sz="1500" dirty="0">
                <a:effectLst/>
              </a:rPr>
              <a:t> </a:t>
            </a:r>
            <a:r>
              <a:rPr lang="en-US" sz="1500" dirty="0" err="1">
                <a:effectLst/>
              </a:rPr>
              <a:t>данных</a:t>
            </a:r>
            <a:r>
              <a:rPr lang="en-US" sz="1500" dirty="0">
                <a:effectLst/>
              </a:rPr>
              <a:t>.</a:t>
            </a:r>
          </a:p>
          <a:p>
            <a:pPr marL="0" marR="0" indent="-228600">
              <a:lnSpc>
                <a:spcPct val="90000"/>
              </a:lnSpc>
              <a:spcAft>
                <a:spcPts val="600"/>
              </a:spcAft>
              <a:buFont typeface="Arial" panose="020B0604020202020204" pitchFamily="34" charset="0"/>
              <a:buChar char="•"/>
            </a:pPr>
            <a:endParaRPr lang="en-US" sz="1500" dirty="0">
              <a:effectLst/>
            </a:endParaRPr>
          </a:p>
          <a:p>
            <a:pPr marR="0">
              <a:lnSpc>
                <a:spcPct val="90000"/>
              </a:lnSpc>
              <a:spcAft>
                <a:spcPts val="600"/>
              </a:spcAft>
            </a:pPr>
            <a:r>
              <a:rPr lang="en-US" sz="1500" dirty="0" err="1">
                <a:effectLst/>
              </a:rPr>
              <a:t>Отличие</a:t>
            </a:r>
            <a:r>
              <a:rPr lang="en-US" sz="1500" dirty="0">
                <a:effectLst/>
              </a:rPr>
              <a:t> </a:t>
            </a:r>
            <a:r>
              <a:rPr lang="en-US" sz="1500" i="1" dirty="0" err="1">
                <a:effectLst/>
              </a:rPr>
              <a:t>ассоциации</a:t>
            </a:r>
            <a:r>
              <a:rPr lang="en-US" sz="1500" dirty="0">
                <a:effectLst/>
              </a:rPr>
              <a:t> </a:t>
            </a:r>
            <a:r>
              <a:rPr lang="en-US" sz="1500" dirty="0" err="1">
                <a:effectLst/>
              </a:rPr>
              <a:t>от</a:t>
            </a:r>
            <a:r>
              <a:rPr lang="en-US" sz="1500" dirty="0">
                <a:effectLst/>
              </a:rPr>
              <a:t> </a:t>
            </a:r>
            <a:r>
              <a:rPr lang="en-US" sz="1500" dirty="0" err="1">
                <a:effectLst/>
              </a:rPr>
              <a:t>двух</a:t>
            </a:r>
            <a:r>
              <a:rPr lang="en-US" sz="1500" dirty="0">
                <a:effectLst/>
              </a:rPr>
              <a:t> </a:t>
            </a:r>
            <a:r>
              <a:rPr lang="en-US" sz="1500" dirty="0" err="1">
                <a:effectLst/>
              </a:rPr>
              <a:t>предыдущих</a:t>
            </a:r>
            <a:r>
              <a:rPr lang="en-US" sz="1500" dirty="0">
                <a:effectLst/>
              </a:rPr>
              <a:t> </a:t>
            </a:r>
            <a:r>
              <a:rPr lang="en-US" sz="1500" i="1" dirty="0" err="1">
                <a:effectLst/>
              </a:rPr>
              <a:t>задач</a:t>
            </a:r>
            <a:r>
              <a:rPr lang="en-US" sz="1500" i="1" dirty="0">
                <a:effectLst/>
              </a:rPr>
              <a:t> Data Mining</a:t>
            </a:r>
            <a:r>
              <a:rPr lang="en-US" sz="1500" dirty="0">
                <a:effectLst/>
              </a:rPr>
              <a:t>: </a:t>
            </a:r>
            <a:r>
              <a:rPr lang="en-US" sz="1500" dirty="0" err="1">
                <a:effectLst/>
              </a:rPr>
              <a:t>поиск</a:t>
            </a:r>
            <a:r>
              <a:rPr lang="en-US" sz="1500" dirty="0">
                <a:effectLst/>
              </a:rPr>
              <a:t> </a:t>
            </a:r>
            <a:r>
              <a:rPr lang="en-US" sz="1500" dirty="0" err="1">
                <a:effectLst/>
              </a:rPr>
              <a:t>закономерностей</a:t>
            </a:r>
            <a:r>
              <a:rPr lang="en-US" sz="1500" dirty="0">
                <a:effectLst/>
              </a:rPr>
              <a:t> </a:t>
            </a:r>
            <a:r>
              <a:rPr lang="en-US" sz="1500" dirty="0" err="1">
                <a:effectLst/>
              </a:rPr>
              <a:t>осуществляется</a:t>
            </a:r>
            <a:r>
              <a:rPr lang="en-US" sz="1500" dirty="0">
                <a:effectLst/>
              </a:rPr>
              <a:t> </a:t>
            </a:r>
            <a:r>
              <a:rPr lang="en-US" sz="1500" dirty="0" err="1">
                <a:effectLst/>
              </a:rPr>
              <a:t>не</a:t>
            </a:r>
            <a:r>
              <a:rPr lang="en-US" sz="1500" dirty="0">
                <a:effectLst/>
              </a:rPr>
              <a:t> </a:t>
            </a:r>
            <a:r>
              <a:rPr lang="en-US" sz="1500" dirty="0" err="1">
                <a:effectLst/>
              </a:rPr>
              <a:t>на</a:t>
            </a:r>
            <a:r>
              <a:rPr lang="en-US" sz="1500" dirty="0">
                <a:effectLst/>
              </a:rPr>
              <a:t> </a:t>
            </a:r>
            <a:r>
              <a:rPr lang="en-US" sz="1500" dirty="0" err="1">
                <a:effectLst/>
              </a:rPr>
              <a:t>основе</a:t>
            </a:r>
            <a:r>
              <a:rPr lang="en-US" sz="1500" dirty="0">
                <a:effectLst/>
              </a:rPr>
              <a:t> </a:t>
            </a:r>
            <a:r>
              <a:rPr lang="en-US" sz="1500" dirty="0" err="1">
                <a:effectLst/>
              </a:rPr>
              <a:t>свойств</a:t>
            </a:r>
            <a:r>
              <a:rPr lang="en-US" sz="1500" dirty="0">
                <a:effectLst/>
              </a:rPr>
              <a:t> </a:t>
            </a:r>
            <a:r>
              <a:rPr lang="en-US" sz="1500" dirty="0" err="1">
                <a:effectLst/>
              </a:rPr>
              <a:t>анализируемого</a:t>
            </a:r>
            <a:r>
              <a:rPr lang="en-US" sz="1500" dirty="0">
                <a:effectLst/>
              </a:rPr>
              <a:t> </a:t>
            </a:r>
            <a:r>
              <a:rPr lang="en-US" sz="1500" dirty="0" err="1">
                <a:effectLst/>
              </a:rPr>
              <a:t>объекта</a:t>
            </a:r>
            <a:r>
              <a:rPr lang="en-US" sz="1500" dirty="0">
                <a:effectLst/>
              </a:rPr>
              <a:t>, а </a:t>
            </a:r>
            <a:r>
              <a:rPr lang="en-US" sz="1500" dirty="0" err="1">
                <a:effectLst/>
              </a:rPr>
              <a:t>между</a:t>
            </a:r>
            <a:r>
              <a:rPr lang="en-US" sz="1500" dirty="0">
                <a:effectLst/>
              </a:rPr>
              <a:t> </a:t>
            </a:r>
            <a:r>
              <a:rPr lang="en-US" sz="1500" dirty="0" err="1">
                <a:effectLst/>
              </a:rPr>
              <a:t>несколькими</a:t>
            </a:r>
            <a:r>
              <a:rPr lang="en-US" sz="1500" dirty="0">
                <a:effectLst/>
              </a:rPr>
              <a:t> </a:t>
            </a:r>
            <a:r>
              <a:rPr lang="en-US" sz="1500" dirty="0" err="1">
                <a:effectLst/>
              </a:rPr>
              <a:t>событиями</a:t>
            </a:r>
            <a:r>
              <a:rPr lang="en-US" sz="1500" dirty="0">
                <a:effectLst/>
              </a:rPr>
              <a:t>, </a:t>
            </a:r>
            <a:r>
              <a:rPr lang="en-US" sz="1500" dirty="0" err="1">
                <a:effectLst/>
              </a:rPr>
              <a:t>которые</a:t>
            </a:r>
            <a:r>
              <a:rPr lang="en-US" sz="1500" dirty="0">
                <a:effectLst/>
              </a:rPr>
              <a:t> </a:t>
            </a:r>
            <a:r>
              <a:rPr lang="en-US" sz="1500" dirty="0" err="1">
                <a:effectLst/>
              </a:rPr>
              <a:t>происходят</a:t>
            </a:r>
            <a:r>
              <a:rPr lang="en-US" sz="1500" dirty="0">
                <a:effectLst/>
              </a:rPr>
              <a:t> </a:t>
            </a:r>
            <a:r>
              <a:rPr lang="en-US" sz="1500" dirty="0" err="1">
                <a:effectLst/>
              </a:rPr>
              <a:t>одновременно</a:t>
            </a:r>
            <a:r>
              <a:rPr lang="en-US" sz="1500" dirty="0">
                <a:effectLst/>
              </a:rPr>
              <a:t>.</a:t>
            </a:r>
          </a:p>
          <a:p>
            <a:pPr>
              <a:lnSpc>
                <a:spcPct val="90000"/>
              </a:lnSpc>
              <a:spcAft>
                <a:spcPts val="600"/>
              </a:spcAft>
            </a:pPr>
            <a:r>
              <a:rPr lang="en-US" sz="1500" dirty="0" err="1"/>
              <a:t>Наиболее</a:t>
            </a:r>
            <a:r>
              <a:rPr lang="en-US" sz="1500" dirty="0"/>
              <a:t> </a:t>
            </a:r>
            <a:r>
              <a:rPr lang="en-US" sz="1500" dirty="0" err="1"/>
              <a:t>известный</a:t>
            </a:r>
            <a:r>
              <a:rPr lang="en-US" sz="1500" dirty="0"/>
              <a:t> </a:t>
            </a:r>
            <a:r>
              <a:rPr lang="en-US" sz="1500" dirty="0" err="1"/>
              <a:t>алгоритм</a:t>
            </a:r>
            <a:r>
              <a:rPr lang="en-US" sz="1500" dirty="0"/>
              <a:t> </a:t>
            </a:r>
            <a:r>
              <a:rPr lang="en-US" sz="1500" dirty="0" err="1"/>
              <a:t>решения</a:t>
            </a:r>
            <a:r>
              <a:rPr lang="en-US" sz="1500" dirty="0"/>
              <a:t> </a:t>
            </a:r>
            <a:r>
              <a:rPr lang="en-US" sz="1500" dirty="0" err="1"/>
              <a:t>задачи</a:t>
            </a:r>
            <a:r>
              <a:rPr lang="en-US" sz="1500" dirty="0"/>
              <a:t> </a:t>
            </a:r>
            <a:r>
              <a:rPr lang="en-US" sz="1500" dirty="0" err="1"/>
              <a:t>поиска</a:t>
            </a:r>
            <a:r>
              <a:rPr lang="en-US" sz="1500" dirty="0"/>
              <a:t> </a:t>
            </a:r>
            <a:r>
              <a:rPr lang="en-US" sz="1500" dirty="0" err="1"/>
              <a:t>ассоциативных</a:t>
            </a:r>
            <a:r>
              <a:rPr lang="en-US" sz="1500" dirty="0"/>
              <a:t> </a:t>
            </a:r>
            <a:r>
              <a:rPr lang="en-US" sz="1500" dirty="0" err="1"/>
              <a:t>правил</a:t>
            </a:r>
            <a:r>
              <a:rPr lang="en-US" sz="1500" dirty="0"/>
              <a:t> - </a:t>
            </a:r>
            <a:r>
              <a:rPr lang="en-US" sz="1500" dirty="0" err="1"/>
              <a:t>алгоритм</a:t>
            </a:r>
            <a:r>
              <a:rPr lang="en-US" sz="1500" dirty="0"/>
              <a:t> </a:t>
            </a:r>
            <a:r>
              <a:rPr lang="en-US" sz="1500" dirty="0" err="1"/>
              <a:t>Apriori</a:t>
            </a:r>
            <a:r>
              <a:rPr lang="en-US" sz="1500" dirty="0"/>
              <a:t>.</a:t>
            </a:r>
          </a:p>
        </p:txBody>
      </p:sp>
      <p:pic>
        <p:nvPicPr>
          <p:cNvPr id="4" name="Picture 3">
            <a:extLst>
              <a:ext uri="{FF2B5EF4-FFF2-40B4-BE49-F238E27FC236}">
                <a16:creationId xmlns:a16="http://schemas.microsoft.com/office/drawing/2014/main" id="{D9B3DADE-5E2E-3DB8-20E9-42B83F07042D}"/>
              </a:ext>
            </a:extLst>
          </p:cNvPr>
          <p:cNvPicPr>
            <a:picLocks noChangeAspect="1"/>
          </p:cNvPicPr>
          <p:nvPr/>
        </p:nvPicPr>
        <p:blipFill>
          <a:blip r:embed="rId3"/>
          <a:stretch>
            <a:fillRect/>
          </a:stretch>
        </p:blipFill>
        <p:spPr>
          <a:xfrm>
            <a:off x="4654296" y="1898946"/>
            <a:ext cx="6903720" cy="3060107"/>
          </a:xfrm>
          <a:prstGeom prst="rect">
            <a:avLst/>
          </a:prstGeom>
        </p:spPr>
      </p:pic>
    </p:spTree>
    <p:extLst>
      <p:ext uri="{BB962C8B-B14F-4D97-AF65-F5344CB8AC3E}">
        <p14:creationId xmlns:p14="http://schemas.microsoft.com/office/powerpoint/2010/main" val="3748159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0EC92E-1596-7C19-26B2-C0A821E83BA2}"/>
            </a:ext>
          </a:extLst>
        </p:cNvPr>
        <p:cNvGrpSpPr/>
        <p:nvPr/>
      </p:nvGrpSpPr>
      <p:grpSpPr>
        <a:xfrm>
          <a:off x="0" y="0"/>
          <a:ext cx="0" cy="0"/>
          <a:chOff x="0" y="0"/>
          <a:chExt cx="0" cy="0"/>
        </a:xfrm>
      </p:grpSpPr>
      <p:sp useBgFill="1">
        <p:nvSpPr>
          <p:cNvPr id="115" name="Rectangle 1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117351-35B0-C8E2-D3E8-10DF4EB532C2}"/>
              </a:ext>
            </a:extLst>
          </p:cNvPr>
          <p:cNvSpPr>
            <a:spLocks noGrp="1"/>
          </p:cNvSpPr>
          <p:nvPr>
            <p:ph type="title"/>
          </p:nvPr>
        </p:nvSpPr>
        <p:spPr>
          <a:xfrm>
            <a:off x="630936" y="639520"/>
            <a:ext cx="4023360" cy="1150672"/>
          </a:xfrm>
        </p:spPr>
        <p:txBody>
          <a:bodyPr vert="horz" lIns="91440" tIns="45720" rIns="91440" bIns="45720" rtlCol="0" anchor="b">
            <a:normAutofit/>
          </a:bodyPr>
          <a:lstStyle/>
          <a:p>
            <a:r>
              <a:rPr lang="en-US" sz="3200" b="1" kern="1200" dirty="0" err="1">
                <a:solidFill>
                  <a:schemeClr val="tx1"/>
                </a:solidFill>
                <a:latin typeface="+mj-lt"/>
                <a:ea typeface="+mj-ea"/>
                <a:cs typeface="+mj-cs"/>
              </a:rPr>
              <a:t>Последовательность</a:t>
            </a:r>
            <a:r>
              <a:rPr lang="en-US" sz="3200" b="1" kern="1200" dirty="0">
                <a:solidFill>
                  <a:schemeClr val="tx1"/>
                </a:solidFill>
                <a:latin typeface="+mj-lt"/>
                <a:ea typeface="+mj-ea"/>
                <a:cs typeface="+mj-cs"/>
              </a:rPr>
              <a:t> (Sequence)</a:t>
            </a:r>
          </a:p>
        </p:txBody>
      </p:sp>
      <p:sp>
        <p:nvSpPr>
          <p:cNvPr id="1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B93A2A4-FF21-01EB-BE0E-0008DB6F52AF}"/>
              </a:ext>
            </a:extLst>
          </p:cNvPr>
          <p:cNvSpPr txBox="1"/>
          <p:nvPr/>
        </p:nvSpPr>
        <p:spPr>
          <a:xfrm>
            <a:off x="630936" y="2807208"/>
            <a:ext cx="3429000" cy="3410712"/>
          </a:xfrm>
          <a:prstGeom prst="rect">
            <a:avLst/>
          </a:prstGeom>
        </p:spPr>
        <p:txBody>
          <a:bodyPr vert="horz" lIns="91440" tIns="45720" rIns="91440" bIns="45720" rtlCol="0" anchor="t">
            <a:noAutofit/>
          </a:bodyPr>
          <a:lstStyle/>
          <a:p>
            <a:pPr marR="0">
              <a:lnSpc>
                <a:spcPct val="90000"/>
              </a:lnSpc>
              <a:spcAft>
                <a:spcPts val="600"/>
              </a:spcAft>
            </a:pPr>
            <a:r>
              <a:rPr lang="en-US" sz="1400" b="1" i="1">
                <a:effectLst/>
              </a:rPr>
              <a:t>Последовательность</a:t>
            </a:r>
            <a:r>
              <a:rPr lang="en-US" sz="1400">
                <a:effectLst/>
              </a:rPr>
              <a:t> (Sequence), или последовательная </a:t>
            </a:r>
            <a:r>
              <a:rPr lang="en-US" sz="1400" i="1">
                <a:effectLst/>
              </a:rPr>
              <a:t>ассоциация</a:t>
            </a:r>
            <a:r>
              <a:rPr lang="en-US" sz="1400">
                <a:effectLst/>
              </a:rPr>
              <a:t> (sequential association)</a:t>
            </a:r>
          </a:p>
          <a:p>
            <a:pPr marR="0">
              <a:lnSpc>
                <a:spcPct val="90000"/>
              </a:lnSpc>
              <a:spcAft>
                <a:spcPts val="600"/>
              </a:spcAft>
            </a:pPr>
            <a:endParaRPr lang="en-US" sz="1400" i="1">
              <a:effectLst/>
            </a:endParaRPr>
          </a:p>
          <a:p>
            <a:pPr marR="0">
              <a:lnSpc>
                <a:spcPct val="90000"/>
              </a:lnSpc>
              <a:spcAft>
                <a:spcPts val="600"/>
              </a:spcAft>
            </a:pPr>
            <a:r>
              <a:rPr lang="en-US" sz="1400" i="1">
                <a:effectLst/>
              </a:rPr>
              <a:t>Последовательность</a:t>
            </a:r>
            <a:r>
              <a:rPr lang="en-US" sz="1400">
                <a:effectLst/>
              </a:rPr>
              <a:t> позволяет найти временные закономерности между транзакциями. Задача </a:t>
            </a:r>
            <a:r>
              <a:rPr lang="en-US" sz="1400" i="1">
                <a:effectLst/>
              </a:rPr>
              <a:t>последовательности</a:t>
            </a:r>
            <a:r>
              <a:rPr lang="en-US" sz="1400">
                <a:effectLst/>
              </a:rPr>
              <a:t> подобна </a:t>
            </a:r>
            <a:r>
              <a:rPr lang="en-US" sz="1400" i="1">
                <a:effectLst/>
              </a:rPr>
              <a:t>ассоциации</a:t>
            </a:r>
            <a:r>
              <a:rPr lang="en-US" sz="1400">
                <a:effectLst/>
              </a:rPr>
              <a:t>, но ее целью является установление закономерностей не между одновременно наступающими событиями, а между событиями, связанными во времени (т.е. происходящими с некоторым определенным интервалом во времени). Другими словами, </a:t>
            </a:r>
            <a:r>
              <a:rPr lang="en-US" sz="1400" i="1">
                <a:effectLst/>
              </a:rPr>
              <a:t>последовательность</a:t>
            </a:r>
            <a:r>
              <a:rPr lang="en-US" sz="1400">
                <a:effectLst/>
              </a:rPr>
              <a:t> определяется высокой вероятностью цепочки связанных во времени событий.</a:t>
            </a:r>
            <a:endParaRPr lang="en-US" sz="1400" dirty="0"/>
          </a:p>
        </p:txBody>
      </p:sp>
      <p:pic>
        <p:nvPicPr>
          <p:cNvPr id="5" name="Picture 4">
            <a:extLst>
              <a:ext uri="{FF2B5EF4-FFF2-40B4-BE49-F238E27FC236}">
                <a16:creationId xmlns:a16="http://schemas.microsoft.com/office/drawing/2014/main" id="{74DF49C6-C65C-D8A6-8196-0CF56CB45CC9}"/>
              </a:ext>
            </a:extLst>
          </p:cNvPr>
          <p:cNvPicPr>
            <a:picLocks noChangeAspect="1"/>
          </p:cNvPicPr>
          <p:nvPr/>
        </p:nvPicPr>
        <p:blipFill>
          <a:blip r:embed="rId3"/>
          <a:stretch>
            <a:fillRect/>
          </a:stretch>
        </p:blipFill>
        <p:spPr>
          <a:xfrm>
            <a:off x="4654296" y="1677181"/>
            <a:ext cx="6903720" cy="3503637"/>
          </a:xfrm>
          <a:prstGeom prst="rect">
            <a:avLst/>
          </a:prstGeom>
        </p:spPr>
      </p:pic>
    </p:spTree>
    <p:extLst>
      <p:ext uri="{BB962C8B-B14F-4D97-AF65-F5344CB8AC3E}">
        <p14:creationId xmlns:p14="http://schemas.microsoft.com/office/powerpoint/2010/main" val="1486441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165EA0-C4B5-833E-BEE7-ABEEA8E25D20}"/>
            </a:ext>
          </a:extLst>
        </p:cNvPr>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782B25-2918-739B-BB5F-C74F56F0F94E}"/>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a:t>Прогнозирование (Forecasting)</a:t>
            </a:r>
          </a:p>
        </p:txBody>
      </p:sp>
      <p:grpSp>
        <p:nvGrpSpPr>
          <p:cNvPr id="124" name="Group 12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5" name="Rectangle 12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8" name="Rectangle 12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71FA795-87A9-9172-EAEF-2B4A8D202C4A}"/>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marL="0" marR="0" indent="-228600">
              <a:lnSpc>
                <a:spcPct val="90000"/>
              </a:lnSpc>
              <a:spcAft>
                <a:spcPts val="600"/>
              </a:spcAft>
              <a:buFont typeface="Arial" panose="020B0604020202020204" pitchFamily="34" charset="0"/>
              <a:buChar char="•"/>
            </a:pPr>
            <a:r>
              <a:rPr lang="en-US" sz="2000">
                <a:effectLst/>
              </a:rPr>
              <a:t>В результате решения задачи прогнозирования на основе особенностей исторических данных оцениваются пропущенные или же будущие значения целевых численных показателей. </a:t>
            </a:r>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r>
              <a:rPr lang="en-US" sz="2000"/>
              <a:t>Для решения таких задач широко применяются методы математической статистики, нейронные сети и др.</a:t>
            </a:r>
          </a:p>
        </p:txBody>
      </p:sp>
      <p:sp>
        <p:nvSpPr>
          <p:cNvPr id="130" name="Rectangle 12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B98BA24-1262-6A25-ED18-2F1CD9ED7163}"/>
              </a:ext>
            </a:extLst>
          </p:cNvPr>
          <p:cNvPicPr>
            <a:picLocks noChangeAspect="1"/>
          </p:cNvPicPr>
          <p:nvPr/>
        </p:nvPicPr>
        <p:blipFill rotWithShape="1">
          <a:blip r:embed="rId3"/>
          <a:srcRect l="10938" r="15821" b="2"/>
          <a:stretch/>
        </p:blipFill>
        <p:spPr>
          <a:xfrm>
            <a:off x="5977788" y="799352"/>
            <a:ext cx="5425410" cy="5259296"/>
          </a:xfrm>
          <a:prstGeom prst="rect">
            <a:avLst/>
          </a:prstGeom>
        </p:spPr>
      </p:pic>
    </p:spTree>
    <p:extLst>
      <p:ext uri="{BB962C8B-B14F-4D97-AF65-F5344CB8AC3E}">
        <p14:creationId xmlns:p14="http://schemas.microsoft.com/office/powerpoint/2010/main" val="2508291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D8E4D2-5460-E0A9-F632-5BF8ECCCBC1B}"/>
            </a:ext>
          </a:extLst>
        </p:cNvPr>
        <p:cNvGrpSpPr/>
        <p:nvPr/>
      </p:nvGrpSpPr>
      <p:grpSpPr>
        <a:xfrm>
          <a:off x="0" y="0"/>
          <a:ext cx="0" cy="0"/>
          <a:chOff x="0" y="0"/>
          <a:chExt cx="0" cy="0"/>
        </a:xfrm>
      </p:grpSpPr>
      <p:sp useBgFill="1">
        <p:nvSpPr>
          <p:cNvPr id="186" name="Rectangle 185">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DB94A2-F3BC-315B-F385-9DE63ECAE139}"/>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3100" b="1" kern="1200">
                <a:solidFill>
                  <a:schemeClr val="tx1"/>
                </a:solidFill>
                <a:latin typeface="+mj-lt"/>
                <a:ea typeface="+mj-ea"/>
                <a:cs typeface="+mj-cs"/>
              </a:rPr>
              <a:t>Определение отклонений или выбросов (Deviation Detection)</a:t>
            </a:r>
          </a:p>
        </p:txBody>
      </p:sp>
      <p:grpSp>
        <p:nvGrpSpPr>
          <p:cNvPr id="188" name="Group 18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89" name="Rectangle 18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2" name="Rectangle 19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901C0F-871F-E786-20C0-11A429AD3003}"/>
              </a:ext>
            </a:extLst>
          </p:cNvPr>
          <p:cNvSpPr txBox="1"/>
          <p:nvPr/>
        </p:nvSpPr>
        <p:spPr>
          <a:xfrm>
            <a:off x="564250" y="2347511"/>
            <a:ext cx="5278066" cy="3979585"/>
          </a:xfrm>
          <a:prstGeom prst="rect">
            <a:avLst/>
          </a:prstGeom>
        </p:spPr>
        <p:txBody>
          <a:bodyPr vert="horz" lIns="91440" tIns="45720" rIns="91440" bIns="45720" rtlCol="0" anchor="ctr">
            <a:normAutofit/>
          </a:bodyPr>
          <a:lstStyle/>
          <a:p>
            <a:pPr marR="0" indent="-228600">
              <a:lnSpc>
                <a:spcPct val="90000"/>
              </a:lnSpc>
              <a:spcAft>
                <a:spcPts val="600"/>
              </a:spcAft>
              <a:buFont typeface="Arial" panose="020B0604020202020204" pitchFamily="34" charset="0"/>
              <a:buChar char="•"/>
            </a:pPr>
            <a:r>
              <a:rPr lang="en-US" sz="2000">
                <a:effectLst/>
              </a:rPr>
              <a:t>Цель решения данной задачи - обнаружение и анализ данных, наиболее отличающихся от общего множества данных, выявление так называемых нехарактерных шаблонов. </a:t>
            </a:r>
          </a:p>
        </p:txBody>
      </p:sp>
      <p:sp>
        <p:nvSpPr>
          <p:cNvPr id="194" name="Rectangle 19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4CF63B9-CDDB-1AE5-C89E-25456AD41F0E}"/>
              </a:ext>
            </a:extLst>
          </p:cNvPr>
          <p:cNvPicPr>
            <a:picLocks noChangeAspect="1"/>
          </p:cNvPicPr>
          <p:nvPr/>
        </p:nvPicPr>
        <p:blipFill>
          <a:blip r:embed="rId3"/>
          <a:stretch>
            <a:fillRect/>
          </a:stretch>
        </p:blipFill>
        <p:spPr>
          <a:xfrm>
            <a:off x="6849687" y="3565630"/>
            <a:ext cx="3847983" cy="2885988"/>
          </a:xfrm>
          <a:prstGeom prst="rect">
            <a:avLst/>
          </a:prstGeom>
        </p:spPr>
      </p:pic>
      <p:pic>
        <p:nvPicPr>
          <p:cNvPr id="8" name="Picture 7">
            <a:extLst>
              <a:ext uri="{FF2B5EF4-FFF2-40B4-BE49-F238E27FC236}">
                <a16:creationId xmlns:a16="http://schemas.microsoft.com/office/drawing/2014/main" id="{11ED4460-4450-4AD6-EAE9-73C1B1385BA0}"/>
              </a:ext>
            </a:extLst>
          </p:cNvPr>
          <p:cNvPicPr>
            <a:picLocks noChangeAspect="1"/>
          </p:cNvPicPr>
          <p:nvPr/>
        </p:nvPicPr>
        <p:blipFill>
          <a:blip r:embed="rId4"/>
          <a:stretch>
            <a:fillRect/>
          </a:stretch>
        </p:blipFill>
        <p:spPr>
          <a:xfrm>
            <a:off x="7204883" y="397955"/>
            <a:ext cx="4015430" cy="2883079"/>
          </a:xfrm>
          <a:prstGeom prst="rect">
            <a:avLst/>
          </a:prstGeom>
        </p:spPr>
      </p:pic>
    </p:spTree>
    <p:extLst>
      <p:ext uri="{BB962C8B-B14F-4D97-AF65-F5344CB8AC3E}">
        <p14:creationId xmlns:p14="http://schemas.microsoft.com/office/powerpoint/2010/main" val="4146397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0FF8A2-1834-F7A2-D3A3-95EE114D2ACA}"/>
            </a:ext>
          </a:extLst>
        </p:cNvPr>
        <p:cNvGrpSpPr/>
        <p:nvPr/>
      </p:nvGrpSpPr>
      <p:grpSpPr>
        <a:xfrm>
          <a:off x="0" y="0"/>
          <a:ext cx="0" cy="0"/>
          <a:chOff x="0" y="0"/>
          <a:chExt cx="0" cy="0"/>
        </a:xfrm>
      </p:grpSpPr>
      <p:sp useBgFill="1">
        <p:nvSpPr>
          <p:cNvPr id="218" name="Rectangle 217">
            <a:extLst>
              <a:ext uri="{FF2B5EF4-FFF2-40B4-BE49-F238E27FC236}">
                <a16:creationId xmlns:a16="http://schemas.microsoft.com/office/drawing/2014/main" id="{1DC5A442-E2D0-4F6D-894C-999AF89A7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86F304-3283-C45C-9725-A1194483DB2D}"/>
              </a:ext>
            </a:extLst>
          </p:cNvPr>
          <p:cNvSpPr>
            <a:spLocks noGrp="1"/>
          </p:cNvSpPr>
          <p:nvPr>
            <p:ph type="title"/>
          </p:nvPr>
        </p:nvSpPr>
        <p:spPr>
          <a:xfrm>
            <a:off x="581646" y="349664"/>
            <a:ext cx="5845571" cy="1638377"/>
          </a:xfrm>
        </p:spPr>
        <p:txBody>
          <a:bodyPr vert="horz" lIns="91440" tIns="45720" rIns="91440" bIns="45720" rtlCol="0" anchor="b">
            <a:normAutofit/>
          </a:bodyPr>
          <a:lstStyle/>
          <a:p>
            <a:r>
              <a:rPr lang="en-US" sz="4800" b="1"/>
              <a:t>Другие задачи</a:t>
            </a:r>
          </a:p>
        </p:txBody>
      </p:sp>
      <p:sp>
        <p:nvSpPr>
          <p:cNvPr id="7" name="TextBox 6">
            <a:extLst>
              <a:ext uri="{FF2B5EF4-FFF2-40B4-BE49-F238E27FC236}">
                <a16:creationId xmlns:a16="http://schemas.microsoft.com/office/drawing/2014/main" id="{665C98AC-1D34-BA5C-FD21-60C88C80CE00}"/>
              </a:ext>
            </a:extLst>
          </p:cNvPr>
          <p:cNvSpPr txBox="1"/>
          <p:nvPr/>
        </p:nvSpPr>
        <p:spPr>
          <a:xfrm>
            <a:off x="587988" y="2620641"/>
            <a:ext cx="5837750" cy="3023702"/>
          </a:xfrm>
          <a:prstGeom prst="rect">
            <a:avLst/>
          </a:prstGeom>
        </p:spPr>
        <p:txBody>
          <a:bodyPr vert="horz" lIns="91440" tIns="45720" rIns="91440" bIns="45720" rtlCol="0" anchor="ctr">
            <a:normAutofit/>
          </a:bodyPr>
          <a:lstStyle/>
          <a:p>
            <a:pPr marL="0" marR="0" indent="-228600">
              <a:lnSpc>
                <a:spcPct val="90000"/>
              </a:lnSpc>
              <a:spcAft>
                <a:spcPts val="600"/>
              </a:spcAft>
              <a:buFont typeface="Arial" panose="020B0604020202020204" pitchFamily="34" charset="0"/>
              <a:buChar char="•"/>
            </a:pPr>
            <a:r>
              <a:rPr lang="en-US" sz="1700" b="1" i="1" dirty="0" err="1">
                <a:effectLst/>
              </a:rPr>
              <a:t>Оценивание</a:t>
            </a:r>
            <a:r>
              <a:rPr lang="en-US" sz="1700" dirty="0">
                <a:effectLst/>
              </a:rPr>
              <a:t> (Estimation) - </a:t>
            </a:r>
            <a:r>
              <a:rPr lang="en-US" sz="1700" dirty="0" err="1">
                <a:effectLst/>
              </a:rPr>
              <a:t>задача</a:t>
            </a:r>
            <a:r>
              <a:rPr lang="en-US" sz="1700" dirty="0">
                <a:effectLst/>
              </a:rPr>
              <a:t> </a:t>
            </a:r>
            <a:r>
              <a:rPr lang="en-US" sz="1700" i="1" dirty="0" err="1">
                <a:effectLst/>
              </a:rPr>
              <a:t>оценивания</a:t>
            </a:r>
            <a:r>
              <a:rPr lang="en-US" sz="1700" dirty="0">
                <a:effectLst/>
              </a:rPr>
              <a:t> </a:t>
            </a:r>
            <a:r>
              <a:rPr lang="en-US" sz="1700" dirty="0" err="1">
                <a:effectLst/>
              </a:rPr>
              <a:t>сводится</a:t>
            </a:r>
            <a:r>
              <a:rPr lang="en-US" sz="1700" dirty="0">
                <a:effectLst/>
              </a:rPr>
              <a:t> к </a:t>
            </a:r>
            <a:r>
              <a:rPr lang="en-US" sz="1700" dirty="0" err="1">
                <a:effectLst/>
              </a:rPr>
              <a:t>предсказанию</a:t>
            </a:r>
            <a:r>
              <a:rPr lang="en-US" sz="1700" dirty="0">
                <a:effectLst/>
              </a:rPr>
              <a:t> </a:t>
            </a:r>
            <a:r>
              <a:rPr lang="en-US" sz="1700" dirty="0" err="1">
                <a:effectLst/>
              </a:rPr>
              <a:t>непрерывных</a:t>
            </a:r>
            <a:r>
              <a:rPr lang="en-US" sz="1700" dirty="0">
                <a:effectLst/>
              </a:rPr>
              <a:t> </a:t>
            </a:r>
            <a:r>
              <a:rPr lang="en-US" sz="1700" dirty="0" err="1">
                <a:effectLst/>
              </a:rPr>
              <a:t>значений</a:t>
            </a:r>
            <a:r>
              <a:rPr lang="en-US" sz="1700" dirty="0">
                <a:effectLst/>
              </a:rPr>
              <a:t> </a:t>
            </a:r>
            <a:r>
              <a:rPr lang="en-US" sz="1700" dirty="0" err="1">
                <a:effectLst/>
              </a:rPr>
              <a:t>признака</a:t>
            </a:r>
            <a:r>
              <a:rPr lang="en-US" sz="1700" dirty="0">
                <a:effectLst/>
              </a:rPr>
              <a:t>. </a:t>
            </a:r>
          </a:p>
          <a:p>
            <a:pPr marL="0" marR="0" indent="-228600">
              <a:lnSpc>
                <a:spcPct val="90000"/>
              </a:lnSpc>
              <a:spcAft>
                <a:spcPts val="600"/>
              </a:spcAft>
              <a:buFont typeface="Arial" panose="020B0604020202020204" pitchFamily="34" charset="0"/>
              <a:buChar char="•"/>
            </a:pPr>
            <a:r>
              <a:rPr lang="en-US" sz="1700" b="1" i="1" dirty="0" err="1">
                <a:effectLst/>
              </a:rPr>
              <a:t>Анализ</a:t>
            </a:r>
            <a:r>
              <a:rPr lang="en-US" sz="1700" b="1" i="1" dirty="0">
                <a:effectLst/>
              </a:rPr>
              <a:t> </a:t>
            </a:r>
            <a:r>
              <a:rPr lang="en-US" sz="1700" b="1" i="1" dirty="0" err="1">
                <a:effectLst/>
              </a:rPr>
              <a:t>связей</a:t>
            </a:r>
            <a:r>
              <a:rPr lang="en-US" sz="1700" dirty="0">
                <a:effectLst/>
              </a:rPr>
              <a:t> (Link Analysis) - </a:t>
            </a:r>
            <a:r>
              <a:rPr lang="en-US" sz="1700" dirty="0" err="1">
                <a:effectLst/>
              </a:rPr>
              <a:t>задача</a:t>
            </a:r>
            <a:r>
              <a:rPr lang="en-US" sz="1700" dirty="0">
                <a:effectLst/>
              </a:rPr>
              <a:t> </a:t>
            </a:r>
            <a:r>
              <a:rPr lang="en-US" sz="1700" dirty="0" err="1">
                <a:effectLst/>
              </a:rPr>
              <a:t>нахождения</a:t>
            </a:r>
            <a:r>
              <a:rPr lang="en-US" sz="1700" dirty="0">
                <a:effectLst/>
              </a:rPr>
              <a:t> </a:t>
            </a:r>
            <a:r>
              <a:rPr lang="en-US" sz="1700" dirty="0" err="1">
                <a:effectLst/>
              </a:rPr>
              <a:t>зависимостей</a:t>
            </a:r>
            <a:r>
              <a:rPr lang="en-US" sz="1700" dirty="0">
                <a:effectLst/>
              </a:rPr>
              <a:t> в </a:t>
            </a:r>
            <a:r>
              <a:rPr lang="en-US" sz="1700" dirty="0" err="1">
                <a:effectLst/>
              </a:rPr>
              <a:t>наборе</a:t>
            </a:r>
            <a:r>
              <a:rPr lang="en-US" sz="1700" dirty="0">
                <a:effectLst/>
              </a:rPr>
              <a:t> </a:t>
            </a:r>
            <a:r>
              <a:rPr lang="en-US" sz="1700" dirty="0" err="1">
                <a:effectLst/>
              </a:rPr>
              <a:t>данных</a:t>
            </a:r>
            <a:r>
              <a:rPr lang="en-US" sz="1700" dirty="0">
                <a:effectLst/>
              </a:rPr>
              <a:t>.</a:t>
            </a:r>
          </a:p>
          <a:p>
            <a:pPr marL="0" marR="0" indent="-228600">
              <a:lnSpc>
                <a:spcPct val="90000"/>
              </a:lnSpc>
              <a:spcAft>
                <a:spcPts val="600"/>
              </a:spcAft>
              <a:buFont typeface="Arial" panose="020B0604020202020204" pitchFamily="34" charset="0"/>
              <a:buChar char="•"/>
            </a:pPr>
            <a:r>
              <a:rPr lang="en-US" sz="1700" b="1" i="1" dirty="0" err="1">
                <a:effectLst/>
              </a:rPr>
              <a:t>Визуализация</a:t>
            </a:r>
            <a:r>
              <a:rPr lang="en-US" sz="1700" dirty="0">
                <a:effectLst/>
              </a:rPr>
              <a:t> (Visualization, Graph Mining) - в </a:t>
            </a:r>
            <a:r>
              <a:rPr lang="en-US" sz="1700" dirty="0" err="1">
                <a:effectLst/>
              </a:rPr>
              <a:t>результате</a:t>
            </a:r>
            <a:r>
              <a:rPr lang="en-US" sz="1700" dirty="0">
                <a:effectLst/>
              </a:rPr>
              <a:t> </a:t>
            </a:r>
            <a:r>
              <a:rPr lang="en-US" sz="1700" i="1" dirty="0" err="1">
                <a:effectLst/>
              </a:rPr>
              <a:t>визуализации</a:t>
            </a:r>
            <a:r>
              <a:rPr lang="en-US" sz="1700" dirty="0">
                <a:effectLst/>
              </a:rPr>
              <a:t> </a:t>
            </a:r>
            <a:r>
              <a:rPr lang="en-US" sz="1700" dirty="0" err="1">
                <a:effectLst/>
              </a:rPr>
              <a:t>создается</a:t>
            </a:r>
            <a:r>
              <a:rPr lang="en-US" sz="1700" dirty="0">
                <a:effectLst/>
              </a:rPr>
              <a:t> </a:t>
            </a:r>
            <a:r>
              <a:rPr lang="en-US" sz="1700" dirty="0" err="1">
                <a:effectLst/>
              </a:rPr>
              <a:t>графический</a:t>
            </a:r>
            <a:r>
              <a:rPr lang="en-US" sz="1700" dirty="0">
                <a:effectLst/>
              </a:rPr>
              <a:t> </a:t>
            </a:r>
            <a:r>
              <a:rPr lang="en-US" sz="1700" dirty="0" err="1">
                <a:effectLst/>
              </a:rPr>
              <a:t>образ</a:t>
            </a:r>
            <a:r>
              <a:rPr lang="en-US" sz="1700" dirty="0">
                <a:effectLst/>
              </a:rPr>
              <a:t> </a:t>
            </a:r>
            <a:r>
              <a:rPr lang="en-US" sz="1700" dirty="0" err="1">
                <a:effectLst/>
              </a:rPr>
              <a:t>анализируемых</a:t>
            </a:r>
            <a:r>
              <a:rPr lang="en-US" sz="1700" dirty="0">
                <a:effectLst/>
              </a:rPr>
              <a:t> </a:t>
            </a:r>
            <a:r>
              <a:rPr lang="en-US" sz="1700" dirty="0" err="1">
                <a:effectLst/>
              </a:rPr>
              <a:t>данных</a:t>
            </a:r>
            <a:r>
              <a:rPr lang="en-US" sz="1700" dirty="0">
                <a:effectLst/>
              </a:rPr>
              <a:t>. </a:t>
            </a:r>
          </a:p>
          <a:p>
            <a:pPr marL="0" marR="0" indent="-228600">
              <a:lnSpc>
                <a:spcPct val="90000"/>
              </a:lnSpc>
              <a:spcAft>
                <a:spcPts val="600"/>
              </a:spcAft>
              <a:buFont typeface="Arial" panose="020B0604020202020204" pitchFamily="34" charset="0"/>
              <a:buChar char="•"/>
            </a:pPr>
            <a:r>
              <a:rPr lang="en-US" sz="1700" b="1" i="1" dirty="0" err="1"/>
              <a:t>Подведение</a:t>
            </a:r>
            <a:r>
              <a:rPr lang="en-US" sz="1700" b="1" i="1" dirty="0"/>
              <a:t> </a:t>
            </a:r>
            <a:r>
              <a:rPr lang="en-US" sz="1700" b="1" i="1" dirty="0" err="1"/>
              <a:t>итогов</a:t>
            </a:r>
            <a:r>
              <a:rPr lang="en-US" sz="1700" b="1" i="1" dirty="0"/>
              <a:t> </a:t>
            </a:r>
            <a:r>
              <a:rPr lang="en-US" sz="1700" dirty="0">
                <a:effectLst/>
              </a:rPr>
              <a:t>(</a:t>
            </a:r>
            <a:r>
              <a:rPr lang="en-US" sz="1700" dirty="0"/>
              <a:t>Summarization)</a:t>
            </a:r>
            <a:r>
              <a:rPr lang="en-US" sz="1700" dirty="0">
                <a:effectLst/>
              </a:rPr>
              <a:t> - </a:t>
            </a:r>
            <a:r>
              <a:rPr lang="en-US" sz="1700" dirty="0" err="1"/>
              <a:t>задача</a:t>
            </a:r>
            <a:r>
              <a:rPr lang="en-US" sz="1700" dirty="0"/>
              <a:t>, </a:t>
            </a:r>
            <a:r>
              <a:rPr lang="en-US" sz="1700" dirty="0" err="1"/>
              <a:t>цель</a:t>
            </a:r>
            <a:r>
              <a:rPr lang="en-US" sz="1700" dirty="0"/>
              <a:t> </a:t>
            </a:r>
            <a:r>
              <a:rPr lang="en-US" sz="1700" dirty="0" err="1"/>
              <a:t>которой</a:t>
            </a:r>
            <a:r>
              <a:rPr lang="en-US" sz="1700" dirty="0"/>
              <a:t> - </a:t>
            </a:r>
            <a:r>
              <a:rPr lang="en-US" sz="1700" dirty="0" err="1"/>
              <a:t>описание</a:t>
            </a:r>
            <a:r>
              <a:rPr lang="en-US" sz="1700" dirty="0"/>
              <a:t> </a:t>
            </a:r>
            <a:r>
              <a:rPr lang="en-US" sz="1700" dirty="0" err="1"/>
              <a:t>конкретных</a:t>
            </a:r>
            <a:r>
              <a:rPr lang="en-US" sz="1700" dirty="0"/>
              <a:t> </a:t>
            </a:r>
            <a:r>
              <a:rPr lang="en-US" sz="1700" dirty="0" err="1"/>
              <a:t>групп</a:t>
            </a:r>
            <a:r>
              <a:rPr lang="en-US" sz="1700" dirty="0"/>
              <a:t> </a:t>
            </a:r>
            <a:r>
              <a:rPr lang="en-US" sz="1700" dirty="0" err="1"/>
              <a:t>объектов</a:t>
            </a:r>
            <a:r>
              <a:rPr lang="en-US" sz="1700" dirty="0"/>
              <a:t> </a:t>
            </a:r>
            <a:r>
              <a:rPr lang="en-US" sz="1700" dirty="0" err="1"/>
              <a:t>из</a:t>
            </a:r>
            <a:r>
              <a:rPr lang="en-US" sz="1700" dirty="0"/>
              <a:t> </a:t>
            </a:r>
            <a:r>
              <a:rPr lang="en-US" sz="1700" dirty="0" err="1"/>
              <a:t>анализируемого</a:t>
            </a:r>
            <a:r>
              <a:rPr lang="en-US" sz="1700" dirty="0"/>
              <a:t> </a:t>
            </a:r>
            <a:r>
              <a:rPr lang="en-US" sz="1700" dirty="0" err="1"/>
              <a:t>набора</a:t>
            </a:r>
            <a:r>
              <a:rPr lang="en-US" sz="1700" dirty="0"/>
              <a:t> </a:t>
            </a:r>
            <a:r>
              <a:rPr lang="en-US" sz="1700" dirty="0" err="1"/>
              <a:t>данных</a:t>
            </a:r>
            <a:r>
              <a:rPr lang="en-US" sz="1700" dirty="0"/>
              <a:t>.</a:t>
            </a:r>
          </a:p>
        </p:txBody>
      </p:sp>
      <p:sp>
        <p:nvSpPr>
          <p:cNvPr id="222" name="Rectangle 221">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99675"/>
            <a:ext cx="4647368" cy="2779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with blue and pink lines&#10;&#10;Description automatically generated">
            <a:extLst>
              <a:ext uri="{FF2B5EF4-FFF2-40B4-BE49-F238E27FC236}">
                <a16:creationId xmlns:a16="http://schemas.microsoft.com/office/drawing/2014/main" id="{38F904E6-CC64-1D44-248A-F93820FF689F}"/>
              </a:ext>
            </a:extLst>
          </p:cNvPr>
          <p:cNvPicPr>
            <a:picLocks noChangeAspect="1"/>
          </p:cNvPicPr>
          <p:nvPr/>
        </p:nvPicPr>
        <p:blipFill rotWithShape="1">
          <a:blip r:embed="rId3"/>
          <a:srcRect l="4039" r="15889" b="-4"/>
          <a:stretch/>
        </p:blipFill>
        <p:spPr>
          <a:xfrm>
            <a:off x="8308141" y="596271"/>
            <a:ext cx="2461980" cy="2386584"/>
          </a:xfrm>
          <a:prstGeom prst="rect">
            <a:avLst/>
          </a:prstGeom>
        </p:spPr>
      </p:pic>
      <p:sp>
        <p:nvSpPr>
          <p:cNvPr id="224" name="Rectangle 2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0BB19363-8354-4E75-A15C-A08F75517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429000"/>
            <a:ext cx="4647368" cy="2779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88132E93-6007-592A-7393-45B4CDB256CE}"/>
              </a:ext>
            </a:extLst>
          </p:cNvPr>
          <p:cNvPicPr>
            <a:picLocks noChangeAspect="1"/>
          </p:cNvPicPr>
          <p:nvPr/>
        </p:nvPicPr>
        <p:blipFill>
          <a:blip r:embed="rId4"/>
          <a:stretch>
            <a:fillRect/>
          </a:stretch>
        </p:blipFill>
        <p:spPr>
          <a:xfrm>
            <a:off x="7790719" y="3625596"/>
            <a:ext cx="3496826" cy="2386584"/>
          </a:xfrm>
          <a:prstGeom prst="rect">
            <a:avLst/>
          </a:prstGeom>
        </p:spPr>
      </p:pic>
      <p:sp>
        <p:nvSpPr>
          <p:cNvPr id="228" name="Rectangle 227">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7546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2655</Words>
  <Application>Microsoft Office PowerPoint</Application>
  <PresentationFormat>Widescreen</PresentationFormat>
  <Paragraphs>135</Paragraphs>
  <Slides>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Calibri</vt:lpstr>
      <vt:lpstr>Calibri Light</vt:lpstr>
      <vt:lpstr>din-next-w01-light</vt:lpstr>
      <vt:lpstr>Open Sans</vt:lpstr>
      <vt:lpstr>Symbol</vt:lpstr>
      <vt:lpstr>times new roman</vt:lpstr>
      <vt:lpstr>times new roman</vt:lpstr>
      <vt:lpstr>Verdana</vt:lpstr>
      <vt:lpstr>Office Theme</vt:lpstr>
      <vt:lpstr>Интеллектуальный анализ данных  Data Mining</vt:lpstr>
      <vt:lpstr>Задачи Data Mining</vt:lpstr>
      <vt:lpstr>Классификация (Classification)</vt:lpstr>
      <vt:lpstr>Кластеризация (Clustering)</vt:lpstr>
      <vt:lpstr>Ассоциация (Associations)</vt:lpstr>
      <vt:lpstr>Последовательность (Sequence)</vt:lpstr>
      <vt:lpstr>Прогнозирование (Forecasting)</vt:lpstr>
      <vt:lpstr>Определение отклонений или выбросов (Deviation Detection)</vt:lpstr>
      <vt:lpstr>Другие задачи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Petrushina Tatiana</dc:creator>
  <cp:lastModifiedBy>Татьяна И. Петрушина</cp:lastModifiedBy>
  <cp:revision>35</cp:revision>
  <dcterms:created xsi:type="dcterms:W3CDTF">2024-02-25T14:48:52Z</dcterms:created>
  <dcterms:modified xsi:type="dcterms:W3CDTF">2025-01-14T20:28:36Z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