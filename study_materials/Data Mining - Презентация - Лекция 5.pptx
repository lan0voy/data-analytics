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67" r:id="rId4"/>
  </p:sldMasterIdLst>
  <p:notesMasterIdLst>
    <p:notesMasterId r:id="rId24"/>
  </p:notesMasterIdLst>
  <p:sldIdLst>
    <p:sldId id="280" r:id="rId5"/>
    <p:sldId id="305" r:id="rId6"/>
    <p:sldId id="307" r:id="rId7"/>
    <p:sldId id="318" r:id="rId8"/>
    <p:sldId id="319" r:id="rId9"/>
    <p:sldId id="320" r:id="rId10"/>
    <p:sldId id="310" r:id="rId11"/>
    <p:sldId id="314" r:id="rId12"/>
    <p:sldId id="312" r:id="rId13"/>
    <p:sldId id="316" r:id="rId14"/>
    <p:sldId id="321" r:id="rId15"/>
    <p:sldId id="322" r:id="rId16"/>
    <p:sldId id="323" r:id="rId17"/>
    <p:sldId id="324" r:id="rId18"/>
    <p:sldId id="325" r:id="rId19"/>
    <p:sldId id="326" r:id="rId20"/>
    <p:sldId id="327" r:id="rId21"/>
    <p:sldId id="328" r:id="rId22"/>
    <p:sldId id="329" r:id="rId23"/>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83729" autoAdjust="0"/>
  </p:normalViewPr>
  <p:slideViewPr>
    <p:cSldViewPr snapToGrid="0">
      <p:cViewPr varScale="1">
        <p:scale>
          <a:sx n="53" d="100"/>
          <a:sy n="53" d="100"/>
        </p:scale>
        <p:origin x="1152" y="36"/>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5A59E2-B5A9-478D-86D1-BE11948EA825}" type="datetimeFigureOut">
              <a:rPr lang="LID4096" smtClean="0"/>
              <a:t>04/23/2025</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615917-8825-4C11-9D2C-C82340C4B4E7}" type="slidenum">
              <a:rPr lang="LID4096" smtClean="0"/>
              <a:t>‹#›</a:t>
            </a:fld>
            <a:endParaRPr lang="LID4096"/>
          </a:p>
        </p:txBody>
      </p:sp>
    </p:spTree>
    <p:extLst>
      <p:ext uri="{BB962C8B-B14F-4D97-AF65-F5344CB8AC3E}">
        <p14:creationId xmlns:p14="http://schemas.microsoft.com/office/powerpoint/2010/main" val="1947684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a:p>
        </p:txBody>
      </p:sp>
      <p:sp>
        <p:nvSpPr>
          <p:cNvPr id="4" name="Slide Number Placeholder 3"/>
          <p:cNvSpPr>
            <a:spLocks noGrp="1"/>
          </p:cNvSpPr>
          <p:nvPr>
            <p:ph type="sldNum" sz="quarter" idx="5"/>
          </p:nvPr>
        </p:nvSpPr>
        <p:spPr/>
        <p:txBody>
          <a:bodyPr/>
          <a:lstStyle/>
          <a:p>
            <a:fld id="{3B615917-8825-4C11-9D2C-C82340C4B4E7}" type="slidenum">
              <a:rPr lang="LID4096" smtClean="0"/>
              <a:t>2</a:t>
            </a:fld>
            <a:endParaRPr lang="LID4096"/>
          </a:p>
        </p:txBody>
      </p:sp>
    </p:spTree>
    <p:extLst>
      <p:ext uri="{BB962C8B-B14F-4D97-AF65-F5344CB8AC3E}">
        <p14:creationId xmlns:p14="http://schemas.microsoft.com/office/powerpoint/2010/main" val="32281478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Задача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кластеризации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сходна с задачей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классификации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является ее логическим продолжением, но ее отличие в том, что классы изучаемого набора данных заранее не предопределены.</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Синонимами термина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кластеризация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являются "автоматическая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классификация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"обучение без учителя" и "таксономия". </a:t>
            </a:r>
          </a:p>
          <a:p>
            <a:pPr marL="0" marR="0"/>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Кластеризация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предназначена для разбиения совокупности объектов на однородные группы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кластеры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или классы). Если данные выборки представить как точки в признаковом пространстве, то задача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кластеризации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сводится к определению "сгущений точек".</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Цель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кластеризации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 поиск существующих структур.</a:t>
            </a:r>
          </a:p>
          <a:p>
            <a:pPr marL="0" marR="0"/>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Кластеризация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является описательной процедурой, она не делает никаких статистических выводов, но дает возможность провести разведочный анализ и изучить "структуру данных". </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Само понятие "</a:t>
            </a:r>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кластер</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определено неоднозначно: в каждом исследовании свои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кластеры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Переводится понятие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кластер</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cluster</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как "скопление", "гроздь".</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Кластер можно охарактеризовать как группу объектов, имеющих общие свойства.</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Характеристиками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кластера</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можно назвать два признака: </a:t>
            </a:r>
          </a:p>
          <a:p>
            <a:pPr marL="342900" marR="0" lvl="0" indent="-342900">
              <a:spcBef>
                <a:spcPts val="0"/>
              </a:spcBef>
              <a:spcAft>
                <a:spcPts val="0"/>
              </a:spcAft>
              <a:buSzPts val="1000"/>
              <a:buFont typeface="Symbol" panose="05050102010706020507" pitchFamily="18" charset="2"/>
              <a:buChar char=""/>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внутренняя однородность; </a:t>
            </a:r>
            <a:endParaRPr lang="ru-RU"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внешняя изолированность.</a:t>
            </a:r>
            <a:endParaRPr lang="ru-RU" sz="1800" dirty="0">
              <a:solidFill>
                <a:srgbClr val="000000"/>
              </a:solidFill>
              <a:effectLst/>
              <a:latin typeface="Times New Roman" panose="02020603050405020304" pitchFamily="18" charset="0"/>
              <a:ea typeface="Times New Roman" panose="02020603050405020304" pitchFamily="18" charset="0"/>
            </a:endParaRP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Вопрос, задаваемый аналитиками при решении многих задач, состоит в том, как организовать данные в наглядные структуры, т.е. развернуть таксономии. </a:t>
            </a:r>
          </a:p>
          <a:p>
            <a:r>
              <a:rPr lang="ru-RU" sz="1800" dirty="0">
                <a:effectLst/>
                <a:latin typeface="Times New Roman" panose="02020603050405020304" pitchFamily="18" charset="0"/>
                <a:ea typeface="Times New Roman" panose="02020603050405020304" pitchFamily="18" charset="0"/>
              </a:rPr>
              <a:t>Наибольшее применение </a:t>
            </a:r>
            <a:r>
              <a:rPr lang="ru-RU" sz="1800" i="1" dirty="0">
                <a:effectLst/>
                <a:latin typeface="Times New Roman" panose="02020603050405020304" pitchFamily="18" charset="0"/>
                <a:ea typeface="Times New Roman" panose="02020603050405020304" pitchFamily="18" charset="0"/>
              </a:rPr>
              <a:t>кластеризация</a:t>
            </a:r>
            <a:r>
              <a:rPr lang="ru-RU" sz="1800" dirty="0">
                <a:effectLst/>
                <a:latin typeface="Times New Roman" panose="02020603050405020304" pitchFamily="18" charset="0"/>
                <a:ea typeface="Times New Roman" panose="02020603050405020304" pitchFamily="18" charset="0"/>
              </a:rPr>
              <a:t> первоначально получила в таких науках как биология, антропология, психология. Для решения экономических задач </a:t>
            </a:r>
            <a:r>
              <a:rPr lang="ru-RU" sz="1800" i="1" dirty="0">
                <a:effectLst/>
                <a:latin typeface="Times New Roman" panose="02020603050405020304" pitchFamily="18" charset="0"/>
                <a:ea typeface="Times New Roman" panose="02020603050405020304" pitchFamily="18" charset="0"/>
              </a:rPr>
              <a:t>кластеризация</a:t>
            </a:r>
            <a:r>
              <a:rPr lang="ru-RU" sz="1800" dirty="0">
                <a:effectLst/>
                <a:latin typeface="Times New Roman" panose="02020603050405020304" pitchFamily="18" charset="0"/>
                <a:ea typeface="Times New Roman" panose="02020603050405020304" pitchFamily="18" charset="0"/>
              </a:rPr>
              <a:t> длительное время мало использовалась из-за специфики экономических данных и явлений.</a:t>
            </a:r>
            <a:endParaRPr lang="LID4096" dirty="0"/>
          </a:p>
        </p:txBody>
      </p:sp>
      <p:sp>
        <p:nvSpPr>
          <p:cNvPr id="4" name="Slide Number Placeholder 3"/>
          <p:cNvSpPr>
            <a:spLocks noGrp="1"/>
          </p:cNvSpPr>
          <p:nvPr>
            <p:ph type="sldNum" sz="quarter" idx="5"/>
          </p:nvPr>
        </p:nvSpPr>
        <p:spPr/>
        <p:txBody>
          <a:bodyPr/>
          <a:lstStyle/>
          <a:p>
            <a:fld id="{3B615917-8825-4C11-9D2C-C82340C4B4E7}" type="slidenum">
              <a:rPr lang="LID4096" smtClean="0"/>
              <a:t>3</a:t>
            </a:fld>
            <a:endParaRPr lang="LID4096"/>
          </a:p>
        </p:txBody>
      </p:sp>
    </p:spTree>
    <p:extLst>
      <p:ext uri="{BB962C8B-B14F-4D97-AF65-F5344CB8AC3E}">
        <p14:creationId xmlns:p14="http://schemas.microsoft.com/office/powerpoint/2010/main" val="26401754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3B615917-8825-4C11-9D2C-C82340C4B4E7}" type="slidenum">
              <a:rPr lang="LID4096" smtClean="0"/>
              <a:t>4</a:t>
            </a:fld>
            <a:endParaRPr lang="LID4096"/>
          </a:p>
        </p:txBody>
      </p:sp>
    </p:spTree>
    <p:extLst>
      <p:ext uri="{BB962C8B-B14F-4D97-AF65-F5344CB8AC3E}">
        <p14:creationId xmlns:p14="http://schemas.microsoft.com/office/powerpoint/2010/main" val="3274429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3B615917-8825-4C11-9D2C-C82340C4B4E7}" type="slidenum">
              <a:rPr lang="LID4096" smtClean="0"/>
              <a:t>5</a:t>
            </a:fld>
            <a:endParaRPr lang="LID4096"/>
          </a:p>
        </p:txBody>
      </p:sp>
    </p:spTree>
    <p:extLst>
      <p:ext uri="{BB962C8B-B14F-4D97-AF65-F5344CB8AC3E}">
        <p14:creationId xmlns:p14="http://schemas.microsoft.com/office/powerpoint/2010/main" val="31750496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Различные методы могут стремиться создавать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кластеры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определенных размеров (например, малых или крупных) либо предполагать в наборе данных наличие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кластеров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различного размера.</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Некоторые методы кластерного анализа особенно чувствительны к шумам или выбросам, другие - менее.</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 результате применения различных методов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кластеризации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могут быть получены неодинаковые результаты, это нормально и является особенностью работы того или иного алгоритма.</a:t>
            </a:r>
          </a:p>
          <a:p>
            <a:endParaRPr lang="LID4096" dirty="0"/>
          </a:p>
        </p:txBody>
      </p:sp>
      <p:sp>
        <p:nvSpPr>
          <p:cNvPr id="4" name="Slide Number Placeholder 3"/>
          <p:cNvSpPr>
            <a:spLocks noGrp="1"/>
          </p:cNvSpPr>
          <p:nvPr>
            <p:ph type="sldNum" sz="quarter" idx="5"/>
          </p:nvPr>
        </p:nvSpPr>
        <p:spPr/>
        <p:txBody>
          <a:bodyPr/>
          <a:lstStyle/>
          <a:p>
            <a:fld id="{3B615917-8825-4C11-9D2C-C82340C4B4E7}" type="slidenum">
              <a:rPr lang="LID4096" smtClean="0"/>
              <a:t>6</a:t>
            </a:fld>
            <a:endParaRPr lang="LID4096"/>
          </a:p>
        </p:txBody>
      </p:sp>
    </p:spTree>
    <p:extLst>
      <p:ext uri="{BB962C8B-B14F-4D97-AF65-F5344CB8AC3E}">
        <p14:creationId xmlns:p14="http://schemas.microsoft.com/office/powerpoint/2010/main" val="1348555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E936B-24C8-D5FE-EB50-2E4AF5914B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440CD3-260E-43DA-86BA-8AC19ED118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56E9A4-F0D9-8D4D-2319-937EAFA02622}"/>
              </a:ext>
            </a:extLst>
          </p:cNvPr>
          <p:cNvSpPr>
            <a:spLocks noGrp="1"/>
          </p:cNvSpPr>
          <p:nvPr>
            <p:ph type="body" idx="1"/>
          </p:nvPr>
        </p:nvSpPr>
        <p:spPr/>
        <p:txBody>
          <a:bodyPr/>
          <a:lstStyle/>
          <a:p>
            <a:pPr marL="0" marR="0"/>
            <a:endParaRPr lang="LID4096" dirty="0"/>
          </a:p>
        </p:txBody>
      </p:sp>
      <p:sp>
        <p:nvSpPr>
          <p:cNvPr id="4" name="Slide Number Placeholder 3">
            <a:extLst>
              <a:ext uri="{FF2B5EF4-FFF2-40B4-BE49-F238E27FC236}">
                <a16:creationId xmlns:a16="http://schemas.microsoft.com/office/drawing/2014/main" id="{ECC37917-CF72-3111-AB21-E23D063B9E40}"/>
              </a:ext>
            </a:extLst>
          </p:cNvPr>
          <p:cNvSpPr>
            <a:spLocks noGrp="1"/>
          </p:cNvSpPr>
          <p:nvPr>
            <p:ph type="sldNum" sz="quarter" idx="5"/>
          </p:nvPr>
        </p:nvSpPr>
        <p:spPr/>
        <p:txBody>
          <a:bodyPr/>
          <a:lstStyle/>
          <a:p>
            <a:fld id="{3B615917-8825-4C11-9D2C-C82340C4B4E7}" type="slidenum">
              <a:rPr lang="LID4096" smtClean="0"/>
              <a:t>7</a:t>
            </a:fld>
            <a:endParaRPr lang="LID4096"/>
          </a:p>
        </p:txBody>
      </p:sp>
    </p:spTree>
    <p:extLst>
      <p:ext uri="{BB962C8B-B14F-4D97-AF65-F5344CB8AC3E}">
        <p14:creationId xmlns:p14="http://schemas.microsoft.com/office/powerpoint/2010/main" val="1896236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3B615917-8825-4C11-9D2C-C82340C4B4E7}" type="slidenum">
              <a:rPr lang="LID4096" smtClean="0"/>
              <a:t>9</a:t>
            </a:fld>
            <a:endParaRPr lang="LID4096"/>
          </a:p>
        </p:txBody>
      </p:sp>
    </p:spTree>
    <p:extLst>
      <p:ext uri="{BB962C8B-B14F-4D97-AF65-F5344CB8AC3E}">
        <p14:creationId xmlns:p14="http://schemas.microsoft.com/office/powerpoint/2010/main" val="16438456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3B615917-8825-4C11-9D2C-C82340C4B4E7}" type="slidenum">
              <a:rPr lang="LID4096" smtClean="0"/>
              <a:t>10</a:t>
            </a:fld>
            <a:endParaRPr lang="LID4096"/>
          </a:p>
        </p:txBody>
      </p:sp>
    </p:spTree>
    <p:extLst>
      <p:ext uri="{BB962C8B-B14F-4D97-AF65-F5344CB8AC3E}">
        <p14:creationId xmlns:p14="http://schemas.microsoft.com/office/powerpoint/2010/main" val="28146064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Задача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пожалуй, может считаться одной из наиболее сложных задач Data Mining, она требует тщательного исследования исходного набора данных и методов, подходящих для анализа.</a:t>
            </a:r>
          </a:p>
          <a:p>
            <a:pPr marL="0" marR="0"/>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Прогнозирование</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(от греческого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Prognosis</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в широком понимании этого слова, определяется как опережающее отражение будущего. Целью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является предсказание будущих событий. </a:t>
            </a:r>
          </a:p>
          <a:p>
            <a:pPr marL="0" marR="0"/>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Прогнозирование</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forecasting</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является одной из задач Data Mining и одновременно одним из ключевых моментов при принятии решений. </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Прогностика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prognostics</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 теория и практика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p>
          <a:p>
            <a:pPr marL="0" marR="0"/>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Прогнозирование</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направлено на определение тенденций динамики конкретного объекта или события на основе ретроспективных данных, т.е. анализа его состояния в прошлом и настоящем. Таким образом, решение задачи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требует некоторой обучающей выборки данных.</a:t>
            </a:r>
          </a:p>
          <a:p>
            <a:pPr marL="0" marR="0"/>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Прогнозирование</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 установление функциональной зависимости между зависимыми и независимыми переменными. </a:t>
            </a:r>
          </a:p>
          <a:p>
            <a:pPr marL="0" marR="0"/>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Прогнозирование</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является распространенной и востребованной задачей во многих областях человеческой деятельности. В результате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уменьшается риск принятия неверных, необоснованных или субъективных решений. </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Примеры его задач: прогноз движения денежных средств,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прогнозирование</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урожайности агрокультуры,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прогнозирование</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финансовой устойчивости предприятия.</a:t>
            </a:r>
          </a:p>
          <a:p>
            <a:r>
              <a:rPr lang="ru-RU" sz="1800" dirty="0">
                <a:effectLst/>
                <a:latin typeface="Times New Roman" panose="02020603050405020304" pitchFamily="18" charset="0"/>
                <a:ea typeface="Times New Roman" panose="02020603050405020304" pitchFamily="18" charset="0"/>
              </a:rPr>
              <a:t>Типичной в сфере маркетинга является задача </a:t>
            </a:r>
            <a:r>
              <a:rPr lang="ru-RU" sz="1800" i="1" dirty="0">
                <a:effectLst/>
                <a:latin typeface="Times New Roman" panose="02020603050405020304" pitchFamily="18" charset="0"/>
                <a:ea typeface="Times New Roman" panose="02020603050405020304" pitchFamily="18" charset="0"/>
              </a:rPr>
              <a:t>прогнозирования</a:t>
            </a:r>
            <a:r>
              <a:rPr lang="ru-RU" sz="1800" dirty="0">
                <a:effectLst/>
                <a:latin typeface="Times New Roman" panose="02020603050405020304" pitchFamily="18" charset="0"/>
                <a:ea typeface="Times New Roman" panose="02020603050405020304" pitchFamily="18" charset="0"/>
              </a:rPr>
              <a:t> рынков (</a:t>
            </a:r>
            <a:r>
              <a:rPr lang="ru-RU" sz="1800" dirty="0" err="1">
                <a:effectLst/>
                <a:latin typeface="Times New Roman" panose="02020603050405020304" pitchFamily="18" charset="0"/>
                <a:ea typeface="Times New Roman" panose="02020603050405020304" pitchFamily="18" charset="0"/>
              </a:rPr>
              <a:t>market</a:t>
            </a:r>
            <a:r>
              <a:rPr lang="ru-RU" sz="1800" dirty="0">
                <a:effectLst/>
                <a:latin typeface="Times New Roman" panose="02020603050405020304" pitchFamily="18" charset="0"/>
                <a:ea typeface="Times New Roman" panose="02020603050405020304" pitchFamily="18" charset="0"/>
              </a:rPr>
              <a:t> </a:t>
            </a:r>
            <a:r>
              <a:rPr lang="ru-RU" sz="1800" dirty="0" err="1">
                <a:effectLst/>
                <a:latin typeface="Times New Roman" panose="02020603050405020304" pitchFamily="18" charset="0"/>
                <a:ea typeface="Times New Roman" panose="02020603050405020304" pitchFamily="18" charset="0"/>
              </a:rPr>
              <a:t>forecasting</a:t>
            </a:r>
            <a:r>
              <a:rPr lang="ru-RU" sz="1800" dirty="0">
                <a:effectLst/>
                <a:latin typeface="Times New Roman" panose="02020603050405020304" pitchFamily="18" charset="0"/>
                <a:ea typeface="Times New Roman" panose="02020603050405020304" pitchFamily="18" charset="0"/>
              </a:rPr>
              <a:t>). В результате решения данной задачи оцениваются перспективы развития конъюнктуры определенного рынка, изменения рыночных условий на будущие периоды, определяются тенденции рынка (структурные изменения, потребности покупателей, изменения цен).</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 самых общих чертах решение задачи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сводится к решению таких подзадач: </a:t>
            </a:r>
          </a:p>
          <a:p>
            <a:pPr marL="342900" marR="0" lvl="0" indent="-342900">
              <a:spcBef>
                <a:spcPts val="0"/>
              </a:spcBef>
              <a:spcAft>
                <a:spcPts val="0"/>
              </a:spcAft>
              <a:buSzPts val="1000"/>
              <a:buFont typeface="Symbol" panose="05050102010706020507" pitchFamily="18" charset="2"/>
              <a:buChar char=""/>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выбор модели </a:t>
            </a:r>
            <a:r>
              <a:rPr lang="ru-RU" sz="1800" i="1" dirty="0">
                <a:solidFill>
                  <a:srgbClr val="000000"/>
                </a:solidFill>
                <a:effectLst/>
                <a:latin typeface="Verdana" panose="020B0604030504040204" pitchFamily="34" charset="0"/>
                <a:ea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rPr>
              <a:t>; </a:t>
            </a:r>
          </a:p>
          <a:p>
            <a:pPr marL="342900" marR="0" lvl="0" indent="-342900">
              <a:spcBef>
                <a:spcPts val="0"/>
              </a:spcBef>
              <a:spcAft>
                <a:spcPts val="0"/>
              </a:spcAft>
              <a:buSzPts val="1000"/>
              <a:buFont typeface="Symbol" panose="05050102010706020507" pitchFamily="18" charset="2"/>
              <a:buChar char=""/>
              <a:tabLst>
                <a:tab pos="457200" algn="l"/>
              </a:tabLst>
            </a:pP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анализ адекватности и точности построенного прогноза.</a:t>
            </a:r>
            <a:endParaRPr lang="LID4096" dirty="0"/>
          </a:p>
        </p:txBody>
      </p:sp>
      <p:sp>
        <p:nvSpPr>
          <p:cNvPr id="4" name="Slide Number Placeholder 3"/>
          <p:cNvSpPr>
            <a:spLocks noGrp="1"/>
          </p:cNvSpPr>
          <p:nvPr>
            <p:ph type="sldNum" sz="quarter" idx="5"/>
          </p:nvPr>
        </p:nvSpPr>
        <p:spPr/>
        <p:txBody>
          <a:bodyPr/>
          <a:lstStyle/>
          <a:p>
            <a:fld id="{3B615917-8825-4C11-9D2C-C82340C4B4E7}" type="slidenum">
              <a:rPr lang="LID4096" smtClean="0"/>
              <a:t>11</a:t>
            </a:fld>
            <a:endParaRPr lang="LID4096"/>
          </a:p>
        </p:txBody>
      </p:sp>
    </p:spTree>
    <p:extLst>
      <p:ext uri="{BB962C8B-B14F-4D97-AF65-F5344CB8AC3E}">
        <p14:creationId xmlns:p14="http://schemas.microsoft.com/office/powerpoint/2010/main" val="36050205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ru-RU" sz="1800" dirty="0">
                <a:effectLst/>
                <a:latin typeface="Times New Roman" panose="02020603050405020304" pitchFamily="18" charset="0"/>
                <a:ea typeface="Times New Roman" panose="02020603050405020304" pitchFamily="18" charset="0"/>
              </a:rPr>
              <a:t>В задаче о туристическом агентстве, рассмотренном в предыдущей лекции, мы можем сказать, что определения </a:t>
            </a:r>
            <a:r>
              <a:rPr lang="ru-RU" sz="1800" i="1" dirty="0">
                <a:effectLst/>
                <a:latin typeface="Times New Roman" panose="02020603050405020304" pitchFamily="18" charset="0"/>
                <a:ea typeface="Times New Roman" panose="02020603050405020304" pitchFamily="18" charset="0"/>
              </a:rPr>
              <a:t>класса клиента </a:t>
            </a:r>
            <a:r>
              <a:rPr lang="ru-RU" sz="1800" dirty="0">
                <a:effectLst/>
                <a:latin typeface="Times New Roman" panose="02020603050405020304" pitchFamily="18" charset="0"/>
                <a:ea typeface="Times New Roman" panose="02020603050405020304" pitchFamily="18" charset="0"/>
              </a:rPr>
              <a:t>является решением задачи классификации, а </a:t>
            </a:r>
            <a:r>
              <a:rPr lang="ru-RU" sz="1800" i="1" dirty="0">
                <a:effectLst/>
                <a:latin typeface="Times New Roman" panose="02020603050405020304" pitchFamily="18" charset="0"/>
                <a:ea typeface="Times New Roman" panose="02020603050405020304" pitchFamily="18" charset="0"/>
              </a:rPr>
              <a:t>прогнозирование</a:t>
            </a:r>
            <a:r>
              <a:rPr lang="ru-RU" sz="1800" dirty="0">
                <a:effectLst/>
                <a:latin typeface="Times New Roman" panose="02020603050405020304" pitchFamily="18" charset="0"/>
                <a:ea typeface="Times New Roman" panose="02020603050405020304" pitchFamily="18" charset="0"/>
              </a:rPr>
              <a:t> дохода, который принесет этот клиент в будущем году, будет решением задачи </a:t>
            </a:r>
            <a:r>
              <a:rPr lang="ru-RU" sz="1800" i="1" dirty="0">
                <a:effectLst/>
                <a:latin typeface="Times New Roman" panose="02020603050405020304" pitchFamily="18" charset="0"/>
                <a:ea typeface="Times New Roman" panose="02020603050405020304" pitchFamily="18" charset="0"/>
              </a:rPr>
              <a:t>прогнозирования</a:t>
            </a:r>
            <a:r>
              <a:rPr lang="ru-RU" sz="1800" dirty="0">
                <a:effectLst/>
                <a:latin typeface="Times New Roman" panose="02020603050405020304" pitchFamily="18" charset="0"/>
                <a:ea typeface="Times New Roman" panose="02020603050405020304" pitchFamily="18" charset="0"/>
              </a:rPr>
              <a:t>.</a:t>
            </a:r>
            <a:endParaRPr lang="LID4096" dirty="0"/>
          </a:p>
        </p:txBody>
      </p:sp>
      <p:sp>
        <p:nvSpPr>
          <p:cNvPr id="4" name="Slide Number Placeholder 3"/>
          <p:cNvSpPr>
            <a:spLocks noGrp="1"/>
          </p:cNvSpPr>
          <p:nvPr>
            <p:ph type="sldNum" sz="quarter" idx="5"/>
          </p:nvPr>
        </p:nvSpPr>
        <p:spPr/>
        <p:txBody>
          <a:bodyPr/>
          <a:lstStyle/>
          <a:p>
            <a:fld id="{3B615917-8825-4C11-9D2C-C82340C4B4E7}" type="slidenum">
              <a:rPr lang="LID4096" smtClean="0"/>
              <a:t>12</a:t>
            </a:fld>
            <a:endParaRPr lang="LID4096"/>
          </a:p>
        </p:txBody>
      </p:sp>
    </p:spTree>
    <p:extLst>
      <p:ext uri="{BB962C8B-B14F-4D97-AF65-F5344CB8AC3E}">
        <p14:creationId xmlns:p14="http://schemas.microsoft.com/office/powerpoint/2010/main" val="18343293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Приведем два принципиальных отличия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временного ряда</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от простой последовательности наблюдений:</a:t>
            </a:r>
          </a:p>
          <a:p>
            <a:pPr marL="342900" marR="0" lvl="0" indent="-342900">
              <a:spcBef>
                <a:spcPts val="0"/>
              </a:spcBef>
              <a:spcAft>
                <a:spcPts val="0"/>
              </a:spcAft>
              <a:buSzPts val="1000"/>
              <a:buFont typeface="Symbol" panose="05050102010706020507" pitchFamily="18" charset="2"/>
              <a:buChar char=""/>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Члены </a:t>
            </a:r>
            <a:r>
              <a:rPr lang="ru-RU" sz="1800" i="1" dirty="0">
                <a:solidFill>
                  <a:srgbClr val="000000"/>
                </a:solidFill>
                <a:effectLst/>
                <a:latin typeface="Verdana" panose="020B0604030504040204" pitchFamily="34" charset="0"/>
                <a:ea typeface="Times New Roman" panose="02020603050405020304" pitchFamily="18" charset="0"/>
              </a:rPr>
              <a:t>временного ряда</a:t>
            </a:r>
            <a:r>
              <a:rPr lang="ru-RU" sz="1800" dirty="0">
                <a:solidFill>
                  <a:srgbClr val="000000"/>
                </a:solidFill>
                <a:effectLst/>
                <a:latin typeface="Verdana" panose="020B0604030504040204" pitchFamily="34" charset="0"/>
                <a:ea typeface="Times New Roman" panose="02020603050405020304" pitchFamily="18" charset="0"/>
              </a:rPr>
              <a:t>, в отличие от элементов случайной выборки, не являются статистически независимыми. </a:t>
            </a:r>
            <a:endParaRPr lang="ru-RU"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Члены </a:t>
            </a:r>
            <a:r>
              <a:rPr lang="ru-RU" sz="1800" i="1" dirty="0">
                <a:solidFill>
                  <a:srgbClr val="000000"/>
                </a:solidFill>
                <a:effectLst/>
                <a:latin typeface="Verdana" panose="020B0604030504040204" pitchFamily="34" charset="0"/>
                <a:ea typeface="Times New Roman" panose="02020603050405020304" pitchFamily="18" charset="0"/>
              </a:rPr>
              <a:t>временного ряда</a:t>
            </a:r>
            <a:r>
              <a:rPr lang="ru-RU" sz="1800" dirty="0">
                <a:solidFill>
                  <a:srgbClr val="000000"/>
                </a:solidFill>
                <a:effectLst/>
                <a:latin typeface="Verdana" panose="020B0604030504040204" pitchFamily="34" charset="0"/>
                <a:ea typeface="Times New Roman" panose="02020603050405020304" pitchFamily="18" charset="0"/>
              </a:rPr>
              <a:t> не являются одинаково распределенными.</a:t>
            </a:r>
            <a:endParaRPr lang="ru-RU" sz="1800" dirty="0">
              <a:solidFill>
                <a:srgbClr val="000000"/>
              </a:solidFill>
              <a:effectLst/>
              <a:latin typeface="Times New Roman" panose="02020603050405020304" pitchFamily="18" charset="0"/>
              <a:ea typeface="Times New Roman" panose="02020603050405020304" pitchFamily="18" charset="0"/>
            </a:endParaRP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Временной ряд - последовательность наблюдаемых значений какого-либо признака, упорядоченных в неслучайные моменты времени.</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Отличием анализа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временных рядов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от анализа случайных выборок является предположение о равных промежутках времени между наблюдениями и их хронологический порядок. Привязка наблюдений ко времени играет здесь ключевую роль, тогда как при анализе случайной выборки она не имеет никакого значения.</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Типичный пример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временного ряда</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 данные биржевых торгов.</a:t>
            </a:r>
          </a:p>
          <a:p>
            <a:r>
              <a:rPr lang="ru-RU" sz="1800" dirty="0">
                <a:effectLst/>
                <a:latin typeface="Times New Roman" panose="02020603050405020304" pitchFamily="18" charset="0"/>
                <a:ea typeface="Times New Roman" panose="02020603050405020304" pitchFamily="18" charset="0"/>
              </a:rPr>
              <a:t>Информация, накопленная в разнообразных базах данных предприятия, является </a:t>
            </a:r>
            <a:r>
              <a:rPr lang="ru-RU" sz="1800" i="1" dirty="0">
                <a:effectLst/>
                <a:latin typeface="Times New Roman" panose="02020603050405020304" pitchFamily="18" charset="0"/>
                <a:ea typeface="Times New Roman" panose="02020603050405020304" pitchFamily="18" charset="0"/>
              </a:rPr>
              <a:t>временными рядами</a:t>
            </a:r>
            <a:r>
              <a:rPr lang="ru-RU" sz="1800" dirty="0">
                <a:effectLst/>
                <a:latin typeface="Times New Roman" panose="02020603050405020304" pitchFamily="18" charset="0"/>
                <a:ea typeface="Times New Roman" panose="02020603050405020304" pitchFamily="18" charset="0"/>
              </a:rPr>
              <a:t>, если она расположена в хронологическом порядке и произведена в последовательные моменты времени.</a:t>
            </a:r>
          </a:p>
          <a:p>
            <a:r>
              <a:rPr lang="ru-RU" sz="1800" dirty="0">
                <a:effectLst/>
                <a:latin typeface="Times New Roman" panose="02020603050405020304" pitchFamily="18" charset="0"/>
                <a:ea typeface="Times New Roman" panose="02020603050405020304" pitchFamily="18" charset="0"/>
              </a:rPr>
              <a:t>В процессе определения структуры и закономерностей </a:t>
            </a:r>
            <a:r>
              <a:rPr lang="ru-RU" sz="1800" i="1" dirty="0">
                <a:effectLst/>
                <a:latin typeface="Times New Roman" panose="02020603050405020304" pitchFamily="18" charset="0"/>
                <a:ea typeface="Times New Roman" panose="02020603050405020304" pitchFamily="18" charset="0"/>
              </a:rPr>
              <a:t>временного ряда</a:t>
            </a:r>
            <a:r>
              <a:rPr lang="ru-RU" sz="1800" dirty="0">
                <a:effectLst/>
                <a:latin typeface="Times New Roman" panose="02020603050405020304" pitchFamily="18" charset="0"/>
                <a:ea typeface="Times New Roman" panose="02020603050405020304" pitchFamily="18" charset="0"/>
              </a:rPr>
              <a:t> предполагается обнаружение: шумов и выбросов, </a:t>
            </a:r>
            <a:r>
              <a:rPr lang="ru-RU" sz="1800" i="1" dirty="0">
                <a:effectLst/>
                <a:latin typeface="Times New Roman" panose="02020603050405020304" pitchFamily="18" charset="0"/>
                <a:ea typeface="Times New Roman" panose="02020603050405020304" pitchFamily="18" charset="0"/>
              </a:rPr>
              <a:t>тренда</a:t>
            </a:r>
            <a:r>
              <a:rPr lang="ru-RU" sz="1800" dirty="0">
                <a:effectLst/>
                <a:latin typeface="Times New Roman" panose="02020603050405020304" pitchFamily="18" charset="0"/>
                <a:ea typeface="Times New Roman" panose="02020603050405020304" pitchFamily="18" charset="0"/>
              </a:rPr>
              <a:t>, </a:t>
            </a:r>
            <a:r>
              <a:rPr lang="ru-RU" sz="1800" i="1" dirty="0">
                <a:effectLst/>
                <a:latin typeface="Times New Roman" panose="02020603050405020304" pitchFamily="18" charset="0"/>
                <a:ea typeface="Times New Roman" panose="02020603050405020304" pitchFamily="18" charset="0"/>
              </a:rPr>
              <a:t>сезонной компоненты</a:t>
            </a:r>
            <a:r>
              <a:rPr lang="ru-RU" sz="1800" dirty="0">
                <a:effectLst/>
                <a:latin typeface="Times New Roman" panose="02020603050405020304" pitchFamily="18" charset="0"/>
                <a:ea typeface="Times New Roman" panose="02020603050405020304" pitchFamily="18" charset="0"/>
              </a:rPr>
              <a:t>, </a:t>
            </a:r>
            <a:r>
              <a:rPr lang="ru-RU" sz="1800" i="1" dirty="0">
                <a:effectLst/>
                <a:latin typeface="Times New Roman" panose="02020603050405020304" pitchFamily="18" charset="0"/>
                <a:ea typeface="Times New Roman" panose="02020603050405020304" pitchFamily="18" charset="0"/>
              </a:rPr>
              <a:t>циклической компоненты</a:t>
            </a:r>
            <a:r>
              <a:rPr lang="ru-RU" sz="1800" dirty="0">
                <a:effectLst/>
                <a:latin typeface="Times New Roman" panose="02020603050405020304" pitchFamily="18" charset="0"/>
                <a:ea typeface="Times New Roman" panose="02020603050405020304" pitchFamily="18" charset="0"/>
              </a:rPr>
              <a:t>. Определение природы </a:t>
            </a:r>
            <a:r>
              <a:rPr lang="ru-RU" sz="1800" i="1" dirty="0">
                <a:effectLst/>
                <a:latin typeface="Times New Roman" panose="02020603050405020304" pitchFamily="18" charset="0"/>
                <a:ea typeface="Times New Roman" panose="02020603050405020304" pitchFamily="18" charset="0"/>
              </a:rPr>
              <a:t>временного ряда</a:t>
            </a:r>
            <a:r>
              <a:rPr lang="ru-RU" sz="1800" dirty="0">
                <a:effectLst/>
                <a:latin typeface="Times New Roman" panose="02020603050405020304" pitchFamily="18" charset="0"/>
                <a:ea typeface="Times New Roman" panose="02020603050405020304" pitchFamily="18" charset="0"/>
              </a:rPr>
              <a:t> может быть использовано как своеобразная "разведка" данных. Знание аналитика о наличии </a:t>
            </a:r>
            <a:r>
              <a:rPr lang="ru-RU" sz="1800" i="1" dirty="0">
                <a:effectLst/>
                <a:latin typeface="Times New Roman" panose="02020603050405020304" pitchFamily="18" charset="0"/>
                <a:ea typeface="Times New Roman" panose="02020603050405020304" pitchFamily="18" charset="0"/>
              </a:rPr>
              <a:t>сезонной компоненты</a:t>
            </a:r>
            <a:r>
              <a:rPr lang="ru-RU" sz="1800" dirty="0">
                <a:effectLst/>
                <a:latin typeface="Times New Roman" panose="02020603050405020304" pitchFamily="18" charset="0"/>
                <a:ea typeface="Times New Roman" panose="02020603050405020304" pitchFamily="18" charset="0"/>
              </a:rPr>
              <a:t> необходимо, например, для определения количества записей выборки, которое должно принимать участие в построении прогноза.</a:t>
            </a:r>
            <a:endParaRPr lang="LID4096" dirty="0"/>
          </a:p>
        </p:txBody>
      </p:sp>
      <p:sp>
        <p:nvSpPr>
          <p:cNvPr id="4" name="Slide Number Placeholder 3"/>
          <p:cNvSpPr>
            <a:spLocks noGrp="1"/>
          </p:cNvSpPr>
          <p:nvPr>
            <p:ph type="sldNum" sz="quarter" idx="5"/>
          </p:nvPr>
        </p:nvSpPr>
        <p:spPr/>
        <p:txBody>
          <a:bodyPr/>
          <a:lstStyle/>
          <a:p>
            <a:fld id="{3B615917-8825-4C11-9D2C-C82340C4B4E7}" type="slidenum">
              <a:rPr lang="LID4096" smtClean="0"/>
              <a:t>13</a:t>
            </a:fld>
            <a:endParaRPr lang="LID4096"/>
          </a:p>
        </p:txBody>
      </p:sp>
    </p:spTree>
    <p:extLst>
      <p:ext uri="{BB962C8B-B14F-4D97-AF65-F5344CB8AC3E}">
        <p14:creationId xmlns:p14="http://schemas.microsoft.com/office/powerpoint/2010/main" val="25673425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Основными составляющими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временного ряда</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являются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тренд</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сезонная компонента</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Составляющие этих рядов могут представлять собой либо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тренд</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либо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сезонную компоненту</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p>
          <a:p>
            <a:pPr marL="0" marR="0"/>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Тренд</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является систематической компонентой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временного ряда</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которая может изменяться во времени.</a:t>
            </a:r>
          </a:p>
          <a:p>
            <a:pPr marL="0" marR="0"/>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Трендом</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называют неслучайную функцию, которая формируется под действием общих или долговременных тенденций, влияющих на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временной ряд</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Примером тенденции может выступать, например, фактор роста исследуемого рынка.</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Автоматического способа обнаружения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трендов</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во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временных рядах</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не существует. Но если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временной ряд</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включает монотонный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тренд</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(т.е. отмечено его устойчивое возрастание или устойчивое убывание), анализировать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временной ряд</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в большинстве случаев нетрудно.</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Существует большое разнообразие постановок задач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которое можно подразделить на две группы: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прогнозирование</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односерийных рядов 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прогнозирование</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мультисерийных</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или взаимовлияющих, рядов.</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Группа прогнозирование односерийных рядов включает задачи построения прогноза одной переменной по ретроспективным данным только этой переменной, без учета влияния других переменных и факторов.</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Группа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мультисерийных</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или взаимовлияющих, рядов включает задачи анализа, где необходимо учитывать взаимовлияющие факторы на одну или несколько переменных.</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Кроме деления на классы по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односерийности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многосерийности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ряды также бывают сезонными и несезонными.</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Последнее деление подразумевает наличие или отсутствие у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временного ряда</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такой составляющей как сезонность, т.е. включение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сезонной компоненты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Сезонная составляющая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временного ряда</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является периодически повторяющейся компонентой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временного ряда</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Свойство сезонности означает, что через примерно равные промежутки времени форма кривой, которая описывает поведение зависимой переменной, повторяет свои характерные очертания.</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Свойство сезонности важно при определении количества ретроспективных данных, которые будут использоваться для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p>
          <a:p>
            <a:r>
              <a:rPr lang="ru-RU" sz="1800" dirty="0">
                <a:effectLst/>
                <a:latin typeface="Times New Roman" panose="02020603050405020304" pitchFamily="18" charset="0"/>
                <a:ea typeface="Times New Roman" panose="02020603050405020304" pitchFamily="18" charset="0"/>
              </a:rPr>
              <a:t>Рассмотрим простой пример. На рисунке приведен фрагмент ряда, который иллюстрирует поведение переменной "объемы продажи товара Х" за период, составляющий один месяц. При изучении кривой, приведенной на рисунке, аналитик не может сделать предположений относительно повторяемости формы кривой через равные промежутки времени. </a:t>
            </a:r>
          </a:p>
          <a:p>
            <a:r>
              <a:rPr lang="ru-RU" sz="1800" dirty="0">
                <a:effectLst/>
                <a:latin typeface="Times New Roman" panose="02020603050405020304" pitchFamily="18" charset="0"/>
                <a:ea typeface="Times New Roman" panose="02020603050405020304" pitchFamily="18" charset="0"/>
              </a:rPr>
              <a:t>Однако при рассмотрении более продолжительного ряда (за 12 месяцев), изображенного на втором рисунке, можно увидеть явное наличие </a:t>
            </a:r>
            <a:r>
              <a:rPr lang="ru-RU" sz="1800" i="1" dirty="0">
                <a:effectLst/>
                <a:latin typeface="Times New Roman" panose="02020603050405020304" pitchFamily="18" charset="0"/>
                <a:ea typeface="Times New Roman" panose="02020603050405020304" pitchFamily="18" charset="0"/>
              </a:rPr>
              <a:t>сезонной компоненты</a:t>
            </a:r>
            <a:r>
              <a:rPr lang="ru-RU" sz="1800" dirty="0">
                <a:effectLst/>
                <a:latin typeface="Times New Roman" panose="02020603050405020304" pitchFamily="18" charset="0"/>
                <a:ea typeface="Times New Roman" panose="02020603050405020304" pitchFamily="18" charset="0"/>
              </a:rPr>
              <a:t>. Следовательно, о сезонности продаж можно говорить только, когда рассматриваются данные за несколько месяцев.</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Таким образом, в процессе подготовки данных для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аналитику следует определить, обладает ли ряд, который он анализирует, свойством сезонности. </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Определение наличия компоненты сезонности необходимо для того, чтобы входная информация обладала свойством репрезентативности.</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Ряд можно считать несезонным, если при рассмотрении его внешнего вида нельзя сделать предположений о повторяемости формы кривой через равные промежутки времени.</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Иногда по внешнему виду кривой ряда нельзя определить, является он сезонным или нет.</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Существует понятие сезонного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мультиряда</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В нем каждый ряд описывает поведение факторов, которые влияют на зависимую (целевую) переменную.</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Пример такого ряда - ряды продаж нескольких товаров, подверженных сезонным колебаниям. </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При сборе данных и выборе факторов для решения задачи по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прогнозированию</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в таких случаях следует учитывать, что влияние объемов продаж товаров друг на друга здесь намного меньше, чем воздействие фактора сезонности.</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Важно не путать понятия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сезонной компоненты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ряда и сезонов природы. Несмотря на близость их звучания, эти понятия разнятся. Так, например, объемы продаж мороженого летом намного больше, чем в другие сезоны, однако это является тенденцией спроса на данный товар.</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Очень часто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тренд</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 сезонность присутствуют во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временном ряде</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одновременно.</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Пример. Прибыль фирмы растет на протяжении нескольких лет (т.е. во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временном ряде</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присутствует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тренд</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ряд также содержит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сезонную компоненту</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Отличия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циклической компоненты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от сезонной: </a:t>
            </a:r>
          </a:p>
          <a:p>
            <a:pPr marL="342900" marR="0" lvl="0" indent="-342900">
              <a:spcBef>
                <a:spcPts val="0"/>
              </a:spcBef>
              <a:spcAft>
                <a:spcPts val="0"/>
              </a:spcAft>
              <a:buFont typeface="+mj-lt"/>
              <a:buAutoNum type="arabicPeriod"/>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Продолжительность цикла, как правило, больше, чем один сезонный период; </a:t>
            </a:r>
            <a:endParaRPr lang="ru-RU"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Циклы, в отличие от сезонных периодов, не имеют определенной продолжительности.</a:t>
            </a:r>
            <a:endParaRPr lang="ru-RU" sz="1800" dirty="0">
              <a:solidFill>
                <a:srgbClr val="000000"/>
              </a:solidFill>
              <a:effectLst/>
              <a:latin typeface="Times New Roman" panose="02020603050405020304" pitchFamily="18" charset="0"/>
              <a:ea typeface="Times New Roman" panose="02020603050405020304" pitchFamily="18" charset="0"/>
            </a:endParaRPr>
          </a:p>
          <a:p>
            <a:r>
              <a:rPr lang="ru-RU" sz="1800" dirty="0">
                <a:effectLst/>
                <a:latin typeface="Times New Roman" panose="02020603050405020304" pitchFamily="18" charset="0"/>
                <a:ea typeface="Times New Roman" panose="02020603050405020304" pitchFamily="18" charset="0"/>
              </a:rPr>
              <a:t>При выполнении каких-либо преобразований понять природу </a:t>
            </a:r>
            <a:r>
              <a:rPr lang="ru-RU" sz="1800" i="1" dirty="0">
                <a:effectLst/>
                <a:latin typeface="Times New Roman" panose="02020603050405020304" pitchFamily="18" charset="0"/>
                <a:ea typeface="Times New Roman" panose="02020603050405020304" pitchFamily="18" charset="0"/>
              </a:rPr>
              <a:t>временного ряда</a:t>
            </a:r>
            <a:r>
              <a:rPr lang="ru-RU" sz="1800" dirty="0">
                <a:effectLst/>
                <a:latin typeface="Times New Roman" panose="02020603050405020304" pitchFamily="18" charset="0"/>
                <a:ea typeface="Times New Roman" panose="02020603050405020304" pitchFamily="18" charset="0"/>
              </a:rPr>
              <a:t> значительно проще, такими преобразованиями могут быть, например, удаление </a:t>
            </a:r>
            <a:r>
              <a:rPr lang="ru-RU" sz="1800" i="1" dirty="0">
                <a:effectLst/>
                <a:latin typeface="Times New Roman" panose="02020603050405020304" pitchFamily="18" charset="0"/>
                <a:ea typeface="Times New Roman" panose="02020603050405020304" pitchFamily="18" charset="0"/>
              </a:rPr>
              <a:t>тренда</a:t>
            </a:r>
            <a:r>
              <a:rPr lang="ru-RU" sz="1800" dirty="0">
                <a:effectLst/>
                <a:latin typeface="Times New Roman" panose="02020603050405020304" pitchFamily="18" charset="0"/>
                <a:ea typeface="Times New Roman" panose="02020603050405020304" pitchFamily="18" charset="0"/>
              </a:rPr>
              <a:t> и сглаживание ряда.</a:t>
            </a:r>
            <a:endParaRPr lang="LID4096" dirty="0"/>
          </a:p>
        </p:txBody>
      </p:sp>
      <p:sp>
        <p:nvSpPr>
          <p:cNvPr id="4" name="Slide Number Placeholder 3"/>
          <p:cNvSpPr>
            <a:spLocks noGrp="1"/>
          </p:cNvSpPr>
          <p:nvPr>
            <p:ph type="sldNum" sz="quarter" idx="5"/>
          </p:nvPr>
        </p:nvSpPr>
        <p:spPr/>
        <p:txBody>
          <a:bodyPr/>
          <a:lstStyle/>
          <a:p>
            <a:fld id="{3B615917-8825-4C11-9D2C-C82340C4B4E7}" type="slidenum">
              <a:rPr lang="LID4096" smtClean="0"/>
              <a:t>14</a:t>
            </a:fld>
            <a:endParaRPr lang="LID4096"/>
          </a:p>
        </p:txBody>
      </p:sp>
    </p:spTree>
    <p:extLst>
      <p:ext uri="{BB962C8B-B14F-4D97-AF65-F5344CB8AC3E}">
        <p14:creationId xmlns:p14="http://schemas.microsoft.com/office/powerpoint/2010/main" val="28939475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Перед началом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необходимо ответить на следующие вопросы:</a:t>
            </a:r>
          </a:p>
          <a:p>
            <a:pPr marL="342900" marR="0" lvl="0" indent="-342900">
              <a:spcBef>
                <a:spcPts val="0"/>
              </a:spcBef>
              <a:spcAft>
                <a:spcPts val="0"/>
              </a:spcAft>
              <a:buFont typeface="+mj-lt"/>
              <a:buAutoNum type="arabicPeriod"/>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Что нужно прогнозировать? </a:t>
            </a:r>
            <a:endParaRPr lang="ru-RU"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В каких временные элементы (параметры)? </a:t>
            </a:r>
            <a:endParaRPr lang="ru-RU"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С какой точностью прогноза?</a:t>
            </a:r>
            <a:endParaRPr lang="ru-RU" sz="1800" dirty="0">
              <a:solidFill>
                <a:srgbClr val="000000"/>
              </a:solidFill>
              <a:effectLst/>
              <a:latin typeface="Times New Roman" panose="02020603050405020304" pitchFamily="18" charset="0"/>
              <a:ea typeface="Times New Roman" panose="02020603050405020304" pitchFamily="18" charset="0"/>
            </a:endParaRP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При ответе на первый вопрос, мы определяем переменные, которые будут прогнозироваться. Это может быть, например, уровень производства конкретного вида продукции в следующем квартале, прогноз суммы продажи этой продукции и т.д.</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При выборе переменных следует учитывать доступность ретроспективных данных, предпочтения лиц, принимающих решения, окончательную стоимость Data Mining.</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Часто при решении задач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возникает необходимость предсказания не самой переменной, а изменений ее значений. </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Второй вопрос при решении задачи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 определение следующих параметров: </a:t>
            </a:r>
          </a:p>
          <a:p>
            <a:pPr marL="342900" marR="0" lvl="0" indent="-342900">
              <a:spcBef>
                <a:spcPts val="0"/>
              </a:spcBef>
              <a:spcAft>
                <a:spcPts val="0"/>
              </a:spcAft>
              <a:buSzPts val="1000"/>
              <a:buFont typeface="Symbol" panose="05050102010706020507" pitchFamily="18" charset="2"/>
              <a:buChar char=""/>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периода </a:t>
            </a:r>
            <a:r>
              <a:rPr lang="ru-RU" sz="1800" i="1" dirty="0">
                <a:solidFill>
                  <a:srgbClr val="000000"/>
                </a:solidFill>
                <a:effectLst/>
                <a:latin typeface="Verdana" panose="020B0604030504040204" pitchFamily="34" charset="0"/>
                <a:ea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rPr>
              <a:t>; </a:t>
            </a:r>
            <a:endParaRPr lang="ru-RU"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горизонта </a:t>
            </a:r>
            <a:r>
              <a:rPr lang="ru-RU" sz="1800" i="1" dirty="0">
                <a:solidFill>
                  <a:srgbClr val="000000"/>
                </a:solidFill>
                <a:effectLst/>
                <a:latin typeface="Verdana" panose="020B0604030504040204" pitchFamily="34" charset="0"/>
                <a:ea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rPr>
              <a:t>; </a:t>
            </a:r>
            <a:endParaRPr lang="ru-RU"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интервала </a:t>
            </a:r>
            <a:r>
              <a:rPr lang="ru-RU" sz="1800" i="1" dirty="0">
                <a:solidFill>
                  <a:srgbClr val="000000"/>
                </a:solidFill>
                <a:effectLst/>
                <a:latin typeface="Verdana" panose="020B0604030504040204" pitchFamily="34" charset="0"/>
                <a:ea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rPr>
              <a:t>.</a:t>
            </a:r>
            <a:endParaRPr lang="ru-RU" sz="1800" dirty="0">
              <a:solidFill>
                <a:srgbClr val="000000"/>
              </a:solidFill>
              <a:effectLst/>
              <a:latin typeface="Times New Roman" panose="02020603050405020304" pitchFamily="18" charset="0"/>
              <a:ea typeface="Times New Roman" panose="02020603050405020304" pitchFamily="18" charset="0"/>
            </a:endParaRPr>
          </a:p>
          <a:p>
            <a:pPr marL="0" marR="0"/>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Период 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 основная единица времени, на которую делается прогноз. </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Например, мы хотим узнать доход компании через месяц. Период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для этой задачи - месяц.</a:t>
            </a:r>
          </a:p>
          <a:p>
            <a:pPr marL="0" marR="0"/>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Горизонт 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 это число периодов в будущем, которые покрывает прогноз.</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Если мы хотим узнать прогноз на 12 месяцев вперед, с данными по каждому месяцу, то период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в этой задаче - месяц, горизонт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- 12 месяцев.</a:t>
            </a:r>
          </a:p>
          <a:p>
            <a:pPr marL="0" marR="0"/>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Интервал 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 частота, с которой делается новый прогноз. </a:t>
            </a:r>
          </a:p>
          <a:p>
            <a:pPr marL="0" marR="0"/>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Интервал 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может совпадать с периодом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Рекомендации по выбору параметров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При выборе параметров необходимо учитывать, что горизонт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должен быть не меньше, чем время, которое необходимо для реализации решения, принятого на основе этого прогноза. Только в этом случае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прогнозирование</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будет иметь смысл.</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 увеличением горизонта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точность прогноза, как правило, снижается, а с уменьшением горизонта - повышается.</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Мы можем улучшить качество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уменьшая время, необходимое на реализацию решения, для которого реализуется прогноз, и, следовательно, уменьшив при этом горизонт и ошибку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При выборе интервала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следует выбирать между двумя рисками: вовремя не определить изменения в анализируемом процессе и высокой стоимостью прогноза. При длительном интервале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возникает риск не идентифицировать изменения, произошедшие в процессе, при коротком - возрастают издержки на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прогнозирование</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При выборе интервала необходимо также учитывать стабильность анализируемого процесса и стоимость проведения прогноза.</a:t>
            </a:r>
          </a:p>
          <a:p>
            <a:endParaRPr lang="LID4096" dirty="0"/>
          </a:p>
        </p:txBody>
      </p:sp>
      <p:sp>
        <p:nvSpPr>
          <p:cNvPr id="4" name="Slide Number Placeholder 3"/>
          <p:cNvSpPr>
            <a:spLocks noGrp="1"/>
          </p:cNvSpPr>
          <p:nvPr>
            <p:ph type="sldNum" sz="quarter" idx="5"/>
          </p:nvPr>
        </p:nvSpPr>
        <p:spPr/>
        <p:txBody>
          <a:bodyPr/>
          <a:lstStyle/>
          <a:p>
            <a:fld id="{3B615917-8825-4C11-9D2C-C82340C4B4E7}" type="slidenum">
              <a:rPr lang="LID4096" smtClean="0"/>
              <a:t>15</a:t>
            </a:fld>
            <a:endParaRPr lang="LID4096"/>
          </a:p>
        </p:txBody>
      </p:sp>
    </p:spTree>
    <p:extLst>
      <p:ext uri="{BB962C8B-B14F-4D97-AF65-F5344CB8AC3E}">
        <p14:creationId xmlns:p14="http://schemas.microsoft.com/office/powerpoint/2010/main" val="2086691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Точность прогноза</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требуемая для решения конкретной задачи, оказывает большое влияние на прогнозирующую систему. Ошибка прогноза зависит от используемой системы прогноза.</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Чем больше ресурсов имеет такая система, тем больше шансов получить более точный прогноз. Однако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прогнозирование</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не может полностью уничтожить риски при принятии решений. Поэтому всегда учитывается возможная ошибка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p>
          <a:p>
            <a:pPr marL="0" marR="0"/>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Точность прогноза</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характеризуется ошибкой прогноза.</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Наиболее распространенные виды ошибок:</a:t>
            </a:r>
          </a:p>
          <a:p>
            <a:pPr marL="342900" marR="0" lvl="0" indent="-342900">
              <a:spcBef>
                <a:spcPts val="0"/>
              </a:spcBef>
              <a:spcAft>
                <a:spcPts val="0"/>
              </a:spcAft>
              <a:buSzPts val="1000"/>
              <a:buFont typeface="Symbol" panose="05050102010706020507" pitchFamily="18" charset="2"/>
              <a:buChar char=""/>
              <a:tabLst>
                <a:tab pos="457200" algn="l"/>
              </a:tabLst>
            </a:pPr>
            <a:r>
              <a:rPr lang="ru-RU" sz="1800" b="1" dirty="0">
                <a:solidFill>
                  <a:srgbClr val="000000"/>
                </a:solidFill>
                <a:effectLst/>
                <a:latin typeface="Verdana" panose="020B0604030504040204" pitchFamily="34" charset="0"/>
                <a:ea typeface="Times New Roman" panose="02020603050405020304" pitchFamily="18" charset="0"/>
              </a:rPr>
              <a:t>Средняя ошибка (СО).</a:t>
            </a:r>
            <a:r>
              <a:rPr lang="ru-RU" sz="1800" dirty="0">
                <a:solidFill>
                  <a:srgbClr val="000000"/>
                </a:solidFill>
                <a:effectLst/>
                <a:latin typeface="Verdana" panose="020B0604030504040204" pitchFamily="34" charset="0"/>
                <a:ea typeface="Times New Roman" panose="02020603050405020304" pitchFamily="18" charset="0"/>
              </a:rPr>
              <a:t> Она вычисляется простым усреднением ошибок на каждом шаге. Недостаток этого вида ошибки - положительные и отрицательные ошибки аннулируют друг друга. </a:t>
            </a:r>
            <a:endParaRPr lang="ru-RU"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800" b="1" dirty="0">
                <a:solidFill>
                  <a:srgbClr val="000000"/>
                </a:solidFill>
                <a:effectLst/>
                <a:latin typeface="Verdana" panose="020B0604030504040204" pitchFamily="34" charset="0"/>
                <a:ea typeface="Times New Roman" panose="02020603050405020304" pitchFamily="18" charset="0"/>
              </a:rPr>
              <a:t>Средняя абсолютная ошибка (САО)</a:t>
            </a:r>
            <a:r>
              <a:rPr lang="ru-RU" sz="1800" dirty="0">
                <a:solidFill>
                  <a:srgbClr val="000000"/>
                </a:solidFill>
                <a:effectLst/>
                <a:latin typeface="Verdana" panose="020B0604030504040204" pitchFamily="34" charset="0"/>
                <a:ea typeface="Times New Roman" panose="02020603050405020304" pitchFamily="18" charset="0"/>
              </a:rPr>
              <a:t>. Она рассчитывается как среднее абсолютных ошибок. Если она равна нулю, то мы имеем совершенный прогноз. В сравнении со средней квадратической ошибкой, эта мера "не придает слишком большого значения" выбросам. </a:t>
            </a:r>
            <a:endParaRPr lang="ru-RU"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800" b="1" dirty="0">
                <a:solidFill>
                  <a:srgbClr val="000000"/>
                </a:solidFill>
                <a:effectLst/>
                <a:latin typeface="Verdana" panose="020B0604030504040204" pitchFamily="34" charset="0"/>
                <a:ea typeface="Times New Roman" panose="02020603050405020304" pitchFamily="18" charset="0"/>
              </a:rPr>
              <a:t>Сумма квадратов ошибок (SSE)</a:t>
            </a:r>
            <a:r>
              <a:rPr lang="ru-RU" sz="1800" dirty="0">
                <a:solidFill>
                  <a:srgbClr val="000000"/>
                </a:solidFill>
                <a:effectLst/>
                <a:latin typeface="Verdana" panose="020B0604030504040204" pitchFamily="34" charset="0"/>
                <a:ea typeface="Times New Roman" panose="02020603050405020304" pitchFamily="18" charset="0"/>
              </a:rPr>
              <a:t>, среднеквадратическая ошибка. Она вычисляется как сумма (или среднее) квадратов ошибок. Это наиболее часто используемая оценка точности прогноза. </a:t>
            </a:r>
            <a:endParaRPr lang="ru-RU"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800" b="1" dirty="0">
                <a:solidFill>
                  <a:srgbClr val="000000"/>
                </a:solidFill>
                <a:effectLst/>
                <a:latin typeface="Verdana" panose="020B0604030504040204" pitchFamily="34" charset="0"/>
                <a:ea typeface="Times New Roman" panose="02020603050405020304" pitchFamily="18" charset="0"/>
              </a:rPr>
              <a:t>Относительная ошибка (ОО).</a:t>
            </a:r>
            <a:r>
              <a:rPr lang="ru-RU" sz="1800" dirty="0">
                <a:solidFill>
                  <a:srgbClr val="000000"/>
                </a:solidFill>
                <a:effectLst/>
                <a:latin typeface="Verdana" panose="020B0604030504040204" pitchFamily="34" charset="0"/>
                <a:ea typeface="Times New Roman" panose="02020603050405020304" pitchFamily="18" charset="0"/>
              </a:rPr>
              <a:t> Предыдущие меры использовали действительные значения ошибок. Относительная ошибка выражает качество подгонки в терминах относительных ошибок. </a:t>
            </a:r>
            <a:endParaRPr lang="ru-RU" sz="1800" dirty="0">
              <a:solidFill>
                <a:srgbClr val="000000"/>
              </a:solidFill>
              <a:effectLst/>
              <a:latin typeface="Times New Roman" panose="02020603050405020304" pitchFamily="18" charset="0"/>
              <a:ea typeface="Times New Roman" panose="02020603050405020304" pitchFamily="18" charset="0"/>
            </a:endParaRPr>
          </a:p>
          <a:p>
            <a:endParaRPr lang="LID4096" dirty="0"/>
          </a:p>
        </p:txBody>
      </p:sp>
      <p:sp>
        <p:nvSpPr>
          <p:cNvPr id="4" name="Slide Number Placeholder 3"/>
          <p:cNvSpPr>
            <a:spLocks noGrp="1"/>
          </p:cNvSpPr>
          <p:nvPr>
            <p:ph type="sldNum" sz="quarter" idx="5"/>
          </p:nvPr>
        </p:nvSpPr>
        <p:spPr/>
        <p:txBody>
          <a:bodyPr/>
          <a:lstStyle/>
          <a:p>
            <a:fld id="{3B615917-8825-4C11-9D2C-C82340C4B4E7}" type="slidenum">
              <a:rPr lang="LID4096" smtClean="0"/>
              <a:t>16</a:t>
            </a:fld>
            <a:endParaRPr lang="LID4096"/>
          </a:p>
        </p:txBody>
      </p:sp>
    </p:spTree>
    <p:extLst>
      <p:ext uri="{BB962C8B-B14F-4D97-AF65-F5344CB8AC3E}">
        <p14:creationId xmlns:p14="http://schemas.microsoft.com/office/powerpoint/2010/main" val="38653447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 может быть краткосрочным, среднесрочным и долгосрочным.</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a:t>
            </a:r>
            <a:r>
              <a:rPr lang="ru-RU"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раткосрочный прогноз</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представляет собой прогноз на несколько шагов вперед, т.е. осуществляется построение прогноза не более чем на 3% от объема наблюдений или на 1-3 шага вперед. </a:t>
            </a:r>
          </a:p>
          <a:p>
            <a:pPr marL="0" marR="0"/>
            <a:r>
              <a:rPr lang="ru-RU"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Среднесрочный прогноз</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 это прогноз на 3-5% от объема наблюдений, но не более 7-12 шагов вперед; также под этим типом прогноза понимают прогноз на один или половину сезонного цикла. Для построения краткосрочных и среднесрочных прогнозов вполне подходят статистические методы.</a:t>
            </a:r>
          </a:p>
          <a:p>
            <a:pPr marL="0" marR="0"/>
            <a:r>
              <a:rPr lang="ru-RU"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Долгосрочный прогноз</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 это прогноз более чем на 5% от объема наблюдений.</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При построении данного типа прогнозов статистические методы практически не используются, кроме случаев очень "хороших" рядов, для которых прогноз можно просто "нарисовать". </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До сих пор мы рассматривали аспекты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так или иначе связанные с процессом принятия решения. Существуют и другие факторы, которые необходимо учитывать при прогнозировании.</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Задача 1. Известно, что анализируемый процесс относительно стабилен во времени, изменения происходят медленно, процесс не зависит от внешних факторов.</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Задача 2. Анализируемый процесс нестабилен и очень сильно зависит от внешних факторов.</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Решение первой задачи должно быть сосредоточено на использовании большого количества ретроспективных данных. При решении второй задачи особое внимание следует обратить на оценки специалиста в предметной области, эксперта, чтобы иметь возможность отразить в прогнозирующей модели все необходимые внешние факторы, а также уделить время для сбора данных по этим факторам (сбор внешних данных часто намного сложнее сбора внутренних данных информационной системы). Доступность данных, на основе которых будет осуществляться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прогнозирование</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 важный фактор построения прогнозной модели. Для возможности выполнения качественного прогноза данные должны быть представительными, точными и достоверными.</a:t>
            </a:r>
          </a:p>
          <a:p>
            <a:endParaRPr lang="LID4096" dirty="0"/>
          </a:p>
        </p:txBody>
      </p:sp>
      <p:sp>
        <p:nvSpPr>
          <p:cNvPr id="4" name="Slide Number Placeholder 3"/>
          <p:cNvSpPr>
            <a:spLocks noGrp="1"/>
          </p:cNvSpPr>
          <p:nvPr>
            <p:ph type="sldNum" sz="quarter" idx="5"/>
          </p:nvPr>
        </p:nvSpPr>
        <p:spPr/>
        <p:txBody>
          <a:bodyPr/>
          <a:lstStyle/>
          <a:p>
            <a:fld id="{3B615917-8825-4C11-9D2C-C82340C4B4E7}" type="slidenum">
              <a:rPr lang="LID4096" smtClean="0"/>
              <a:t>17</a:t>
            </a:fld>
            <a:endParaRPr lang="LID4096"/>
          </a:p>
        </p:txBody>
      </p:sp>
    </p:spTree>
    <p:extLst>
      <p:ext uri="{BB962C8B-B14F-4D97-AF65-F5344CB8AC3E}">
        <p14:creationId xmlns:p14="http://schemas.microsoft.com/office/powerpoint/2010/main" val="25674409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Методы Data Mining, при помощи которых решаются задачи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будут рассмотрены во втором разделе курса. </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Среди распространенных методов Data Mining, используемых для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отметим нейронные сети и линейную регрессию.</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Выбор метода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зависит от многих факторов, в том числе от параметров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Выбор метода следует производить с учетом всех специфических особенностей набора ретроспективных данных и целей, с которыми он строится.</a:t>
            </a:r>
          </a:p>
          <a:p>
            <a:r>
              <a:rPr lang="ru-RU" sz="1800" dirty="0">
                <a:effectLst/>
                <a:latin typeface="Times New Roman" panose="02020603050405020304" pitchFamily="18" charset="0"/>
                <a:ea typeface="Times New Roman" panose="02020603050405020304" pitchFamily="18" charset="0"/>
              </a:rPr>
              <a:t>Программное обеспечение Data Mining, используемое для </a:t>
            </a:r>
            <a:r>
              <a:rPr lang="ru-RU" sz="1800" i="1" dirty="0">
                <a:effectLst/>
                <a:latin typeface="Times New Roman" panose="02020603050405020304" pitchFamily="18" charset="0"/>
                <a:ea typeface="Times New Roman" panose="02020603050405020304" pitchFamily="18" charset="0"/>
              </a:rPr>
              <a:t>прогнозирования</a:t>
            </a:r>
            <a:r>
              <a:rPr lang="ru-RU" sz="1800" dirty="0">
                <a:effectLst/>
                <a:latin typeface="Times New Roman" panose="02020603050405020304" pitchFamily="18" charset="0"/>
                <a:ea typeface="Times New Roman" panose="02020603050405020304" pitchFamily="18" charset="0"/>
              </a:rPr>
              <a:t>, должно обеспечивать пользователя точным и достоверным прогнозом. Однако получение такого прогноза зависит не только от программного обеспечения и методов, заложенных в его основу, но также и от других факторов, среди которых полнота и достоверность исходных данных, своевременность и оперативность их пополнения, квалификация пользователя.</a:t>
            </a:r>
            <a:endParaRPr lang="LID4096" dirty="0"/>
          </a:p>
        </p:txBody>
      </p:sp>
      <p:sp>
        <p:nvSpPr>
          <p:cNvPr id="4" name="Slide Number Placeholder 3"/>
          <p:cNvSpPr>
            <a:spLocks noGrp="1"/>
          </p:cNvSpPr>
          <p:nvPr>
            <p:ph type="sldNum" sz="quarter" idx="5"/>
          </p:nvPr>
        </p:nvSpPr>
        <p:spPr/>
        <p:txBody>
          <a:bodyPr/>
          <a:lstStyle/>
          <a:p>
            <a:fld id="{3B615917-8825-4C11-9D2C-C82340C4B4E7}" type="slidenum">
              <a:rPr lang="LID4096" smtClean="0"/>
              <a:t>18</a:t>
            </a:fld>
            <a:endParaRPr lang="LID4096"/>
          </a:p>
        </p:txBody>
      </p:sp>
    </p:spTree>
    <p:extLst>
      <p:ext uri="{BB962C8B-B14F-4D97-AF65-F5344CB8AC3E}">
        <p14:creationId xmlns:p14="http://schemas.microsoft.com/office/powerpoint/2010/main" val="28394517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1200"/>
              </a:spcBef>
              <a:spcAft>
                <a:spcPts val="300"/>
              </a:spcAft>
            </a:pPr>
            <a:r>
              <a:rPr lang="ru-RU" sz="1800" b="1" dirty="0">
                <a:solidFill>
                  <a:srgbClr val="000000"/>
                </a:solidFill>
                <a:effectLst/>
                <a:latin typeface="Verdana" panose="020B0604030504040204" pitchFamily="34" charset="0"/>
              </a:rPr>
              <a:t>Задача визуализации</a:t>
            </a:r>
            <a:endParaRPr lang="ru-RU" sz="1800" b="1" dirty="0">
              <a:effectLst/>
              <a:latin typeface="Arial" panose="020B0604020202020204" pitchFamily="34" charset="0"/>
            </a:endParaRPr>
          </a:p>
          <a:p>
            <a:pPr marL="0" marR="0"/>
            <a:r>
              <a:rPr lang="ru-RU" sz="1800" b="1"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Визуализация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 это инструментарий, который позволяет увидеть конечный результат вычислений, организовать управление вычислительным процессом и даже вернуться назад к исходным данным, чтобы определить наиболее рациональное направление дальнейшего движения. </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 результате использования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визуализации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создается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графический образ данных</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Применение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визуализации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помогает в процессе анализа данных увидеть аномалии, структуры,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тренды</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При рассмотрении задачи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мы использовали графическое представление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временного ряда</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 увидели, что в нем присутствует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сезонная компонента</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В предыдущей лекции мы рассматривали задачи классификации и кластеризации, и для иллюстрации распределения объектов в двухмерном пространстве также использовали визуализацию.</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Можно говорить о том, что применение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визуализации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является более экономичным: линия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тренда</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или скопления точек на диаграмме рассеивания позволяет аналитику намного быстрее определить закономерности и прийти к нужному решению. Таким образом, здесь идет речь об использовании в Data Mining не символов, а образов.</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Главное преимущество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визуализации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 практически полное отсутствие необходимости в специальной подготовке пользователя. При помощи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визуализации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ознакомиться с информацией очень легко, достаточно всего лишь бросить на нее взгляд.</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Хотя простейшие виды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визуализации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появились достаточно давно, ее использование сейчас только набирает силу.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Визуализации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не направлена исключительно на совершенствование техники анализа - по словам Скотта </a:t>
            </a:r>
            <a:r>
              <a:rPr lang="ru-RU"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Лейбса</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в некоторых случаях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визуализация</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может даже заменить его. </a:t>
            </a:r>
          </a:p>
          <a:p>
            <a:pPr marL="0" marR="0"/>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Визуализации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данных может быть представлена в виде: графиков, схем, гистограмм, диаграмм и т.д.</a:t>
            </a:r>
          </a:p>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Кратко роль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визуализации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можно описать такими ее возможностями:</a:t>
            </a:r>
          </a:p>
          <a:p>
            <a:pPr marL="342900" marR="0" lvl="0" indent="-342900">
              <a:spcBef>
                <a:spcPts val="0"/>
              </a:spcBef>
              <a:spcAft>
                <a:spcPts val="0"/>
              </a:spcAft>
              <a:buSzPts val="1000"/>
              <a:buFont typeface="Symbol" panose="05050102010706020507" pitchFamily="18" charset="2"/>
              <a:buChar char=""/>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поддержка интерактивного и согласованного исследования; </a:t>
            </a:r>
            <a:endParaRPr lang="ru-RU"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помощь в представлении результатов; </a:t>
            </a:r>
            <a:endParaRPr lang="ru-RU" sz="1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использование глаз (зрения), чтобы создавать зрительные образы и осмысливать их.</a:t>
            </a:r>
            <a:endParaRPr lang="ru-RU" sz="1800" dirty="0">
              <a:solidFill>
                <a:srgbClr val="000000"/>
              </a:solidFill>
              <a:effectLst/>
              <a:latin typeface="Times New Roman" panose="02020603050405020304" pitchFamily="18" charset="0"/>
              <a:ea typeface="Times New Roman" panose="02020603050405020304" pitchFamily="18" charset="0"/>
            </a:endParaRPr>
          </a:p>
          <a:p>
            <a:endParaRPr lang="LID4096" dirty="0"/>
          </a:p>
        </p:txBody>
      </p:sp>
      <p:sp>
        <p:nvSpPr>
          <p:cNvPr id="4" name="Slide Number Placeholder 3"/>
          <p:cNvSpPr>
            <a:spLocks noGrp="1"/>
          </p:cNvSpPr>
          <p:nvPr>
            <p:ph type="sldNum" sz="quarter" idx="5"/>
          </p:nvPr>
        </p:nvSpPr>
        <p:spPr/>
        <p:txBody>
          <a:bodyPr/>
          <a:lstStyle/>
          <a:p>
            <a:fld id="{3B615917-8825-4C11-9D2C-C82340C4B4E7}" type="slidenum">
              <a:rPr lang="LID4096" smtClean="0"/>
              <a:t>19</a:t>
            </a:fld>
            <a:endParaRPr lang="LID4096"/>
          </a:p>
        </p:txBody>
      </p:sp>
    </p:spTree>
    <p:extLst>
      <p:ext uri="{BB962C8B-B14F-4D97-AF65-F5344CB8AC3E}">
        <p14:creationId xmlns:p14="http://schemas.microsoft.com/office/powerpoint/2010/main" val="375551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9585E-4FEB-4256-CFE3-9589D9588CF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3B4AB03D-4C0F-A31D-CAC7-16C3809CC5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3DFCE928-CADC-7C04-F826-9ACD6400E1A5}"/>
              </a:ext>
            </a:extLst>
          </p:cNvPr>
          <p:cNvSpPr>
            <a:spLocks noGrp="1"/>
          </p:cNvSpPr>
          <p:nvPr>
            <p:ph type="dt" sz="half" idx="10"/>
          </p:nvPr>
        </p:nvSpPr>
        <p:spPr/>
        <p:txBody>
          <a:bodyPr/>
          <a:lstStyle/>
          <a:p>
            <a:fld id="{88D38747-4367-4BD2-8D51-C97E202738E2}" type="datetime1">
              <a:rPr lang="en-US" smtClean="0"/>
              <a:t>4/23/2025</a:t>
            </a:fld>
            <a:endParaRPr lang="en-US" dirty="0"/>
          </a:p>
        </p:txBody>
      </p:sp>
      <p:sp>
        <p:nvSpPr>
          <p:cNvPr id="5" name="Footer Placeholder 4">
            <a:extLst>
              <a:ext uri="{FF2B5EF4-FFF2-40B4-BE49-F238E27FC236}">
                <a16:creationId xmlns:a16="http://schemas.microsoft.com/office/drawing/2014/main" id="{7CD70ED9-5856-A446-7229-B32643D91FC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099E500-425B-057C-F612-79A55D7883B6}"/>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525072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31DD8-AC17-A5C4-DC8A-3A1A20541470}"/>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0574509D-300C-F422-E8CC-492AE49C32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9EB9E1ED-E74F-3DC4-6889-BD356C05AB02}"/>
              </a:ext>
            </a:extLst>
          </p:cNvPr>
          <p:cNvSpPr>
            <a:spLocks noGrp="1"/>
          </p:cNvSpPr>
          <p:nvPr>
            <p:ph type="dt" sz="half" idx="10"/>
          </p:nvPr>
        </p:nvSpPr>
        <p:spPr/>
        <p:txBody>
          <a:bodyPr/>
          <a:lstStyle/>
          <a:p>
            <a:fld id="{73C55A3C-5767-4844-A0A3-83778C2E5409}" type="datetime1">
              <a:rPr lang="en-US" smtClean="0"/>
              <a:t>4/23/2025</a:t>
            </a:fld>
            <a:endParaRPr lang="en-US" dirty="0"/>
          </a:p>
        </p:txBody>
      </p:sp>
      <p:sp>
        <p:nvSpPr>
          <p:cNvPr id="5" name="Footer Placeholder 4">
            <a:extLst>
              <a:ext uri="{FF2B5EF4-FFF2-40B4-BE49-F238E27FC236}">
                <a16:creationId xmlns:a16="http://schemas.microsoft.com/office/drawing/2014/main" id="{666CEA5A-FCBF-3BF5-0F64-F937C5F911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87A109D-9B73-4831-F494-7CEB6F5FF914}"/>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54206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F0624-F093-1691-1B63-6BF5DD826E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3" name="Text Placeholder 2">
            <a:extLst>
              <a:ext uri="{FF2B5EF4-FFF2-40B4-BE49-F238E27FC236}">
                <a16:creationId xmlns:a16="http://schemas.microsoft.com/office/drawing/2014/main" id="{9EB26D71-12FD-5A5F-151B-8A50756EAF0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E58A94B-0DD6-19F6-4CB0-871698BC3D5E}"/>
              </a:ext>
            </a:extLst>
          </p:cNvPr>
          <p:cNvSpPr>
            <a:spLocks noGrp="1"/>
          </p:cNvSpPr>
          <p:nvPr>
            <p:ph type="dt" sz="half" idx="10"/>
          </p:nvPr>
        </p:nvSpPr>
        <p:spPr/>
        <p:txBody>
          <a:bodyPr/>
          <a:lstStyle/>
          <a:p>
            <a:fld id="{CAE507A8-A5CF-4D38-AB86-7EDDA87A85D4}" type="datetime1">
              <a:rPr lang="en-US" smtClean="0"/>
              <a:t>4/23/2025</a:t>
            </a:fld>
            <a:endParaRPr lang="en-US" dirty="0"/>
          </a:p>
        </p:txBody>
      </p:sp>
      <p:sp>
        <p:nvSpPr>
          <p:cNvPr id="5" name="Footer Placeholder 4">
            <a:extLst>
              <a:ext uri="{FF2B5EF4-FFF2-40B4-BE49-F238E27FC236}">
                <a16:creationId xmlns:a16="http://schemas.microsoft.com/office/drawing/2014/main" id="{BD2E7D1F-58E3-6665-F857-559472D2A9D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5C6B672-6734-6E36-FF1C-7AAD351F2FB9}"/>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237688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17834-2FD0-2DA9-ECAC-AB5603E6618D}"/>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5BD52CE9-A90B-145C-E692-31CE3B77D4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CDA98E02-27F6-E4A4-C6BA-E603645E08B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5F272A9B-FA1D-CE7A-5CDE-1DA080B31031}"/>
              </a:ext>
            </a:extLst>
          </p:cNvPr>
          <p:cNvSpPr>
            <a:spLocks noGrp="1"/>
          </p:cNvSpPr>
          <p:nvPr>
            <p:ph type="dt" sz="half" idx="10"/>
          </p:nvPr>
        </p:nvSpPr>
        <p:spPr/>
        <p:txBody>
          <a:bodyPr/>
          <a:lstStyle/>
          <a:p>
            <a:fld id="{BDFCD27C-8599-43EF-BA1D-14DDC1946E06}" type="datetime1">
              <a:rPr lang="en-US" smtClean="0"/>
              <a:t>4/23/2025</a:t>
            </a:fld>
            <a:endParaRPr lang="en-US" dirty="0"/>
          </a:p>
        </p:txBody>
      </p:sp>
      <p:sp>
        <p:nvSpPr>
          <p:cNvPr id="6" name="Footer Placeholder 5">
            <a:extLst>
              <a:ext uri="{FF2B5EF4-FFF2-40B4-BE49-F238E27FC236}">
                <a16:creationId xmlns:a16="http://schemas.microsoft.com/office/drawing/2014/main" id="{35731A3B-4E5F-8F72-1A11-C16A193FE9B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52F3359-5032-5B1B-F97C-2CD628D3039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09552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1D544-1E09-D1F5-4CEF-0569D101790B}"/>
              </a:ext>
            </a:extLst>
          </p:cNvPr>
          <p:cNvSpPr>
            <a:spLocks noGrp="1"/>
          </p:cNvSpPr>
          <p:nvPr>
            <p:ph type="title"/>
          </p:nvPr>
        </p:nvSpPr>
        <p:spPr>
          <a:xfrm>
            <a:off x="839788" y="365125"/>
            <a:ext cx="10515600" cy="1325563"/>
          </a:xfrm>
        </p:spPr>
        <p:txBody>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0551C6D9-D64A-07FA-6FC4-F416F3878F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BDD94A-3F5D-59A8-6683-4766C278D8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02A44B8E-321B-185A-FA52-46530BA239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835322-5E6E-4D15-41EA-37BD74B68F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EBAABE85-7EBB-DEC1-E565-02AC5B284014}"/>
              </a:ext>
            </a:extLst>
          </p:cNvPr>
          <p:cNvSpPr>
            <a:spLocks noGrp="1"/>
          </p:cNvSpPr>
          <p:nvPr>
            <p:ph type="dt" sz="half" idx="10"/>
          </p:nvPr>
        </p:nvSpPr>
        <p:spPr/>
        <p:txBody>
          <a:bodyPr/>
          <a:lstStyle/>
          <a:p>
            <a:fld id="{49343D99-809A-49C0-96E5-4250D0B498EE}" type="datetime1">
              <a:rPr lang="en-US" smtClean="0"/>
              <a:t>4/23/2025</a:t>
            </a:fld>
            <a:endParaRPr lang="en-US" dirty="0"/>
          </a:p>
        </p:txBody>
      </p:sp>
      <p:sp>
        <p:nvSpPr>
          <p:cNvPr id="8" name="Footer Placeholder 7">
            <a:extLst>
              <a:ext uri="{FF2B5EF4-FFF2-40B4-BE49-F238E27FC236}">
                <a16:creationId xmlns:a16="http://schemas.microsoft.com/office/drawing/2014/main" id="{E2D8AE5B-7F43-B92D-D3DA-8162FFA1B810}"/>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F9479B4-2D8F-16E0-95C4-0B243E465B5E}"/>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70448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87751-D972-237E-9A45-2F4229D22906}"/>
              </a:ext>
            </a:extLst>
          </p:cNvPr>
          <p:cNvSpPr>
            <a:spLocks noGrp="1"/>
          </p:cNvSpPr>
          <p:nvPr>
            <p:ph type="title"/>
          </p:nvPr>
        </p:nvSpPr>
        <p:spPr/>
        <p:txBody>
          <a:bodyPr/>
          <a:lstStyle/>
          <a:p>
            <a:r>
              <a:rPr lang="en-US"/>
              <a:t>Click to edit Master title style</a:t>
            </a:r>
            <a:endParaRPr lang="LID4096"/>
          </a:p>
        </p:txBody>
      </p:sp>
      <p:sp>
        <p:nvSpPr>
          <p:cNvPr id="3" name="Date Placeholder 2">
            <a:extLst>
              <a:ext uri="{FF2B5EF4-FFF2-40B4-BE49-F238E27FC236}">
                <a16:creationId xmlns:a16="http://schemas.microsoft.com/office/drawing/2014/main" id="{75FB84B1-3E71-103A-24F3-90F95BA17C0B}"/>
              </a:ext>
            </a:extLst>
          </p:cNvPr>
          <p:cNvSpPr>
            <a:spLocks noGrp="1"/>
          </p:cNvSpPr>
          <p:nvPr>
            <p:ph type="dt" sz="half" idx="10"/>
          </p:nvPr>
        </p:nvSpPr>
        <p:spPr/>
        <p:txBody>
          <a:bodyPr/>
          <a:lstStyle/>
          <a:p>
            <a:fld id="{A143DE9B-B678-4EFB-BB7D-A4370204A0B0}" type="datetime1">
              <a:rPr lang="en-US" smtClean="0"/>
              <a:t>4/23/2025</a:t>
            </a:fld>
            <a:endParaRPr lang="en-US" dirty="0"/>
          </a:p>
        </p:txBody>
      </p:sp>
      <p:sp>
        <p:nvSpPr>
          <p:cNvPr id="4" name="Footer Placeholder 3">
            <a:extLst>
              <a:ext uri="{FF2B5EF4-FFF2-40B4-BE49-F238E27FC236}">
                <a16:creationId xmlns:a16="http://schemas.microsoft.com/office/drawing/2014/main" id="{04E947BB-8C48-C912-4160-E82CD50DEFE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75B279BB-044E-6FA4-ECE3-148243B7B6A6}"/>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446060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839B6A-E344-5C0B-BBAB-962FA99DE369}"/>
              </a:ext>
            </a:extLst>
          </p:cNvPr>
          <p:cNvSpPr>
            <a:spLocks noGrp="1"/>
          </p:cNvSpPr>
          <p:nvPr>
            <p:ph type="dt" sz="half" idx="10"/>
          </p:nvPr>
        </p:nvSpPr>
        <p:spPr/>
        <p:txBody>
          <a:bodyPr/>
          <a:lstStyle/>
          <a:p>
            <a:fld id="{E68812DA-F765-4142-A6A3-A8ED7235E082}" type="datetime1">
              <a:rPr lang="en-US" smtClean="0"/>
              <a:t>4/23/2025</a:t>
            </a:fld>
            <a:endParaRPr lang="en-US" dirty="0"/>
          </a:p>
        </p:txBody>
      </p:sp>
      <p:sp>
        <p:nvSpPr>
          <p:cNvPr id="3" name="Footer Placeholder 2">
            <a:extLst>
              <a:ext uri="{FF2B5EF4-FFF2-40B4-BE49-F238E27FC236}">
                <a16:creationId xmlns:a16="http://schemas.microsoft.com/office/drawing/2014/main" id="{AE083FF4-A3BF-471D-4823-D04E2BDFD46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F1FCE28D-8218-F8CE-DAE8-1CE260C08DF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28400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D615C-3643-7E6B-4AEB-E3E96FD515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08F9A298-8AE7-D9B2-314E-B81629F7F7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08470A29-A638-8A78-1220-1420E54CC2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01A2FD-632A-FCF0-CFF7-4AFBBD0D61AC}"/>
              </a:ext>
            </a:extLst>
          </p:cNvPr>
          <p:cNvSpPr>
            <a:spLocks noGrp="1"/>
          </p:cNvSpPr>
          <p:nvPr>
            <p:ph type="dt" sz="half" idx="10"/>
          </p:nvPr>
        </p:nvSpPr>
        <p:spPr/>
        <p:txBody>
          <a:bodyPr/>
          <a:lstStyle/>
          <a:p>
            <a:fld id="{3E0277FD-7DE6-41D4-930D-AC99F5AFE54E}" type="datetime1">
              <a:rPr lang="en-US" smtClean="0"/>
              <a:t>4/23/2025</a:t>
            </a:fld>
            <a:endParaRPr lang="en-US" dirty="0"/>
          </a:p>
        </p:txBody>
      </p:sp>
      <p:sp>
        <p:nvSpPr>
          <p:cNvPr id="6" name="Footer Placeholder 5">
            <a:extLst>
              <a:ext uri="{FF2B5EF4-FFF2-40B4-BE49-F238E27FC236}">
                <a16:creationId xmlns:a16="http://schemas.microsoft.com/office/drawing/2014/main" id="{401C9B20-7DFD-CFB7-A9A7-E6447924550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93E9245-BD02-B58E-1FA5-81571D187AAF}"/>
              </a:ext>
            </a:extLst>
          </p:cNvPr>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249526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ABC07-1CA5-2050-18D0-C8DD52050B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048F8B63-200C-4FBC-2054-8C97255D96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F8F30FD9-265A-179E-47CC-0692EB775B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6A4517-ACE5-C20D-506F-ECC64E7FCA81}"/>
              </a:ext>
            </a:extLst>
          </p:cNvPr>
          <p:cNvSpPr>
            <a:spLocks noGrp="1"/>
          </p:cNvSpPr>
          <p:nvPr>
            <p:ph type="dt" sz="half" idx="10"/>
          </p:nvPr>
        </p:nvSpPr>
        <p:spPr/>
        <p:txBody>
          <a:bodyPr/>
          <a:lstStyle/>
          <a:p>
            <a:fld id="{9EA15526-7079-4B7B-987C-1B5FAE11A0FF}" type="datetime1">
              <a:rPr lang="en-US" smtClean="0"/>
              <a:t>4/23/2025</a:t>
            </a:fld>
            <a:endParaRPr lang="en-US" dirty="0"/>
          </a:p>
        </p:txBody>
      </p:sp>
      <p:sp>
        <p:nvSpPr>
          <p:cNvPr id="6" name="Footer Placeholder 5">
            <a:extLst>
              <a:ext uri="{FF2B5EF4-FFF2-40B4-BE49-F238E27FC236}">
                <a16:creationId xmlns:a16="http://schemas.microsoft.com/office/drawing/2014/main" id="{B09876ED-ED18-EAA7-5301-03F84F959267}"/>
              </a:ext>
            </a:extLst>
          </p:cNvPr>
          <p:cNvSpPr>
            <a:spLocks noGrp="1"/>
          </p:cNvSpPr>
          <p:nvPr>
            <p:ph type="ftr" sz="quarter" idx="11"/>
          </p:nvPr>
        </p:nvSpPr>
        <p:spPr/>
        <p:txBody>
          <a:bodyPr/>
          <a:lstStyle/>
          <a:p>
            <a:pPr algn="l"/>
            <a:endParaRPr lang="en-US" dirty="0"/>
          </a:p>
        </p:txBody>
      </p:sp>
      <p:sp>
        <p:nvSpPr>
          <p:cNvPr id="7" name="Slide Number Placeholder 6">
            <a:extLst>
              <a:ext uri="{FF2B5EF4-FFF2-40B4-BE49-F238E27FC236}">
                <a16:creationId xmlns:a16="http://schemas.microsoft.com/office/drawing/2014/main" id="{9B36D671-316B-11E5-1586-F3D4AD38F34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34059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EC718-6881-DD08-160A-25D605501F9B}"/>
              </a:ext>
            </a:extLst>
          </p:cNvPr>
          <p:cNvSpPr>
            <a:spLocks noGrp="1"/>
          </p:cNvSpPr>
          <p:nvPr>
            <p:ph type="title"/>
          </p:nvPr>
        </p:nvSpPr>
        <p:spPr/>
        <p:txBody>
          <a:bodyPr/>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CEA1CBE3-BCA9-2AB3-CCB7-71D2E8DD98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FFCD1952-6952-78B9-31C7-30CF67DBE107}"/>
              </a:ext>
            </a:extLst>
          </p:cNvPr>
          <p:cNvSpPr>
            <a:spLocks noGrp="1"/>
          </p:cNvSpPr>
          <p:nvPr>
            <p:ph type="dt" sz="half" idx="10"/>
          </p:nvPr>
        </p:nvSpPr>
        <p:spPr/>
        <p:txBody>
          <a:bodyPr/>
          <a:lstStyle/>
          <a:p>
            <a:fld id="{073ED0CC-082F-4160-86E5-0D6041F12778}" type="datetime1">
              <a:rPr lang="en-US" smtClean="0"/>
              <a:t>4/23/2025</a:t>
            </a:fld>
            <a:endParaRPr lang="en-US" dirty="0"/>
          </a:p>
        </p:txBody>
      </p:sp>
      <p:sp>
        <p:nvSpPr>
          <p:cNvPr id="5" name="Footer Placeholder 4">
            <a:extLst>
              <a:ext uri="{FF2B5EF4-FFF2-40B4-BE49-F238E27FC236}">
                <a16:creationId xmlns:a16="http://schemas.microsoft.com/office/drawing/2014/main" id="{0E657E76-F82E-75C3-4556-AAA9A5334B3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25471DA-3152-4BBE-16F7-DF08D65C90FA}"/>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2578240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D08075-2C2B-5452-4830-547E405B6F3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1A39AFA0-68B8-1D1D-D327-A362FDD27C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DDC259B6-B220-F819-C6CD-DB253DEA2911}"/>
              </a:ext>
            </a:extLst>
          </p:cNvPr>
          <p:cNvSpPr>
            <a:spLocks noGrp="1"/>
          </p:cNvSpPr>
          <p:nvPr>
            <p:ph type="dt" sz="half" idx="10"/>
          </p:nvPr>
        </p:nvSpPr>
        <p:spPr/>
        <p:txBody>
          <a:bodyPr/>
          <a:lstStyle/>
          <a:p>
            <a:fld id="{073ED0CC-082F-4160-86E5-0D6041F12778}" type="datetime1">
              <a:rPr lang="en-US" smtClean="0"/>
              <a:t>4/23/2025</a:t>
            </a:fld>
            <a:endParaRPr lang="en-US" dirty="0"/>
          </a:p>
        </p:txBody>
      </p:sp>
      <p:sp>
        <p:nvSpPr>
          <p:cNvPr id="5" name="Footer Placeholder 4">
            <a:extLst>
              <a:ext uri="{FF2B5EF4-FFF2-40B4-BE49-F238E27FC236}">
                <a16:creationId xmlns:a16="http://schemas.microsoft.com/office/drawing/2014/main" id="{44E49A06-06AE-C8B0-8E15-FDE3D88014F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348CBBF-BBC9-752C-C5B3-78509ED2681B}"/>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81464873"/>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B70B52-852D-B172-1C90-7340183C47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1565D691-5248-F160-B3AE-F755F272CE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0F78DA69-2975-4698-6E3E-B108566EF6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3ED0CC-082F-4160-86E5-0D6041F12778}" type="datetime1">
              <a:rPr lang="en-US" smtClean="0"/>
              <a:t>4/23/2025</a:t>
            </a:fld>
            <a:endParaRPr lang="en-US" dirty="0"/>
          </a:p>
        </p:txBody>
      </p:sp>
      <p:sp>
        <p:nvSpPr>
          <p:cNvPr id="5" name="Footer Placeholder 4">
            <a:extLst>
              <a:ext uri="{FF2B5EF4-FFF2-40B4-BE49-F238E27FC236}">
                <a16:creationId xmlns:a16="http://schemas.microsoft.com/office/drawing/2014/main" id="{FCF4C229-3E95-5173-BA5F-99A869AEF8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2CE5FAD2-6F44-FF92-942B-BB59884051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2499967750"/>
      </p:ext>
    </p:extLst>
  </p:cSld>
  <p:clrMap bg1="lt1" tx1="dk1" bg2="lt2" tx2="dk2" accent1="accent1" accent2="accent2" accent3="accent3" accent4="accent4" accent5="accent5" accent6="accent6" hlink="hlink" folHlink="folHlink"/>
  <p:sldLayoutIdLst>
    <p:sldLayoutId id="2147483968" r:id="rId1"/>
    <p:sldLayoutId id="2147483969" r:id="rId2"/>
    <p:sldLayoutId id="2147483970" r:id="rId3"/>
    <p:sldLayoutId id="2147483971" r:id="rId4"/>
    <p:sldLayoutId id="2147483972" r:id="rId5"/>
    <p:sldLayoutId id="2147483973" r:id="rId6"/>
    <p:sldLayoutId id="2147483974" r:id="rId7"/>
    <p:sldLayoutId id="2147483975" r:id="rId8"/>
    <p:sldLayoutId id="2147483976" r:id="rId9"/>
    <p:sldLayoutId id="2147483977" r:id="rId10"/>
    <p:sldLayoutId id="2147483978"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picture containing large, sitting, white, numbers">
            <a:extLst>
              <a:ext uri="{FF2B5EF4-FFF2-40B4-BE49-F238E27FC236}">
                <a16:creationId xmlns:a16="http://schemas.microsoft.com/office/drawing/2014/main" id="{9A5D9ED1-DFCC-4799-89E2-D118451B98DF}"/>
              </a:ext>
            </a:extLst>
          </p:cNvPr>
          <p:cNvPicPr>
            <a:picLocks noChangeAspect="1"/>
          </p:cNvPicPr>
          <p:nvPr/>
        </p:nvPicPr>
        <p:blipFill rotWithShape="1">
          <a:blip r:embed="rId2">
            <a:extLst>
              <a:ext uri="{28A0092B-C50C-407E-A947-70E740481C1C}">
                <a14:useLocalDpi xmlns:a14="http://schemas.microsoft.com/office/drawing/2010/main" val="0"/>
              </a:ext>
            </a:extLst>
          </a:blip>
          <a:srcRect l="3288" r="17401"/>
          <a:stretch/>
        </p:blipFill>
        <p:spPr>
          <a:xfrm>
            <a:off x="2519309" y="10"/>
            <a:ext cx="9669642" cy="6857990"/>
          </a:xfrm>
          <a:prstGeom prst="rect">
            <a:avLst/>
          </a:prstGeom>
        </p:spPr>
      </p:pic>
      <p:sp>
        <p:nvSpPr>
          <p:cNvPr id="26" name="Rectangle 25">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952227" y="4988560"/>
            <a:ext cx="3973386" cy="1125993"/>
          </a:xfrm>
          <a:noFill/>
        </p:spPr>
        <p:txBody>
          <a:bodyPr>
            <a:normAutofit/>
          </a:bodyPr>
          <a:lstStyle/>
          <a:p>
            <a:pPr algn="l"/>
            <a:r>
              <a:rPr lang="en-US" dirty="0"/>
              <a:t>prof. Tatyana Petrushina</a:t>
            </a:r>
          </a:p>
          <a:p>
            <a:pPr algn="l"/>
            <a:r>
              <a:rPr lang="en-US" dirty="0"/>
              <a:t>2023-2024</a:t>
            </a:r>
          </a:p>
        </p:txBody>
      </p:sp>
      <p:sp>
        <p:nvSpPr>
          <p:cNvPr id="4" name="Text Box 6">
            <a:extLst>
              <a:ext uri="{FF2B5EF4-FFF2-40B4-BE49-F238E27FC236}">
                <a16:creationId xmlns:a16="http://schemas.microsoft.com/office/drawing/2014/main" id="{F6B07DD9-EEAF-A4E1-A464-BDB22E16B24F}"/>
              </a:ext>
            </a:extLst>
          </p:cNvPr>
          <p:cNvSpPr txBox="1">
            <a:spLocks noChangeArrowheads="1"/>
          </p:cNvSpPr>
          <p:nvPr/>
        </p:nvSpPr>
        <p:spPr bwMode="auto">
          <a:xfrm>
            <a:off x="3195873" y="6329501"/>
            <a:ext cx="612140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fontAlgn="base">
              <a:spcBef>
                <a:spcPct val="50000"/>
              </a:spcBef>
              <a:spcAft>
                <a:spcPct val="0"/>
              </a:spcAft>
              <a:buFontTx/>
              <a:buNone/>
            </a:pPr>
            <a:r>
              <a:rPr lang="en-US" altLang="ru-RU" sz="1600" b="1" dirty="0">
                <a:solidFill>
                  <a:srgbClr val="1F497D"/>
                </a:solidFill>
                <a:cs typeface="Arial" panose="020B0604020202020204" pitchFamily="34" charset="0"/>
              </a:rPr>
              <a:t>Odesa I. I. </a:t>
            </a:r>
            <a:r>
              <a:rPr lang="en-US" altLang="ru-RU" sz="1600" b="1" dirty="0" err="1">
                <a:solidFill>
                  <a:srgbClr val="1F497D"/>
                </a:solidFill>
                <a:cs typeface="Arial" panose="020B0604020202020204" pitchFamily="34" charset="0"/>
              </a:rPr>
              <a:t>Mechnikov</a:t>
            </a:r>
            <a:r>
              <a:rPr lang="en-US" altLang="ru-RU" sz="1600" b="1" dirty="0">
                <a:solidFill>
                  <a:srgbClr val="1F497D"/>
                </a:solidFill>
                <a:cs typeface="Arial" panose="020B0604020202020204" pitchFamily="34" charset="0"/>
              </a:rPr>
              <a:t> National University</a:t>
            </a:r>
            <a:endParaRPr lang="ru-RU" altLang="ru-RU" sz="1600" b="1" dirty="0">
              <a:solidFill>
                <a:srgbClr val="1F497D"/>
              </a:solidFill>
              <a:cs typeface="Arial" panose="020B0604020202020204" pitchFamily="34" charset="0"/>
            </a:endParaRPr>
          </a:p>
        </p:txBody>
      </p:sp>
      <p:sp>
        <p:nvSpPr>
          <p:cNvPr id="10" name="Title 9">
            <a:extLst>
              <a:ext uri="{FF2B5EF4-FFF2-40B4-BE49-F238E27FC236}">
                <a16:creationId xmlns:a16="http://schemas.microsoft.com/office/drawing/2014/main" id="{79CAD4ED-813A-1542-FC7C-70F3E777D22A}"/>
              </a:ext>
            </a:extLst>
          </p:cNvPr>
          <p:cNvSpPr>
            <a:spLocks noGrp="1"/>
          </p:cNvSpPr>
          <p:nvPr>
            <p:ph type="ctrTitle"/>
          </p:nvPr>
        </p:nvSpPr>
        <p:spPr>
          <a:xfrm>
            <a:off x="0" y="604436"/>
            <a:ext cx="6004560" cy="2560319"/>
          </a:xfrm>
        </p:spPr>
        <p:txBody>
          <a:bodyPr>
            <a:normAutofit/>
          </a:bodyPr>
          <a:lstStyle/>
          <a:p>
            <a:r>
              <a:rPr lang="ru-RU" sz="5400" b="1" dirty="0"/>
              <a:t>Интеллектуальный анализ данных</a:t>
            </a:r>
            <a:br>
              <a:rPr lang="en-US" sz="5400" b="1" dirty="0"/>
            </a:br>
            <a:r>
              <a:rPr lang="ru-RU" sz="5400" b="1" dirty="0"/>
              <a:t> </a:t>
            </a:r>
            <a:r>
              <a:rPr lang="en-US" sz="5400" b="1" dirty="0"/>
              <a:t>Data Mining</a:t>
            </a:r>
            <a:endParaRPr lang="LID4096" sz="5400" b="1" dirty="0"/>
          </a:p>
        </p:txBody>
      </p:sp>
      <p:sp>
        <p:nvSpPr>
          <p:cNvPr id="12" name="TextBox 11">
            <a:extLst>
              <a:ext uri="{FF2B5EF4-FFF2-40B4-BE49-F238E27FC236}">
                <a16:creationId xmlns:a16="http://schemas.microsoft.com/office/drawing/2014/main" id="{A2D5CC7E-8C57-4CF5-E5DA-F6E4D6E90DF4}"/>
              </a:ext>
            </a:extLst>
          </p:cNvPr>
          <p:cNvSpPr txBox="1"/>
          <p:nvPr/>
        </p:nvSpPr>
        <p:spPr>
          <a:xfrm>
            <a:off x="552543" y="3460194"/>
            <a:ext cx="6004561" cy="369332"/>
          </a:xfrm>
          <a:prstGeom prst="rect">
            <a:avLst/>
          </a:prstGeom>
          <a:noFill/>
        </p:spPr>
        <p:txBody>
          <a:bodyPr wrap="square">
            <a:spAutoFit/>
          </a:bodyPr>
          <a:lstStyle/>
          <a:p>
            <a:r>
              <a:rPr lang="ru-RU" sz="1800" b="1" dirty="0"/>
              <a:t>Умные методы получения паттернов данных</a:t>
            </a:r>
            <a:r>
              <a:rPr lang="en-US" sz="1800" b="1" dirty="0">
                <a:solidFill>
                  <a:schemeClr val="tx2"/>
                </a:solidFill>
              </a:rPr>
              <a:t> </a:t>
            </a:r>
            <a:endParaRPr lang="LID4096" dirty="0"/>
          </a:p>
        </p:txBody>
      </p:sp>
    </p:spTree>
    <p:extLst>
      <p:ext uri="{BB962C8B-B14F-4D97-AF65-F5344CB8AC3E}">
        <p14:creationId xmlns:p14="http://schemas.microsoft.com/office/powerpoint/2010/main" val="1583120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D2B266D-3625-4584-A5C3-7D3F672CF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463B99A-73EE-4FBB-B7C4-F9F9BCC25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A5D2A5D1-BA0D-47D3-B051-DA7743C46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219825"/>
          </a:xfrm>
          <a:custGeom>
            <a:avLst/>
            <a:gdLst>
              <a:gd name="connsiteX0" fmla="*/ 6789701 w 12192000"/>
              <a:gd name="connsiteY0" fmla="*/ 6151588 h 6219825"/>
              <a:gd name="connsiteX1" fmla="*/ 6788702 w 12192000"/>
              <a:gd name="connsiteY1" fmla="*/ 6151666 h 6219825"/>
              <a:gd name="connsiteX2" fmla="*/ 6788476 w 12192000"/>
              <a:gd name="connsiteY2" fmla="*/ 6152200 h 6219825"/>
              <a:gd name="connsiteX3" fmla="*/ 9834 w 12192000"/>
              <a:gd name="connsiteY3" fmla="*/ 0 h 6219825"/>
              <a:gd name="connsiteX4" fmla="*/ 12357 w 12192000"/>
              <a:gd name="connsiteY4" fmla="*/ 1 h 6219825"/>
              <a:gd name="connsiteX5" fmla="*/ 12192000 w 12192000"/>
              <a:gd name="connsiteY5" fmla="*/ 1 h 6219825"/>
              <a:gd name="connsiteX6" fmla="*/ 12192000 w 12192000"/>
              <a:gd name="connsiteY6" fmla="*/ 5105401 h 6219825"/>
              <a:gd name="connsiteX7" fmla="*/ 12191716 w 12192000"/>
              <a:gd name="connsiteY7" fmla="*/ 5105401 h 6219825"/>
              <a:gd name="connsiteX8" fmla="*/ 12192000 w 12192000"/>
              <a:gd name="connsiteY8" fmla="*/ 5256977 h 6219825"/>
              <a:gd name="connsiteX9" fmla="*/ 12061096 w 12192000"/>
              <a:gd name="connsiteY9" fmla="*/ 5296034 h 6219825"/>
              <a:gd name="connsiteX10" fmla="*/ 11676800 w 12192000"/>
              <a:gd name="connsiteY10" fmla="*/ 5399652 h 6219825"/>
              <a:gd name="connsiteX11" fmla="*/ 10425355 w 12192000"/>
              <a:gd name="connsiteY11" fmla="*/ 5683310 h 6219825"/>
              <a:gd name="connsiteX12" fmla="*/ 9424022 w 12192000"/>
              <a:gd name="connsiteY12" fmla="*/ 5858546 h 6219825"/>
              <a:gd name="connsiteX13" fmla="*/ 8458419 w 12192000"/>
              <a:gd name="connsiteY13" fmla="*/ 5992303 h 6219825"/>
              <a:gd name="connsiteX14" fmla="*/ 7715970 w 12192000"/>
              <a:gd name="connsiteY14" fmla="*/ 6072283 h 6219825"/>
              <a:gd name="connsiteX15" fmla="*/ 6951716 w 12192000"/>
              <a:gd name="connsiteY15" fmla="*/ 6138091 h 6219825"/>
              <a:gd name="connsiteX16" fmla="*/ 6936303 w 12192000"/>
              <a:gd name="connsiteY16" fmla="*/ 6140163 h 6219825"/>
              <a:gd name="connsiteX17" fmla="*/ 6790448 w 12192000"/>
              <a:gd name="connsiteY17" fmla="*/ 6151529 h 6219825"/>
              <a:gd name="connsiteX18" fmla="*/ 6799941 w 12192000"/>
              <a:gd name="connsiteY18" fmla="*/ 6153349 h 6219825"/>
              <a:gd name="connsiteX19" fmla="*/ 6835432 w 12192000"/>
              <a:gd name="connsiteY19" fmla="*/ 6151642 h 6219825"/>
              <a:gd name="connsiteX20" fmla="*/ 6884003 w 12192000"/>
              <a:gd name="connsiteY20" fmla="*/ 6148662 h 6219825"/>
              <a:gd name="connsiteX21" fmla="*/ 7578771 w 12192000"/>
              <a:gd name="connsiteY21" fmla="*/ 6116122 h 6219825"/>
              <a:gd name="connsiteX22" fmla="*/ 8623845 w 12192000"/>
              <a:gd name="connsiteY22" fmla="*/ 6029188 h 6219825"/>
              <a:gd name="connsiteX23" fmla="*/ 9479970 w 12192000"/>
              <a:gd name="connsiteY23" fmla="*/ 5925239 h 6219825"/>
              <a:gd name="connsiteX24" fmla="*/ 10629308 w 12192000"/>
              <a:gd name="connsiteY24" fmla="*/ 5731000 h 6219825"/>
              <a:gd name="connsiteX25" fmla="*/ 11998498 w 12192000"/>
              <a:gd name="connsiteY25" fmla="*/ 5404869 h 6219825"/>
              <a:gd name="connsiteX26" fmla="*/ 12192000 w 12192000"/>
              <a:gd name="connsiteY26" fmla="*/ 5347846 h 6219825"/>
              <a:gd name="connsiteX27" fmla="*/ 12192000 w 12192000"/>
              <a:gd name="connsiteY27" fmla="*/ 5402606 h 6219825"/>
              <a:gd name="connsiteX28" fmla="*/ 11829257 w 12192000"/>
              <a:gd name="connsiteY28" fmla="*/ 5507950 h 6219825"/>
              <a:gd name="connsiteX29" fmla="*/ 10939183 w 12192000"/>
              <a:gd name="connsiteY29" fmla="*/ 5722555 h 6219825"/>
              <a:gd name="connsiteX30" fmla="*/ 9985530 w 12192000"/>
              <a:gd name="connsiteY30" fmla="*/ 5902635 h 6219825"/>
              <a:gd name="connsiteX31" fmla="*/ 9186882 w 12192000"/>
              <a:gd name="connsiteY31" fmla="*/ 6018631 h 6219825"/>
              <a:gd name="connsiteX32" fmla="*/ 8578198 w 12192000"/>
              <a:gd name="connsiteY32" fmla="*/ 6088179 h 6219825"/>
              <a:gd name="connsiteX33" fmla="*/ 7864358 w 12192000"/>
              <a:gd name="connsiteY33" fmla="*/ 6149656 h 6219825"/>
              <a:gd name="connsiteX34" fmla="*/ 6935502 w 12192000"/>
              <a:gd name="connsiteY34" fmla="*/ 6201071 h 6219825"/>
              <a:gd name="connsiteX35" fmla="*/ 6477750 w 12192000"/>
              <a:gd name="connsiteY35" fmla="*/ 6214980 h 6219825"/>
              <a:gd name="connsiteX36" fmla="*/ 6362294 w 12192000"/>
              <a:gd name="connsiteY36" fmla="*/ 6219825 h 6219825"/>
              <a:gd name="connsiteX37" fmla="*/ 6057129 w 12192000"/>
              <a:gd name="connsiteY37" fmla="*/ 6219825 h 6219825"/>
              <a:gd name="connsiteX38" fmla="*/ 5977784 w 12192000"/>
              <a:gd name="connsiteY38" fmla="*/ 6215229 h 6219825"/>
              <a:gd name="connsiteX39" fmla="*/ 5265087 w 12192000"/>
              <a:gd name="connsiteY39" fmla="*/ 6178965 h 6219825"/>
              <a:gd name="connsiteX40" fmla="*/ 4346277 w 12192000"/>
              <a:gd name="connsiteY40" fmla="*/ 6116869 h 6219825"/>
              <a:gd name="connsiteX41" fmla="*/ 3373045 w 12192000"/>
              <a:gd name="connsiteY41" fmla="*/ 6018259 h 6219825"/>
              <a:gd name="connsiteX42" fmla="*/ 2362173 w 12192000"/>
              <a:gd name="connsiteY42" fmla="*/ 5899282 h 6219825"/>
              <a:gd name="connsiteX43" fmla="*/ 1233178 w 12192000"/>
              <a:gd name="connsiteY43" fmla="*/ 5726033 h 6219825"/>
              <a:gd name="connsiteX44" fmla="*/ 68500 w 12192000"/>
              <a:gd name="connsiteY44" fmla="*/ 5486226 h 6219825"/>
              <a:gd name="connsiteX45" fmla="*/ 0 w 12192000"/>
              <a:gd name="connsiteY45" fmla="*/ 5468863 h 6219825"/>
              <a:gd name="connsiteX46" fmla="*/ 0 w 12192000"/>
              <a:gd name="connsiteY46" fmla="*/ 5412351 h 6219825"/>
              <a:gd name="connsiteX47" fmla="*/ 72441 w 12192000"/>
              <a:gd name="connsiteY47" fmla="*/ 5431135 h 6219825"/>
              <a:gd name="connsiteX48" fmla="*/ 600716 w 12192000"/>
              <a:gd name="connsiteY48" fmla="*/ 5549555 h 6219825"/>
              <a:gd name="connsiteX49" fmla="*/ 1769512 w 12192000"/>
              <a:gd name="connsiteY49" fmla="*/ 5759811 h 6219825"/>
              <a:gd name="connsiteX50" fmla="*/ 2613554 w 12192000"/>
              <a:gd name="connsiteY50" fmla="*/ 5876802 h 6219825"/>
              <a:gd name="connsiteX51" fmla="*/ 2581134 w 12192000"/>
              <a:gd name="connsiteY51" fmla="*/ 5866867 h 6219825"/>
              <a:gd name="connsiteX52" fmla="*/ 1112635 w 12192000"/>
              <a:gd name="connsiteY52" fmla="*/ 5534031 h 6219825"/>
              <a:gd name="connsiteX53" fmla="*/ 420412 w 12192000"/>
              <a:gd name="connsiteY53" fmla="*/ 5334514 h 6219825"/>
              <a:gd name="connsiteX54" fmla="*/ 0 w 12192000"/>
              <a:gd name="connsiteY54" fmla="*/ 5195539 h 6219825"/>
              <a:gd name="connsiteX55" fmla="*/ 60 w 12192000"/>
              <a:gd name="connsiteY55" fmla="*/ 5105401 h 6219825"/>
              <a:gd name="connsiteX56" fmla="*/ 0 w 12192000"/>
              <a:gd name="connsiteY56" fmla="*/ 5105401 h 6219825"/>
              <a:gd name="connsiteX57" fmla="*/ 0 w 12192000"/>
              <a:gd name="connsiteY57" fmla="*/ 1 h 6219825"/>
              <a:gd name="connsiteX58" fmla="*/ 9834 w 12192000"/>
              <a:gd name="connsiteY58" fmla="*/ 1 h 621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2192000" h="6219825">
                <a:moveTo>
                  <a:pt x="6789701" y="6151588"/>
                </a:moveTo>
                <a:lnTo>
                  <a:pt x="6788702" y="6151666"/>
                </a:lnTo>
                <a:cubicBezTo>
                  <a:pt x="6788627" y="6151844"/>
                  <a:pt x="6788551" y="6152022"/>
                  <a:pt x="6788476" y="6152200"/>
                </a:cubicBezTo>
                <a:close/>
                <a:moveTo>
                  <a:pt x="9834" y="0"/>
                </a:moveTo>
                <a:lnTo>
                  <a:pt x="12357" y="1"/>
                </a:lnTo>
                <a:lnTo>
                  <a:pt x="12192000" y="1"/>
                </a:lnTo>
                <a:lnTo>
                  <a:pt x="12192000" y="5105401"/>
                </a:lnTo>
                <a:lnTo>
                  <a:pt x="12191716" y="5105401"/>
                </a:lnTo>
                <a:lnTo>
                  <a:pt x="12192000" y="5256977"/>
                </a:lnTo>
                <a:lnTo>
                  <a:pt x="12061096" y="5296034"/>
                </a:lnTo>
                <a:cubicBezTo>
                  <a:pt x="11933500" y="5332263"/>
                  <a:pt x="11805390" y="5366806"/>
                  <a:pt x="11676800" y="5399652"/>
                </a:cubicBezTo>
                <a:cubicBezTo>
                  <a:pt x="11262789" y="5507204"/>
                  <a:pt x="10845343" y="5600846"/>
                  <a:pt x="10425355" y="5683310"/>
                </a:cubicBezTo>
                <a:cubicBezTo>
                  <a:pt x="10092810" y="5748549"/>
                  <a:pt x="9759033" y="5806970"/>
                  <a:pt x="9424022" y="5858546"/>
                </a:cubicBezTo>
                <a:cubicBezTo>
                  <a:pt x="9102997" y="5908224"/>
                  <a:pt x="8781133" y="5952809"/>
                  <a:pt x="8458419" y="5992303"/>
                </a:cubicBezTo>
                <a:cubicBezTo>
                  <a:pt x="8211360" y="6022481"/>
                  <a:pt x="7963792" y="6048065"/>
                  <a:pt x="7715970" y="6072283"/>
                </a:cubicBezTo>
                <a:lnTo>
                  <a:pt x="6951716" y="6138091"/>
                </a:lnTo>
                <a:lnTo>
                  <a:pt x="6936303" y="6140163"/>
                </a:lnTo>
                <a:lnTo>
                  <a:pt x="6790448" y="6151529"/>
                </a:lnTo>
                <a:lnTo>
                  <a:pt x="6799941" y="6153349"/>
                </a:lnTo>
                <a:cubicBezTo>
                  <a:pt x="6811623" y="6153816"/>
                  <a:pt x="6823734" y="6151642"/>
                  <a:pt x="6835432" y="6151642"/>
                </a:cubicBezTo>
                <a:cubicBezTo>
                  <a:pt x="6851580" y="6151642"/>
                  <a:pt x="6867729" y="6149034"/>
                  <a:pt x="6884003" y="6148662"/>
                </a:cubicBezTo>
                <a:cubicBezTo>
                  <a:pt x="7115805" y="6143198"/>
                  <a:pt x="7347351" y="6131026"/>
                  <a:pt x="7578771" y="6116122"/>
                </a:cubicBezTo>
                <a:cubicBezTo>
                  <a:pt x="7927552" y="6093644"/>
                  <a:pt x="8276080" y="6065453"/>
                  <a:pt x="8623845" y="6029188"/>
                </a:cubicBezTo>
                <a:cubicBezTo>
                  <a:pt x="8909939" y="5999878"/>
                  <a:pt x="9195310" y="5965228"/>
                  <a:pt x="9479970" y="5925239"/>
                </a:cubicBezTo>
                <a:cubicBezTo>
                  <a:pt x="9864901" y="5870842"/>
                  <a:pt x="10248014" y="5806101"/>
                  <a:pt x="10629308" y="5731000"/>
                </a:cubicBezTo>
                <a:cubicBezTo>
                  <a:pt x="11090114" y="5639842"/>
                  <a:pt x="11546975" y="5532291"/>
                  <a:pt x="11998498" y="5404869"/>
                </a:cubicBezTo>
                <a:lnTo>
                  <a:pt x="12192000" y="5347846"/>
                </a:lnTo>
                <a:lnTo>
                  <a:pt x="12192000" y="5402606"/>
                </a:lnTo>
                <a:lnTo>
                  <a:pt x="11829257" y="5507950"/>
                </a:lnTo>
                <a:cubicBezTo>
                  <a:pt x="11534769" y="5587680"/>
                  <a:pt x="11238120" y="5658596"/>
                  <a:pt x="10939183" y="5722555"/>
                </a:cubicBezTo>
                <a:cubicBezTo>
                  <a:pt x="10622824" y="5790365"/>
                  <a:pt x="10304941" y="5850387"/>
                  <a:pt x="9985530" y="5902635"/>
                </a:cubicBezTo>
                <a:cubicBezTo>
                  <a:pt x="9720036" y="5946102"/>
                  <a:pt x="9453814" y="5984764"/>
                  <a:pt x="9186882" y="6018631"/>
                </a:cubicBezTo>
                <a:cubicBezTo>
                  <a:pt x="8984197" y="6044216"/>
                  <a:pt x="8781514" y="6068309"/>
                  <a:pt x="8578198" y="6088179"/>
                </a:cubicBezTo>
                <a:lnTo>
                  <a:pt x="7864358" y="6149656"/>
                </a:lnTo>
                <a:cubicBezTo>
                  <a:pt x="7554994" y="6172009"/>
                  <a:pt x="7245502" y="6189895"/>
                  <a:pt x="6935502" y="6201071"/>
                </a:cubicBezTo>
                <a:lnTo>
                  <a:pt x="6477750" y="6214980"/>
                </a:lnTo>
                <a:cubicBezTo>
                  <a:pt x="6439195" y="6212895"/>
                  <a:pt x="6400529" y="6214521"/>
                  <a:pt x="6362294" y="6219825"/>
                </a:cubicBezTo>
                <a:lnTo>
                  <a:pt x="6057129" y="6219825"/>
                </a:lnTo>
                <a:lnTo>
                  <a:pt x="5977784" y="6215229"/>
                </a:lnTo>
                <a:lnTo>
                  <a:pt x="5265087" y="6178965"/>
                </a:lnTo>
                <a:cubicBezTo>
                  <a:pt x="4958267" y="6166544"/>
                  <a:pt x="4651826" y="6146055"/>
                  <a:pt x="4346277" y="6116869"/>
                </a:cubicBezTo>
                <a:lnTo>
                  <a:pt x="3373045" y="6018259"/>
                </a:lnTo>
                <a:cubicBezTo>
                  <a:pt x="3035412" y="5983982"/>
                  <a:pt x="2698456" y="5944327"/>
                  <a:pt x="2362173" y="5899282"/>
                </a:cubicBezTo>
                <a:cubicBezTo>
                  <a:pt x="1984692" y="5849108"/>
                  <a:pt x="1608364" y="5791358"/>
                  <a:pt x="1233178" y="5726033"/>
                </a:cubicBezTo>
                <a:cubicBezTo>
                  <a:pt x="842181" y="5657291"/>
                  <a:pt x="453758" y="5578770"/>
                  <a:pt x="68500" y="5486226"/>
                </a:cubicBezTo>
                <a:lnTo>
                  <a:pt x="0" y="5468863"/>
                </a:lnTo>
                <a:lnTo>
                  <a:pt x="0" y="5412351"/>
                </a:lnTo>
                <a:lnTo>
                  <a:pt x="72441" y="5431135"/>
                </a:lnTo>
                <a:cubicBezTo>
                  <a:pt x="247961" y="5473331"/>
                  <a:pt x="424164" y="5512608"/>
                  <a:pt x="600716" y="5549555"/>
                </a:cubicBezTo>
                <a:cubicBezTo>
                  <a:pt x="988279" y="5630403"/>
                  <a:pt x="1378133" y="5699330"/>
                  <a:pt x="1769512" y="5759811"/>
                </a:cubicBezTo>
                <a:cubicBezTo>
                  <a:pt x="2052426" y="5803406"/>
                  <a:pt x="2335725" y="5843519"/>
                  <a:pt x="2613554" y="5876802"/>
                </a:cubicBezTo>
                <a:cubicBezTo>
                  <a:pt x="2605544" y="5879410"/>
                  <a:pt x="2594611" y="5869350"/>
                  <a:pt x="2581134" y="5866867"/>
                </a:cubicBezTo>
                <a:cubicBezTo>
                  <a:pt x="2087178" y="5774877"/>
                  <a:pt x="1597684" y="5663937"/>
                  <a:pt x="1112635" y="5534031"/>
                </a:cubicBezTo>
                <a:cubicBezTo>
                  <a:pt x="880453" y="5471934"/>
                  <a:pt x="649713" y="5405428"/>
                  <a:pt x="420412" y="5334514"/>
                </a:cubicBezTo>
                <a:lnTo>
                  <a:pt x="0" y="5195539"/>
                </a:lnTo>
                <a:lnTo>
                  <a:pt x="60" y="5105401"/>
                </a:lnTo>
                <a:lnTo>
                  <a:pt x="0" y="5105401"/>
                </a:lnTo>
                <a:lnTo>
                  <a:pt x="0" y="1"/>
                </a:lnTo>
                <a:lnTo>
                  <a:pt x="9834" y="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Рисунок 1" descr="A diagram of a question mark&#10;&#10;Description automatically generated">
            <a:extLst>
              <a:ext uri="{FF2B5EF4-FFF2-40B4-BE49-F238E27FC236}">
                <a16:creationId xmlns:a16="http://schemas.microsoft.com/office/drawing/2014/main" id="{B605C3F7-2E45-C260-ED89-DAB03FBDF853}"/>
              </a:ext>
            </a:extLst>
          </p:cNvPr>
          <p:cNvPicPr>
            <a:picLocks noGrp="1" noChangeAspect="1"/>
          </p:cNvPicPr>
          <p:nvPr>
            <p:ph idx="1"/>
          </p:nvPr>
        </p:nvPicPr>
        <p:blipFill>
          <a:blip r:embed="rId3"/>
          <a:stretch>
            <a:fillRect/>
          </a:stretch>
        </p:blipFill>
        <p:spPr>
          <a:xfrm>
            <a:off x="2047373" y="228600"/>
            <a:ext cx="8021054" cy="4953000"/>
          </a:xfrm>
          <a:prstGeom prst="rect">
            <a:avLst/>
          </a:prstGeom>
        </p:spPr>
      </p:pic>
    </p:spTree>
    <p:extLst>
      <p:ext uri="{BB962C8B-B14F-4D97-AF65-F5344CB8AC3E}">
        <p14:creationId xmlns:p14="http://schemas.microsoft.com/office/powerpoint/2010/main" val="2932914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41E64-466A-C244-EB25-8FF088B7B37A}"/>
              </a:ext>
            </a:extLst>
          </p:cNvPr>
          <p:cNvSpPr>
            <a:spLocks noGrp="1"/>
          </p:cNvSpPr>
          <p:nvPr>
            <p:ph type="title"/>
          </p:nvPr>
        </p:nvSpPr>
        <p:spPr>
          <a:xfrm>
            <a:off x="884498" y="314960"/>
            <a:ext cx="8206347" cy="589569"/>
          </a:xfrm>
        </p:spPr>
        <p:txBody>
          <a:bodyPr vert="horz" lIns="91440" tIns="45720" rIns="91440" bIns="45720" rtlCol="0" anchor="b">
            <a:normAutofit/>
          </a:bodyPr>
          <a:lstStyle/>
          <a:p>
            <a:r>
              <a:rPr lang="en-US" sz="3200" b="0" kern="1200" dirty="0" err="1">
                <a:solidFill>
                  <a:schemeClr val="tx1"/>
                </a:solidFill>
                <a:effectLst/>
                <a:latin typeface="+mj-lt"/>
                <a:ea typeface="+mj-ea"/>
                <a:cs typeface="+mj-cs"/>
              </a:rPr>
              <a:t>Задачи</a:t>
            </a:r>
            <a:r>
              <a:rPr lang="en-US" sz="3200" b="0" kern="1200" dirty="0">
                <a:solidFill>
                  <a:schemeClr val="tx1"/>
                </a:solidFill>
                <a:effectLst/>
                <a:latin typeface="+mj-lt"/>
                <a:ea typeface="+mj-ea"/>
                <a:cs typeface="+mj-cs"/>
              </a:rPr>
              <a:t> Data Mining. </a:t>
            </a:r>
            <a:r>
              <a:rPr lang="en-US" sz="3200" b="0" kern="1200" dirty="0" err="1">
                <a:solidFill>
                  <a:schemeClr val="tx1"/>
                </a:solidFill>
                <a:effectLst/>
                <a:latin typeface="+mj-lt"/>
                <a:ea typeface="+mj-ea"/>
                <a:cs typeface="+mj-cs"/>
              </a:rPr>
              <a:t>Кластеризация</a:t>
            </a:r>
            <a:endParaRPr lang="en-US" sz="3200" kern="1200" dirty="0">
              <a:solidFill>
                <a:schemeClr val="tx1"/>
              </a:solidFill>
              <a:latin typeface="+mj-lt"/>
              <a:ea typeface="+mj-ea"/>
              <a:cs typeface="+mj-cs"/>
            </a:endParaRPr>
          </a:p>
        </p:txBody>
      </p:sp>
      <p:sp>
        <p:nvSpPr>
          <p:cNvPr id="6" name="TextBox 5">
            <a:extLst>
              <a:ext uri="{FF2B5EF4-FFF2-40B4-BE49-F238E27FC236}">
                <a16:creationId xmlns:a16="http://schemas.microsoft.com/office/drawing/2014/main" id="{3562D1F4-088D-9677-FD97-09B28372DF73}"/>
              </a:ext>
            </a:extLst>
          </p:cNvPr>
          <p:cNvSpPr txBox="1"/>
          <p:nvPr/>
        </p:nvSpPr>
        <p:spPr>
          <a:xfrm>
            <a:off x="508001" y="1097281"/>
            <a:ext cx="4236720" cy="5445760"/>
          </a:xfrm>
          <a:prstGeom prst="rect">
            <a:avLst/>
          </a:prstGeom>
        </p:spPr>
        <p:txBody>
          <a:bodyPr vert="horz" lIns="91440" tIns="45720" rIns="91440" bIns="45720" rtlCol="0" anchor="t">
            <a:normAutofit/>
          </a:bodyPr>
          <a:lstStyle/>
          <a:p>
            <a:pPr>
              <a:lnSpc>
                <a:spcPct val="90000"/>
              </a:lnSpc>
              <a:spcAft>
                <a:spcPts val="600"/>
              </a:spcAft>
            </a:pPr>
            <a:r>
              <a:rPr lang="ru-RU" sz="1400" b="1" i="0" dirty="0">
                <a:solidFill>
                  <a:srgbClr val="222222"/>
                </a:solidFill>
                <a:effectLst/>
                <a:latin typeface="Lora" pitchFamily="2" charset="0"/>
              </a:rPr>
              <a:t>Кластерный анализ (Data </a:t>
            </a:r>
            <a:r>
              <a:rPr lang="ru-RU" sz="1400" b="1" i="0" dirty="0" err="1">
                <a:solidFill>
                  <a:srgbClr val="222222"/>
                </a:solidFill>
                <a:effectLst/>
                <a:latin typeface="Lora" pitchFamily="2" charset="0"/>
              </a:rPr>
              <a:t>clustering</a:t>
            </a:r>
            <a:r>
              <a:rPr lang="ru-RU" sz="1400" b="1" i="0" dirty="0">
                <a:solidFill>
                  <a:srgbClr val="222222"/>
                </a:solidFill>
                <a:effectLst/>
                <a:latin typeface="Lora" pitchFamily="2" charset="0"/>
              </a:rPr>
              <a:t>)</a:t>
            </a:r>
            <a:r>
              <a:rPr lang="ru-RU" sz="1400" b="0" i="0" dirty="0">
                <a:solidFill>
                  <a:srgbClr val="222222"/>
                </a:solidFill>
                <a:effectLst/>
                <a:latin typeface="Lora" pitchFamily="2" charset="0"/>
              </a:rPr>
              <a:t> — задача разбиения заданной выборки данных (объектов) так, чтобы каждый кластер состоял из схожих объектов, а объекты разных кластеров значительно отличались друг от друга.</a:t>
            </a:r>
            <a:endParaRPr lang="ru-RU" sz="1400" b="1" i="0" dirty="0">
              <a:solidFill>
                <a:srgbClr val="222222"/>
              </a:solidFill>
              <a:effectLst/>
              <a:latin typeface="Lora" pitchFamily="2" charset="0"/>
            </a:endParaRPr>
          </a:p>
          <a:p>
            <a:pPr>
              <a:lnSpc>
                <a:spcPct val="90000"/>
              </a:lnSpc>
              <a:spcAft>
                <a:spcPts val="600"/>
              </a:spcAft>
            </a:pPr>
            <a:r>
              <a:rPr lang="ru-RU" sz="1400" b="1" i="0" dirty="0">
                <a:solidFill>
                  <a:srgbClr val="222222"/>
                </a:solidFill>
                <a:effectLst/>
                <a:latin typeface="Lora" pitchFamily="2" charset="0"/>
              </a:rPr>
              <a:t>Задача кластеризации:</a:t>
            </a:r>
            <a:r>
              <a:rPr lang="ru-RU" sz="1400" b="0" i="0" dirty="0">
                <a:solidFill>
                  <a:srgbClr val="222222"/>
                </a:solidFill>
                <a:effectLst/>
                <a:latin typeface="Lora" pitchFamily="2" charset="0"/>
              </a:rPr>
              <a:t> используя все имеющиеся данные, предсказать соответствие объектов выборки их классам, сформировав таким образом кластеры.</a:t>
            </a:r>
            <a:endParaRPr lang="en-US" sz="1300" dirty="0"/>
          </a:p>
          <a:p>
            <a:pPr>
              <a:lnSpc>
                <a:spcPct val="90000"/>
              </a:lnSpc>
              <a:spcAft>
                <a:spcPts val="600"/>
              </a:spcAft>
            </a:pPr>
            <a:r>
              <a:rPr lang="ru-RU" sz="1400" b="0" i="0" dirty="0">
                <a:solidFill>
                  <a:srgbClr val="222222"/>
                </a:solidFill>
                <a:effectLst/>
                <a:latin typeface="Lora" pitchFamily="2" charset="0"/>
              </a:rPr>
              <a:t>Кластеризацию применяют для анализа и поиска признаков по которым можно объединить объекты, сжатия данных и поиска новизны (что не входит ни в один кластер)</a:t>
            </a:r>
          </a:p>
          <a:p>
            <a:pPr>
              <a:lnSpc>
                <a:spcPct val="90000"/>
              </a:lnSpc>
              <a:spcAft>
                <a:spcPts val="600"/>
              </a:spcAft>
            </a:pPr>
            <a:endParaRPr lang="ru-RU" sz="1400" b="0" i="0" dirty="0">
              <a:solidFill>
                <a:srgbClr val="222222"/>
              </a:solidFill>
              <a:effectLst/>
              <a:latin typeface="Lora" pitchFamily="2" charset="0"/>
            </a:endParaRPr>
          </a:p>
          <a:p>
            <a:pPr>
              <a:lnSpc>
                <a:spcPct val="90000"/>
              </a:lnSpc>
              <a:spcAft>
                <a:spcPts val="600"/>
              </a:spcAft>
            </a:pPr>
            <a:r>
              <a:rPr lang="ru-RU" sz="1400" b="0" i="0" dirty="0">
                <a:solidFill>
                  <a:srgbClr val="222222"/>
                </a:solidFill>
                <a:effectLst/>
                <a:latin typeface="Lora" pitchFamily="2" charset="0"/>
              </a:rPr>
              <a:t>В чем отличие классификации и кластеризации: при классификации у вас есть набор предопределенных классов, вы учите машину на наборе примеров и потом хотите знать, к какому классу принадлежит новый объект. При кластеризации вы используете алгоритм, который пытается сгруппировать набор объектов и определить, существует ли какая-либо взаимосвязь между объектами, машина учится сама.</a:t>
            </a:r>
          </a:p>
        </p:txBody>
      </p:sp>
      <p:pic>
        <p:nvPicPr>
          <p:cNvPr id="7" name="Content Placeholder 6">
            <a:extLst>
              <a:ext uri="{FF2B5EF4-FFF2-40B4-BE49-F238E27FC236}">
                <a16:creationId xmlns:a16="http://schemas.microsoft.com/office/drawing/2014/main" id="{4B318006-6106-7170-7EDC-FE2BD4EEC5C6}"/>
              </a:ext>
            </a:extLst>
          </p:cNvPr>
          <p:cNvPicPr>
            <a:picLocks noGrp="1" noChangeAspect="1"/>
          </p:cNvPicPr>
          <p:nvPr>
            <p:ph idx="1"/>
          </p:nvPr>
        </p:nvPicPr>
        <p:blipFill>
          <a:blip r:embed="rId3"/>
          <a:stretch>
            <a:fillRect/>
          </a:stretch>
        </p:blipFill>
        <p:spPr>
          <a:xfrm>
            <a:off x="4987672" y="1636651"/>
            <a:ext cx="6389346" cy="3594007"/>
          </a:xfrm>
          <a:prstGeom prst="rect">
            <a:avLst/>
          </a:prstGeom>
        </p:spPr>
      </p:pic>
      <p:grpSp>
        <p:nvGrpSpPr>
          <p:cNvPr id="16" name="Group 15">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7" name="Rectangle 16">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893286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8C673D-8B39-4EC2-D5AD-3E7B384DAC80}"/>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kern="1200">
                <a:solidFill>
                  <a:schemeClr val="tx1"/>
                </a:solidFill>
                <a:effectLst/>
                <a:latin typeface="+mj-lt"/>
                <a:ea typeface="+mj-ea"/>
                <a:cs typeface="+mj-cs"/>
              </a:rPr>
              <a:t>Задача кластеризации</a:t>
            </a:r>
            <a:endParaRPr lang="en-US" sz="6600" kern="1200">
              <a:solidFill>
                <a:schemeClr val="tx1"/>
              </a:solidFill>
              <a:latin typeface="+mj-lt"/>
              <a:ea typeface="+mj-ea"/>
              <a:cs typeface="+mj-cs"/>
            </a:endParaRPr>
          </a:p>
        </p:txBody>
      </p:sp>
      <p:sp>
        <p:nvSpPr>
          <p:cNvPr id="1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823D68B1-B04A-AF56-FFC4-C5A3983EE481}"/>
              </a:ext>
            </a:extLst>
          </p:cNvPr>
          <p:cNvGraphicFramePr>
            <a:graphicFrameLocks noGrp="1"/>
          </p:cNvGraphicFramePr>
          <p:nvPr>
            <p:extLst>
              <p:ext uri="{D42A27DB-BD31-4B8C-83A1-F6EECF244321}">
                <p14:modId xmlns:p14="http://schemas.microsoft.com/office/powerpoint/2010/main" val="1112893493"/>
              </p:ext>
            </p:extLst>
          </p:nvPr>
        </p:nvGraphicFramePr>
        <p:xfrm>
          <a:off x="320040" y="2755284"/>
          <a:ext cx="11548873" cy="3342733"/>
        </p:xfrm>
        <a:graphic>
          <a:graphicData uri="http://schemas.openxmlformats.org/drawingml/2006/table">
            <a:tbl>
              <a:tblPr/>
              <a:tblGrid>
                <a:gridCol w="3397215">
                  <a:extLst>
                    <a:ext uri="{9D8B030D-6E8A-4147-A177-3AD203B41FA5}">
                      <a16:colId xmlns:a16="http://schemas.microsoft.com/office/drawing/2014/main" val="2154243711"/>
                    </a:ext>
                  </a:extLst>
                </a:gridCol>
                <a:gridCol w="4038060">
                  <a:extLst>
                    <a:ext uri="{9D8B030D-6E8A-4147-A177-3AD203B41FA5}">
                      <a16:colId xmlns:a16="http://schemas.microsoft.com/office/drawing/2014/main" val="1327797187"/>
                    </a:ext>
                  </a:extLst>
                </a:gridCol>
                <a:gridCol w="4113598">
                  <a:extLst>
                    <a:ext uri="{9D8B030D-6E8A-4147-A177-3AD203B41FA5}">
                      <a16:colId xmlns:a16="http://schemas.microsoft.com/office/drawing/2014/main" val="3488047328"/>
                    </a:ext>
                  </a:extLst>
                </a:gridCol>
              </a:tblGrid>
              <a:tr h="430415">
                <a:tc gridSpan="3">
                  <a:txBody>
                    <a:bodyPr/>
                    <a:lstStyle/>
                    <a:p>
                      <a:pPr marL="0" marR="0" algn="ctr" fontAlgn="ctr">
                        <a:spcBef>
                          <a:spcPts val="0"/>
                        </a:spcBef>
                        <a:spcAft>
                          <a:spcPts val="0"/>
                        </a:spcAft>
                      </a:pPr>
                      <a:r>
                        <a:rPr lang="ru-RU" sz="1500" b="1" i="0" u="none" strike="noStrike">
                          <a:solidFill>
                            <a:srgbClr val="000000"/>
                          </a:solidFill>
                          <a:effectLst/>
                          <a:highlight>
                            <a:srgbClr val="D8D8D8"/>
                          </a:highlight>
                          <a:latin typeface="Verdana" panose="020B0604030504040204" pitchFamily="34" charset="0"/>
                          <a:ea typeface="Times New Roman" panose="02020603050405020304" pitchFamily="18" charset="0"/>
                        </a:rPr>
                        <a:t>Таблица 5. Сравнение классификации и кластерзации</a:t>
                      </a:r>
                      <a:endParaRPr lang="ru-RU" sz="2800" b="0" i="0" u="none" strike="noStrike">
                        <a:effectLst/>
                        <a:highlight>
                          <a:srgbClr val="D8D8D8"/>
                        </a:highlight>
                        <a:latin typeface="Arial" panose="020B0604020202020204" pitchFamily="34" charset="0"/>
                      </a:endParaRPr>
                    </a:p>
                  </a:txBody>
                  <a:tcPr marL="140353" marR="140353" marT="70176" marB="70176">
                    <a:lnL>
                      <a:noFill/>
                    </a:lnL>
                    <a:lnR>
                      <a:noFill/>
                    </a:lnR>
                    <a:lnT>
                      <a:noFill/>
                    </a:lnT>
                    <a:lnB>
                      <a:noFill/>
                    </a:lnB>
                    <a:solidFill>
                      <a:srgbClr val="D8D8D8"/>
                    </a:solidFill>
                  </a:tcPr>
                </a:tc>
                <a:tc hMerge="1">
                  <a:txBody>
                    <a:bodyPr/>
                    <a:lstStyle/>
                    <a:p>
                      <a:endParaRPr lang="LID4096"/>
                    </a:p>
                  </a:txBody>
                  <a:tcPr/>
                </a:tc>
                <a:tc hMerge="1">
                  <a:txBody>
                    <a:bodyPr/>
                    <a:lstStyle/>
                    <a:p>
                      <a:endParaRPr lang="LID4096"/>
                    </a:p>
                  </a:txBody>
                  <a:tcPr/>
                </a:tc>
                <a:extLst>
                  <a:ext uri="{0D108BD9-81ED-4DB2-BD59-A6C34878D82A}">
                    <a16:rowId xmlns:a16="http://schemas.microsoft.com/office/drawing/2014/main" val="1707953119"/>
                  </a:ext>
                </a:extLst>
              </a:tr>
              <a:tr h="348543">
                <a:tc>
                  <a:txBody>
                    <a:bodyPr/>
                    <a:lstStyle/>
                    <a:p>
                      <a:pPr marL="0" marR="0" algn="ctr" fontAlgn="ctr">
                        <a:spcBef>
                          <a:spcPts val="0"/>
                        </a:spcBef>
                        <a:spcAft>
                          <a:spcPts val="0"/>
                        </a:spcAft>
                      </a:pPr>
                      <a:r>
                        <a:rPr lang="ru-RU" sz="1500" b="1" i="0" u="none" strike="noStrike">
                          <a:solidFill>
                            <a:srgbClr val="000000"/>
                          </a:solidFill>
                          <a:effectLst/>
                          <a:highlight>
                            <a:srgbClr val="D8D8D8"/>
                          </a:highlight>
                          <a:latin typeface="Verdana" panose="020B0604030504040204" pitchFamily="34" charset="0"/>
                          <a:ea typeface="Times New Roman" panose="02020603050405020304" pitchFamily="18" charset="0"/>
                        </a:rPr>
                        <a:t>Характеристика</a:t>
                      </a:r>
                      <a:endParaRPr lang="ru-RU" sz="2800" b="0" i="0" u="none" strike="noStrike">
                        <a:effectLst/>
                        <a:highlight>
                          <a:srgbClr val="D8D8D8"/>
                        </a:highlight>
                        <a:latin typeface="Arial" panose="020B0604020202020204" pitchFamily="34" charset="0"/>
                      </a:endParaRPr>
                    </a:p>
                  </a:txBody>
                  <a:tcPr marL="29240" marR="29240" marT="29240" marB="29240" anchor="ctr">
                    <a:lnL>
                      <a:noFill/>
                    </a:lnL>
                    <a:lnR>
                      <a:noFill/>
                    </a:lnR>
                    <a:lnT>
                      <a:noFill/>
                    </a:lnT>
                    <a:lnB>
                      <a:noFill/>
                    </a:lnB>
                    <a:solidFill>
                      <a:srgbClr val="D8D8D8"/>
                    </a:solidFill>
                  </a:tcPr>
                </a:tc>
                <a:tc>
                  <a:txBody>
                    <a:bodyPr/>
                    <a:lstStyle/>
                    <a:p>
                      <a:pPr marL="0" marR="0" algn="ctr" fontAlgn="ctr">
                        <a:spcBef>
                          <a:spcPts val="0"/>
                        </a:spcBef>
                        <a:spcAft>
                          <a:spcPts val="0"/>
                        </a:spcAft>
                      </a:pPr>
                      <a:r>
                        <a:rPr lang="ru-RU" sz="1500" b="1" i="0" u="none" strike="noStrike">
                          <a:solidFill>
                            <a:srgbClr val="000000"/>
                          </a:solidFill>
                          <a:effectLst/>
                          <a:highlight>
                            <a:srgbClr val="D8D8D8"/>
                          </a:highlight>
                          <a:latin typeface="Verdana" panose="020B0604030504040204" pitchFamily="34" charset="0"/>
                          <a:ea typeface="Times New Roman" panose="02020603050405020304" pitchFamily="18" charset="0"/>
                        </a:rPr>
                        <a:t>Классификация</a:t>
                      </a:r>
                      <a:endParaRPr lang="ru-RU" sz="2800" b="0" i="0" u="none" strike="noStrike">
                        <a:effectLst/>
                        <a:highlight>
                          <a:srgbClr val="D8D8D8"/>
                        </a:highlight>
                        <a:latin typeface="Arial" panose="020B0604020202020204" pitchFamily="34" charset="0"/>
                      </a:endParaRPr>
                    </a:p>
                  </a:txBody>
                  <a:tcPr marL="29240" marR="29240" marT="29240" marB="29240" anchor="ctr">
                    <a:lnL>
                      <a:noFill/>
                    </a:lnL>
                    <a:lnR>
                      <a:noFill/>
                    </a:lnR>
                    <a:lnT>
                      <a:noFill/>
                    </a:lnT>
                    <a:lnB>
                      <a:noFill/>
                    </a:lnB>
                    <a:solidFill>
                      <a:srgbClr val="D8D8D8"/>
                    </a:solidFill>
                  </a:tcPr>
                </a:tc>
                <a:tc>
                  <a:txBody>
                    <a:bodyPr/>
                    <a:lstStyle/>
                    <a:p>
                      <a:pPr marL="0" marR="0" algn="ctr" fontAlgn="ctr">
                        <a:spcBef>
                          <a:spcPts val="0"/>
                        </a:spcBef>
                        <a:spcAft>
                          <a:spcPts val="0"/>
                        </a:spcAft>
                      </a:pPr>
                      <a:r>
                        <a:rPr lang="ru-RU" sz="1500" b="1" i="0" u="none" strike="noStrike">
                          <a:solidFill>
                            <a:srgbClr val="000000"/>
                          </a:solidFill>
                          <a:effectLst/>
                          <a:highlight>
                            <a:srgbClr val="D8D8D8"/>
                          </a:highlight>
                          <a:latin typeface="Verdana" panose="020B0604030504040204" pitchFamily="34" charset="0"/>
                          <a:ea typeface="Times New Roman" panose="02020603050405020304" pitchFamily="18" charset="0"/>
                        </a:rPr>
                        <a:t>Кластеризация</a:t>
                      </a:r>
                      <a:endParaRPr lang="ru-RU" sz="2800" b="0" i="0" u="none" strike="noStrike">
                        <a:effectLst/>
                        <a:highlight>
                          <a:srgbClr val="D8D8D8"/>
                        </a:highlight>
                        <a:latin typeface="Arial" panose="020B0604020202020204" pitchFamily="34" charset="0"/>
                      </a:endParaRPr>
                    </a:p>
                  </a:txBody>
                  <a:tcPr marL="29240" marR="29240" marT="29240" marB="29240" anchor="ctr">
                    <a:lnL>
                      <a:noFill/>
                    </a:lnL>
                    <a:lnR>
                      <a:noFill/>
                    </a:lnR>
                    <a:lnT>
                      <a:noFill/>
                    </a:lnT>
                    <a:lnB>
                      <a:noFill/>
                    </a:lnB>
                    <a:solidFill>
                      <a:srgbClr val="D8D8D8"/>
                    </a:solidFill>
                  </a:tcPr>
                </a:tc>
                <a:extLst>
                  <a:ext uri="{0D108BD9-81ED-4DB2-BD59-A6C34878D82A}">
                    <a16:rowId xmlns:a16="http://schemas.microsoft.com/office/drawing/2014/main" val="427625447"/>
                  </a:ext>
                </a:extLst>
              </a:tr>
              <a:tr h="348543">
                <a:tc>
                  <a:txBody>
                    <a:bodyPr/>
                    <a:lstStyle/>
                    <a:p>
                      <a:pPr marL="0" marR="0" algn="l" fontAlgn="t">
                        <a:spcBef>
                          <a:spcPts val="0"/>
                        </a:spcBef>
                        <a:spcAft>
                          <a:spcPts val="0"/>
                        </a:spcAft>
                      </a:pPr>
                      <a:r>
                        <a:rPr lang="ru-RU" sz="1500" b="0" i="0" u="none" strike="noStrike">
                          <a:solidFill>
                            <a:srgbClr val="000000"/>
                          </a:solidFill>
                          <a:effectLst/>
                          <a:highlight>
                            <a:srgbClr val="EAEAEA"/>
                          </a:highlight>
                          <a:latin typeface="Verdana" panose="020B0604030504040204" pitchFamily="34" charset="0"/>
                          <a:ea typeface="Times New Roman" panose="02020603050405020304" pitchFamily="18" charset="0"/>
                        </a:rPr>
                        <a:t>Контролируемость обучения</a:t>
                      </a:r>
                      <a:endParaRPr lang="ru-RU" sz="2800" b="0" i="0" u="none" strike="noStrike">
                        <a:effectLst/>
                        <a:highlight>
                          <a:srgbClr val="EAEAEA"/>
                        </a:highlight>
                        <a:latin typeface="Arial" panose="020B0604020202020204" pitchFamily="34" charset="0"/>
                      </a:endParaRPr>
                    </a:p>
                  </a:txBody>
                  <a:tcPr marL="29240" marR="29240" marT="29240" marB="29240">
                    <a:lnL>
                      <a:noFill/>
                    </a:lnL>
                    <a:lnR>
                      <a:noFill/>
                    </a:lnR>
                    <a:lnT>
                      <a:noFill/>
                    </a:lnT>
                    <a:lnB>
                      <a:noFill/>
                    </a:lnB>
                    <a:solidFill>
                      <a:srgbClr val="EAEAEA"/>
                    </a:solidFill>
                  </a:tcPr>
                </a:tc>
                <a:tc>
                  <a:txBody>
                    <a:bodyPr/>
                    <a:lstStyle/>
                    <a:p>
                      <a:pPr marL="0" marR="0" algn="l" fontAlgn="t">
                        <a:spcBef>
                          <a:spcPts val="0"/>
                        </a:spcBef>
                        <a:spcAft>
                          <a:spcPts val="0"/>
                        </a:spcAft>
                      </a:pPr>
                      <a:r>
                        <a:rPr lang="ru-RU" sz="1500" b="0" i="0" u="none" strike="noStrike">
                          <a:solidFill>
                            <a:srgbClr val="000000"/>
                          </a:solidFill>
                          <a:effectLst/>
                          <a:highlight>
                            <a:srgbClr val="EAEAEA"/>
                          </a:highlight>
                          <a:latin typeface="Verdana" panose="020B0604030504040204" pitchFamily="34" charset="0"/>
                          <a:ea typeface="Times New Roman" panose="02020603050405020304" pitchFamily="18" charset="0"/>
                        </a:rPr>
                        <a:t>Контролируемое обучение</a:t>
                      </a:r>
                      <a:endParaRPr lang="ru-RU" sz="2800" b="0" i="0" u="none" strike="noStrike">
                        <a:effectLst/>
                        <a:highlight>
                          <a:srgbClr val="EAEAEA"/>
                        </a:highlight>
                        <a:latin typeface="Arial" panose="020B0604020202020204" pitchFamily="34" charset="0"/>
                      </a:endParaRPr>
                    </a:p>
                  </a:txBody>
                  <a:tcPr marL="29240" marR="29240" marT="29240" marB="29240">
                    <a:lnL>
                      <a:noFill/>
                    </a:lnL>
                    <a:lnR>
                      <a:noFill/>
                    </a:lnR>
                    <a:lnT>
                      <a:noFill/>
                    </a:lnT>
                    <a:lnB>
                      <a:noFill/>
                    </a:lnB>
                    <a:solidFill>
                      <a:srgbClr val="EAEAEA"/>
                    </a:solidFill>
                  </a:tcPr>
                </a:tc>
                <a:tc>
                  <a:txBody>
                    <a:bodyPr/>
                    <a:lstStyle/>
                    <a:p>
                      <a:pPr marL="0" marR="0" algn="l" fontAlgn="t">
                        <a:spcBef>
                          <a:spcPts val="0"/>
                        </a:spcBef>
                        <a:spcAft>
                          <a:spcPts val="0"/>
                        </a:spcAft>
                      </a:pPr>
                      <a:r>
                        <a:rPr lang="ru-RU" sz="1500" b="0" i="0" u="none" strike="noStrike">
                          <a:solidFill>
                            <a:srgbClr val="000000"/>
                          </a:solidFill>
                          <a:effectLst/>
                          <a:highlight>
                            <a:srgbClr val="EAEAEA"/>
                          </a:highlight>
                          <a:latin typeface="Verdana" panose="020B0604030504040204" pitchFamily="34" charset="0"/>
                          <a:ea typeface="Times New Roman" panose="02020603050405020304" pitchFamily="18" charset="0"/>
                        </a:rPr>
                        <a:t>Неконтролируемое обучение</a:t>
                      </a:r>
                      <a:endParaRPr lang="ru-RU" sz="2800" b="0" i="0" u="none" strike="noStrike">
                        <a:effectLst/>
                        <a:highlight>
                          <a:srgbClr val="EAEAEA"/>
                        </a:highlight>
                        <a:latin typeface="Arial" panose="020B0604020202020204" pitchFamily="34" charset="0"/>
                      </a:endParaRPr>
                    </a:p>
                  </a:txBody>
                  <a:tcPr marL="29240" marR="29240" marT="29240" marB="29240">
                    <a:lnL>
                      <a:noFill/>
                    </a:lnL>
                    <a:lnR>
                      <a:noFill/>
                    </a:lnR>
                    <a:lnT>
                      <a:noFill/>
                    </a:lnT>
                    <a:lnB>
                      <a:noFill/>
                    </a:lnB>
                    <a:solidFill>
                      <a:srgbClr val="EAEAEA"/>
                    </a:solidFill>
                  </a:tcPr>
                </a:tc>
                <a:extLst>
                  <a:ext uri="{0D108BD9-81ED-4DB2-BD59-A6C34878D82A}">
                    <a16:rowId xmlns:a16="http://schemas.microsoft.com/office/drawing/2014/main" val="2782036131"/>
                  </a:ext>
                </a:extLst>
              </a:tr>
              <a:tr h="348543">
                <a:tc>
                  <a:txBody>
                    <a:bodyPr/>
                    <a:lstStyle/>
                    <a:p>
                      <a:pPr marL="0" marR="0" algn="l" fontAlgn="t">
                        <a:spcBef>
                          <a:spcPts val="0"/>
                        </a:spcBef>
                        <a:spcAft>
                          <a:spcPts val="0"/>
                        </a:spcAft>
                      </a:pPr>
                      <a:r>
                        <a:rPr lang="ru-RU" sz="1500" b="0" i="0" u="none" strike="noStrike">
                          <a:solidFill>
                            <a:srgbClr val="000000"/>
                          </a:solidFill>
                          <a:effectLst/>
                          <a:highlight>
                            <a:srgbClr val="EAEAEA"/>
                          </a:highlight>
                          <a:latin typeface="Verdana" panose="020B0604030504040204" pitchFamily="34" charset="0"/>
                          <a:ea typeface="Times New Roman" panose="02020603050405020304" pitchFamily="18" charset="0"/>
                        </a:rPr>
                        <a:t>Стратегия</a:t>
                      </a:r>
                      <a:endParaRPr lang="ru-RU" sz="2800" b="0" i="0" u="none" strike="noStrike">
                        <a:effectLst/>
                        <a:highlight>
                          <a:srgbClr val="EAEAEA"/>
                        </a:highlight>
                        <a:latin typeface="Arial" panose="020B0604020202020204" pitchFamily="34" charset="0"/>
                      </a:endParaRPr>
                    </a:p>
                  </a:txBody>
                  <a:tcPr marL="29240" marR="29240" marT="29240" marB="29240">
                    <a:lnL>
                      <a:noFill/>
                    </a:lnL>
                    <a:lnR>
                      <a:noFill/>
                    </a:lnR>
                    <a:lnT>
                      <a:noFill/>
                    </a:lnT>
                    <a:lnB>
                      <a:noFill/>
                    </a:lnB>
                    <a:solidFill>
                      <a:srgbClr val="EAEAEA"/>
                    </a:solidFill>
                  </a:tcPr>
                </a:tc>
                <a:tc>
                  <a:txBody>
                    <a:bodyPr/>
                    <a:lstStyle/>
                    <a:p>
                      <a:pPr marL="0" marR="0" algn="l" fontAlgn="t">
                        <a:spcBef>
                          <a:spcPts val="0"/>
                        </a:spcBef>
                        <a:spcAft>
                          <a:spcPts val="0"/>
                        </a:spcAft>
                      </a:pPr>
                      <a:r>
                        <a:rPr lang="ru-RU" sz="1500" b="0" i="0" u="none" strike="noStrike">
                          <a:solidFill>
                            <a:srgbClr val="000000"/>
                          </a:solidFill>
                          <a:effectLst/>
                          <a:highlight>
                            <a:srgbClr val="EAEAEA"/>
                          </a:highlight>
                          <a:latin typeface="Verdana" panose="020B0604030504040204" pitchFamily="34" charset="0"/>
                          <a:ea typeface="Times New Roman" panose="02020603050405020304" pitchFamily="18" charset="0"/>
                        </a:rPr>
                        <a:t>Обучение с учителем</a:t>
                      </a:r>
                      <a:endParaRPr lang="ru-RU" sz="2800" b="0" i="0" u="none" strike="noStrike">
                        <a:effectLst/>
                        <a:highlight>
                          <a:srgbClr val="EAEAEA"/>
                        </a:highlight>
                        <a:latin typeface="Arial" panose="020B0604020202020204" pitchFamily="34" charset="0"/>
                      </a:endParaRPr>
                    </a:p>
                  </a:txBody>
                  <a:tcPr marL="29240" marR="29240" marT="29240" marB="29240">
                    <a:lnL>
                      <a:noFill/>
                    </a:lnL>
                    <a:lnR>
                      <a:noFill/>
                    </a:lnR>
                    <a:lnT>
                      <a:noFill/>
                    </a:lnT>
                    <a:lnB>
                      <a:noFill/>
                    </a:lnB>
                    <a:solidFill>
                      <a:srgbClr val="EAEAEA"/>
                    </a:solidFill>
                  </a:tcPr>
                </a:tc>
                <a:tc>
                  <a:txBody>
                    <a:bodyPr/>
                    <a:lstStyle/>
                    <a:p>
                      <a:pPr marL="0" marR="0" algn="l" fontAlgn="t">
                        <a:spcBef>
                          <a:spcPts val="0"/>
                        </a:spcBef>
                        <a:spcAft>
                          <a:spcPts val="0"/>
                        </a:spcAft>
                      </a:pPr>
                      <a:r>
                        <a:rPr lang="ru-RU" sz="1500" b="0" i="0" u="none" strike="noStrike">
                          <a:solidFill>
                            <a:srgbClr val="000000"/>
                          </a:solidFill>
                          <a:effectLst/>
                          <a:highlight>
                            <a:srgbClr val="EAEAEA"/>
                          </a:highlight>
                          <a:latin typeface="Verdana" panose="020B0604030504040204" pitchFamily="34" charset="0"/>
                          <a:ea typeface="Times New Roman" panose="02020603050405020304" pitchFamily="18" charset="0"/>
                        </a:rPr>
                        <a:t>Обучение без учителя</a:t>
                      </a:r>
                      <a:endParaRPr lang="ru-RU" sz="2800" b="0" i="0" u="none" strike="noStrike">
                        <a:effectLst/>
                        <a:highlight>
                          <a:srgbClr val="EAEAEA"/>
                        </a:highlight>
                        <a:latin typeface="Arial" panose="020B0604020202020204" pitchFamily="34" charset="0"/>
                      </a:endParaRPr>
                    </a:p>
                  </a:txBody>
                  <a:tcPr marL="29240" marR="29240" marT="29240" marB="29240">
                    <a:lnL>
                      <a:noFill/>
                    </a:lnL>
                    <a:lnR>
                      <a:noFill/>
                    </a:lnR>
                    <a:lnT>
                      <a:noFill/>
                    </a:lnT>
                    <a:lnB>
                      <a:noFill/>
                    </a:lnB>
                    <a:solidFill>
                      <a:srgbClr val="EAEAEA"/>
                    </a:solidFill>
                  </a:tcPr>
                </a:tc>
                <a:extLst>
                  <a:ext uri="{0D108BD9-81ED-4DB2-BD59-A6C34878D82A}">
                    <a16:rowId xmlns:a16="http://schemas.microsoft.com/office/drawing/2014/main" val="519732296"/>
                  </a:ext>
                </a:extLst>
              </a:tr>
              <a:tr h="1050305">
                <a:tc>
                  <a:txBody>
                    <a:bodyPr/>
                    <a:lstStyle/>
                    <a:p>
                      <a:pPr marL="0" marR="0" algn="l" fontAlgn="t">
                        <a:spcBef>
                          <a:spcPts val="0"/>
                        </a:spcBef>
                        <a:spcAft>
                          <a:spcPts val="0"/>
                        </a:spcAft>
                      </a:pPr>
                      <a:r>
                        <a:rPr lang="ru-RU" sz="1500" b="0" i="0" u="none" strike="noStrike">
                          <a:solidFill>
                            <a:srgbClr val="000000"/>
                          </a:solidFill>
                          <a:effectLst/>
                          <a:highlight>
                            <a:srgbClr val="EAEAEA"/>
                          </a:highlight>
                          <a:latin typeface="Verdana" panose="020B0604030504040204" pitchFamily="34" charset="0"/>
                          <a:ea typeface="Times New Roman" panose="02020603050405020304" pitchFamily="18" charset="0"/>
                        </a:rPr>
                        <a:t>Наличие метки класса</a:t>
                      </a:r>
                      <a:endParaRPr lang="ru-RU" sz="2800" b="0" i="0" u="none" strike="noStrike">
                        <a:effectLst/>
                        <a:highlight>
                          <a:srgbClr val="EAEAEA"/>
                        </a:highlight>
                        <a:latin typeface="Arial" panose="020B0604020202020204" pitchFamily="34" charset="0"/>
                      </a:endParaRPr>
                    </a:p>
                  </a:txBody>
                  <a:tcPr marL="29240" marR="29240" marT="29240" marB="29240">
                    <a:lnL>
                      <a:noFill/>
                    </a:lnL>
                    <a:lnR>
                      <a:noFill/>
                    </a:lnR>
                    <a:lnT>
                      <a:noFill/>
                    </a:lnT>
                    <a:lnB>
                      <a:noFill/>
                    </a:lnB>
                    <a:solidFill>
                      <a:srgbClr val="EAEAEA"/>
                    </a:solidFill>
                  </a:tcPr>
                </a:tc>
                <a:tc>
                  <a:txBody>
                    <a:bodyPr/>
                    <a:lstStyle/>
                    <a:p>
                      <a:pPr marL="0" marR="0" algn="l" fontAlgn="t">
                        <a:spcBef>
                          <a:spcPts val="0"/>
                        </a:spcBef>
                        <a:spcAft>
                          <a:spcPts val="0"/>
                        </a:spcAft>
                      </a:pPr>
                      <a:r>
                        <a:rPr lang="ru-RU" sz="1500" b="0" i="0" u="none" strike="noStrike">
                          <a:solidFill>
                            <a:srgbClr val="000000"/>
                          </a:solidFill>
                          <a:effectLst/>
                          <a:highlight>
                            <a:srgbClr val="EAEAEA"/>
                          </a:highlight>
                          <a:latin typeface="Verdana" panose="020B0604030504040204" pitchFamily="34" charset="0"/>
                          <a:ea typeface="Times New Roman" panose="02020603050405020304" pitchFamily="18" charset="0"/>
                        </a:rPr>
                        <a:t>Обучающее множество сопровождается меткой, указывающей класс, к которому относится наблюдение</a:t>
                      </a:r>
                      <a:endParaRPr lang="ru-RU" sz="2800" b="0" i="0" u="none" strike="noStrike">
                        <a:effectLst/>
                        <a:highlight>
                          <a:srgbClr val="EAEAEA"/>
                        </a:highlight>
                        <a:latin typeface="Arial" panose="020B0604020202020204" pitchFamily="34" charset="0"/>
                      </a:endParaRPr>
                    </a:p>
                  </a:txBody>
                  <a:tcPr marL="29240" marR="29240" marT="29240" marB="29240">
                    <a:lnL>
                      <a:noFill/>
                    </a:lnL>
                    <a:lnR>
                      <a:noFill/>
                    </a:lnR>
                    <a:lnT>
                      <a:noFill/>
                    </a:lnT>
                    <a:lnB>
                      <a:noFill/>
                    </a:lnB>
                    <a:solidFill>
                      <a:srgbClr val="EAEAEA"/>
                    </a:solidFill>
                  </a:tcPr>
                </a:tc>
                <a:tc>
                  <a:txBody>
                    <a:bodyPr/>
                    <a:lstStyle/>
                    <a:p>
                      <a:pPr marL="0" marR="0" algn="l" fontAlgn="t">
                        <a:spcBef>
                          <a:spcPts val="0"/>
                        </a:spcBef>
                        <a:spcAft>
                          <a:spcPts val="0"/>
                        </a:spcAft>
                      </a:pPr>
                      <a:r>
                        <a:rPr lang="ru-RU" sz="1500" b="0" i="0" u="none" strike="noStrike">
                          <a:solidFill>
                            <a:srgbClr val="000000"/>
                          </a:solidFill>
                          <a:effectLst/>
                          <a:highlight>
                            <a:srgbClr val="EAEAEA"/>
                          </a:highlight>
                          <a:latin typeface="Verdana" panose="020B0604030504040204" pitchFamily="34" charset="0"/>
                          <a:ea typeface="Times New Roman" panose="02020603050405020304" pitchFamily="18" charset="0"/>
                        </a:rPr>
                        <a:t>Метки класса обучающего множества неизвестны</a:t>
                      </a:r>
                      <a:endParaRPr lang="ru-RU" sz="2800" b="0" i="0" u="none" strike="noStrike">
                        <a:effectLst/>
                        <a:highlight>
                          <a:srgbClr val="EAEAEA"/>
                        </a:highlight>
                        <a:latin typeface="Arial" panose="020B0604020202020204" pitchFamily="34" charset="0"/>
                      </a:endParaRPr>
                    </a:p>
                  </a:txBody>
                  <a:tcPr marL="29240" marR="29240" marT="29240" marB="29240">
                    <a:lnL>
                      <a:noFill/>
                    </a:lnL>
                    <a:lnR>
                      <a:noFill/>
                    </a:lnR>
                    <a:lnT>
                      <a:noFill/>
                    </a:lnT>
                    <a:lnB>
                      <a:noFill/>
                    </a:lnB>
                    <a:solidFill>
                      <a:srgbClr val="EAEAEA"/>
                    </a:solidFill>
                  </a:tcPr>
                </a:tc>
                <a:extLst>
                  <a:ext uri="{0D108BD9-81ED-4DB2-BD59-A6C34878D82A}">
                    <a16:rowId xmlns:a16="http://schemas.microsoft.com/office/drawing/2014/main" val="1416524581"/>
                  </a:ext>
                </a:extLst>
              </a:tr>
              <a:tr h="816384">
                <a:tc>
                  <a:txBody>
                    <a:bodyPr/>
                    <a:lstStyle/>
                    <a:p>
                      <a:pPr marL="0" marR="0" algn="l" fontAlgn="t">
                        <a:spcBef>
                          <a:spcPts val="0"/>
                        </a:spcBef>
                        <a:spcAft>
                          <a:spcPts val="0"/>
                        </a:spcAft>
                      </a:pPr>
                      <a:r>
                        <a:rPr lang="ru-RU" sz="1500" b="0" i="0" u="none" strike="noStrike">
                          <a:solidFill>
                            <a:srgbClr val="000000"/>
                          </a:solidFill>
                          <a:effectLst/>
                          <a:highlight>
                            <a:srgbClr val="EAEAEA"/>
                          </a:highlight>
                          <a:latin typeface="Verdana" panose="020B0604030504040204" pitchFamily="34" charset="0"/>
                          <a:ea typeface="Times New Roman" panose="02020603050405020304" pitchFamily="18" charset="0"/>
                        </a:rPr>
                        <a:t>Основание для классификации</a:t>
                      </a:r>
                      <a:endParaRPr lang="ru-RU" sz="2800" b="0" i="0" u="none" strike="noStrike">
                        <a:effectLst/>
                        <a:highlight>
                          <a:srgbClr val="EAEAEA"/>
                        </a:highlight>
                        <a:latin typeface="Arial" panose="020B0604020202020204" pitchFamily="34" charset="0"/>
                      </a:endParaRPr>
                    </a:p>
                  </a:txBody>
                  <a:tcPr marL="29240" marR="29240" marT="29240" marB="29240">
                    <a:lnL>
                      <a:noFill/>
                    </a:lnL>
                    <a:lnR>
                      <a:noFill/>
                    </a:lnR>
                    <a:lnT>
                      <a:noFill/>
                    </a:lnT>
                    <a:lnB>
                      <a:noFill/>
                    </a:lnB>
                    <a:solidFill>
                      <a:srgbClr val="EAEAEA"/>
                    </a:solidFill>
                  </a:tcPr>
                </a:tc>
                <a:tc>
                  <a:txBody>
                    <a:bodyPr/>
                    <a:lstStyle/>
                    <a:p>
                      <a:pPr marL="0" marR="0" algn="l" fontAlgn="t">
                        <a:spcBef>
                          <a:spcPts val="0"/>
                        </a:spcBef>
                        <a:spcAft>
                          <a:spcPts val="0"/>
                        </a:spcAft>
                      </a:pPr>
                      <a:r>
                        <a:rPr lang="ru-RU" sz="1500" b="0" i="0" u="none" strike="noStrike">
                          <a:solidFill>
                            <a:srgbClr val="000000"/>
                          </a:solidFill>
                          <a:effectLst/>
                          <a:highlight>
                            <a:srgbClr val="EAEAEA"/>
                          </a:highlight>
                          <a:latin typeface="Verdana" panose="020B0604030504040204" pitchFamily="34" charset="0"/>
                          <a:ea typeface="Times New Roman" panose="02020603050405020304" pitchFamily="18" charset="0"/>
                        </a:rPr>
                        <a:t>Новые данные классифицируются на основании обучающего множества</a:t>
                      </a:r>
                      <a:endParaRPr lang="ru-RU" sz="2800" b="0" i="0" u="none" strike="noStrike">
                        <a:effectLst/>
                        <a:highlight>
                          <a:srgbClr val="EAEAEA"/>
                        </a:highlight>
                        <a:latin typeface="Arial" panose="020B0604020202020204" pitchFamily="34" charset="0"/>
                      </a:endParaRPr>
                    </a:p>
                  </a:txBody>
                  <a:tcPr marL="29240" marR="29240" marT="29240" marB="29240">
                    <a:lnL>
                      <a:noFill/>
                    </a:lnL>
                    <a:lnR>
                      <a:noFill/>
                    </a:lnR>
                    <a:lnT>
                      <a:noFill/>
                    </a:lnT>
                    <a:lnB>
                      <a:noFill/>
                    </a:lnB>
                    <a:solidFill>
                      <a:srgbClr val="EAEAEA"/>
                    </a:solidFill>
                  </a:tcPr>
                </a:tc>
                <a:tc>
                  <a:txBody>
                    <a:bodyPr/>
                    <a:lstStyle/>
                    <a:p>
                      <a:pPr marL="0" marR="0" algn="l" fontAlgn="t">
                        <a:spcBef>
                          <a:spcPts val="0"/>
                        </a:spcBef>
                        <a:spcAft>
                          <a:spcPts val="0"/>
                        </a:spcAft>
                      </a:pPr>
                      <a:r>
                        <a:rPr lang="ru-RU" sz="1500" b="0" i="0" u="none" strike="noStrike" dirty="0">
                          <a:solidFill>
                            <a:srgbClr val="000000"/>
                          </a:solidFill>
                          <a:effectLst/>
                          <a:highlight>
                            <a:srgbClr val="EAEAEA"/>
                          </a:highlight>
                          <a:latin typeface="Verdana" panose="020B0604030504040204" pitchFamily="34" charset="0"/>
                          <a:ea typeface="Times New Roman" panose="02020603050405020304" pitchFamily="18" charset="0"/>
                        </a:rPr>
                        <a:t>Дано множество данных с целью установления существования классов или кластеров данных</a:t>
                      </a:r>
                      <a:endParaRPr lang="ru-RU" sz="2800" b="0" i="0" u="none" strike="noStrike" dirty="0">
                        <a:effectLst/>
                        <a:highlight>
                          <a:srgbClr val="EAEAEA"/>
                        </a:highlight>
                        <a:latin typeface="Arial" panose="020B0604020202020204" pitchFamily="34" charset="0"/>
                      </a:endParaRPr>
                    </a:p>
                  </a:txBody>
                  <a:tcPr marL="29240" marR="29240" marT="29240" marB="29240">
                    <a:lnL>
                      <a:noFill/>
                    </a:lnL>
                    <a:lnR>
                      <a:noFill/>
                    </a:lnR>
                    <a:lnT>
                      <a:noFill/>
                    </a:lnT>
                    <a:lnB>
                      <a:noFill/>
                    </a:lnB>
                    <a:solidFill>
                      <a:srgbClr val="EAEAEA"/>
                    </a:solidFill>
                  </a:tcPr>
                </a:tc>
                <a:extLst>
                  <a:ext uri="{0D108BD9-81ED-4DB2-BD59-A6C34878D82A}">
                    <a16:rowId xmlns:a16="http://schemas.microsoft.com/office/drawing/2014/main" val="3088529044"/>
                  </a:ext>
                </a:extLst>
              </a:tr>
            </a:tbl>
          </a:graphicData>
        </a:graphic>
      </p:graphicFrame>
    </p:spTree>
    <p:extLst>
      <p:ext uri="{BB962C8B-B14F-4D97-AF65-F5344CB8AC3E}">
        <p14:creationId xmlns:p14="http://schemas.microsoft.com/office/powerpoint/2010/main" val="346502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8C673D-8B39-4EC2-D5AD-3E7B384DAC80}"/>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2800" kern="1200">
                <a:solidFill>
                  <a:srgbClr val="FFFFFF"/>
                </a:solidFill>
                <a:effectLst/>
                <a:latin typeface="+mj-lt"/>
                <a:ea typeface="+mj-ea"/>
                <a:cs typeface="+mj-cs"/>
              </a:rPr>
              <a:t>Сравнение задач классификации и кластеризации</a:t>
            </a:r>
            <a:endParaRPr lang="en-US" sz="2800" kern="1200">
              <a:solidFill>
                <a:srgbClr val="FFFFFF"/>
              </a:solidFill>
              <a:latin typeface="+mj-lt"/>
              <a:ea typeface="+mj-ea"/>
              <a:cs typeface="+mj-cs"/>
            </a:endParaRPr>
          </a:p>
        </p:txBody>
      </p:sp>
      <p:pic>
        <p:nvPicPr>
          <p:cNvPr id="3" name="Picture 2" descr="A close-up of a diagram&#10;&#10;Description automatically generated">
            <a:extLst>
              <a:ext uri="{FF2B5EF4-FFF2-40B4-BE49-F238E27FC236}">
                <a16:creationId xmlns:a16="http://schemas.microsoft.com/office/drawing/2014/main" id="{E14AE43D-A363-BB44-FFAA-9B44574C4FB0}"/>
              </a:ext>
            </a:extLst>
          </p:cNvPr>
          <p:cNvPicPr>
            <a:picLocks noChangeAspect="1"/>
          </p:cNvPicPr>
          <p:nvPr/>
        </p:nvPicPr>
        <p:blipFill>
          <a:blip r:embed="rId3"/>
          <a:stretch>
            <a:fillRect/>
          </a:stretch>
        </p:blipFill>
        <p:spPr>
          <a:xfrm>
            <a:off x="4777316" y="791839"/>
            <a:ext cx="6780700" cy="5271993"/>
          </a:xfrm>
          <a:prstGeom prst="rect">
            <a:avLst/>
          </a:prstGeom>
        </p:spPr>
      </p:pic>
    </p:spTree>
    <p:extLst>
      <p:ext uri="{BB962C8B-B14F-4D97-AF65-F5344CB8AC3E}">
        <p14:creationId xmlns:p14="http://schemas.microsoft.com/office/powerpoint/2010/main" val="2345080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8C673D-8B39-4EC2-D5AD-3E7B384DAC80}"/>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kern="1200">
                <a:solidFill>
                  <a:schemeClr val="tx1"/>
                </a:solidFill>
                <a:effectLst/>
                <a:latin typeface="+mj-lt"/>
                <a:ea typeface="+mj-ea"/>
                <a:cs typeface="+mj-cs"/>
              </a:rPr>
              <a:t>Задача кластеризации</a:t>
            </a:r>
            <a:endParaRPr lang="en-US" sz="6600" kern="1200">
              <a:solidFill>
                <a:schemeClr val="tx1"/>
              </a:solidFill>
              <a:latin typeface="+mj-lt"/>
              <a:ea typeface="+mj-ea"/>
              <a:cs typeface="+mj-cs"/>
            </a:endParaRPr>
          </a:p>
        </p:txBody>
      </p:sp>
      <p:sp>
        <p:nvSpPr>
          <p:cNvPr id="1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EA44EB6-1C15-0BB8-C825-01CABFE182EA}"/>
              </a:ext>
            </a:extLst>
          </p:cNvPr>
          <p:cNvPicPr>
            <a:picLocks noChangeAspect="1"/>
          </p:cNvPicPr>
          <p:nvPr/>
        </p:nvPicPr>
        <p:blipFill>
          <a:blip r:embed="rId3"/>
          <a:stretch>
            <a:fillRect/>
          </a:stretch>
        </p:blipFill>
        <p:spPr>
          <a:xfrm>
            <a:off x="7154487" y="2079466"/>
            <a:ext cx="4161905" cy="1419048"/>
          </a:xfrm>
          <a:prstGeom prst="rect">
            <a:avLst/>
          </a:prstGeom>
        </p:spPr>
      </p:pic>
      <p:sp>
        <p:nvSpPr>
          <p:cNvPr id="6" name="TextBox 5">
            <a:extLst>
              <a:ext uri="{FF2B5EF4-FFF2-40B4-BE49-F238E27FC236}">
                <a16:creationId xmlns:a16="http://schemas.microsoft.com/office/drawing/2014/main" id="{2AECB91A-CE94-7A6B-20E3-55F97FA11104}"/>
              </a:ext>
            </a:extLst>
          </p:cNvPr>
          <p:cNvSpPr txBox="1"/>
          <p:nvPr/>
        </p:nvSpPr>
        <p:spPr>
          <a:xfrm>
            <a:off x="875609" y="2079466"/>
            <a:ext cx="5758872" cy="3139321"/>
          </a:xfrm>
          <a:prstGeom prst="rect">
            <a:avLst/>
          </a:prstGeom>
          <a:noFill/>
        </p:spPr>
        <p:txBody>
          <a:bodyPr wrap="square">
            <a:spAutoFit/>
          </a:bodyPr>
          <a:lstStyle/>
          <a:p>
            <a:r>
              <a:rPr lang="ru-RU" sz="1800" dirty="0">
                <a:effectLst/>
                <a:latin typeface="Times New Roman" panose="02020603050405020304" pitchFamily="18" charset="0"/>
                <a:ea typeface="Times New Roman" panose="02020603050405020304" pitchFamily="18" charset="0"/>
              </a:rPr>
              <a:t>Кластеры могут быть </a:t>
            </a:r>
            <a:r>
              <a:rPr lang="ru-RU" sz="1800" b="1" dirty="0">
                <a:effectLst/>
                <a:latin typeface="Times New Roman" panose="02020603050405020304" pitchFamily="18" charset="0"/>
                <a:ea typeface="Times New Roman" panose="02020603050405020304" pitchFamily="18" charset="0"/>
              </a:rPr>
              <a:t>непересекающимися</a:t>
            </a:r>
            <a:r>
              <a:rPr lang="ru-RU" sz="1800" dirty="0">
                <a:effectLst/>
                <a:latin typeface="Times New Roman" panose="02020603050405020304" pitchFamily="18" charset="0"/>
                <a:ea typeface="Times New Roman" panose="02020603050405020304" pitchFamily="18" charset="0"/>
              </a:rPr>
              <a:t>, или эксклюзивными (</a:t>
            </a:r>
            <a:r>
              <a:rPr lang="ru-RU" sz="1800" dirty="0" err="1">
                <a:effectLst/>
                <a:latin typeface="Times New Roman" panose="02020603050405020304" pitchFamily="18" charset="0"/>
                <a:ea typeface="Times New Roman" panose="02020603050405020304" pitchFamily="18" charset="0"/>
              </a:rPr>
              <a:t>non-overlapping</a:t>
            </a:r>
            <a:r>
              <a:rPr lang="ru-RU" sz="1800" dirty="0">
                <a:effectLst/>
                <a:latin typeface="Times New Roman" panose="02020603050405020304" pitchFamily="18" charset="0"/>
                <a:ea typeface="Times New Roman" panose="02020603050405020304" pitchFamily="18" charset="0"/>
              </a:rPr>
              <a:t>, </a:t>
            </a:r>
            <a:r>
              <a:rPr lang="ru-RU" sz="1800" dirty="0" err="1">
                <a:effectLst/>
                <a:latin typeface="Times New Roman" panose="02020603050405020304" pitchFamily="18" charset="0"/>
                <a:ea typeface="Times New Roman" panose="02020603050405020304" pitchFamily="18" charset="0"/>
              </a:rPr>
              <a:t>exclusive</a:t>
            </a:r>
            <a:r>
              <a:rPr lang="ru-RU" sz="1800" dirty="0">
                <a:effectLst/>
                <a:latin typeface="Times New Roman" panose="02020603050405020304" pitchFamily="18" charset="0"/>
                <a:ea typeface="Times New Roman" panose="02020603050405020304" pitchFamily="18" charset="0"/>
              </a:rPr>
              <a:t>), и </a:t>
            </a:r>
            <a:r>
              <a:rPr lang="ru-RU" sz="1800" b="1" dirty="0">
                <a:effectLst/>
                <a:latin typeface="Times New Roman" panose="02020603050405020304" pitchFamily="18" charset="0"/>
                <a:ea typeface="Times New Roman" panose="02020603050405020304" pitchFamily="18" charset="0"/>
              </a:rPr>
              <a:t>пересекающимися</a:t>
            </a:r>
            <a:r>
              <a:rPr lang="ru-RU" sz="1800" dirty="0">
                <a:effectLst/>
                <a:latin typeface="Times New Roman" panose="02020603050405020304" pitchFamily="18" charset="0"/>
                <a:ea typeface="Times New Roman" panose="02020603050405020304" pitchFamily="18" charset="0"/>
              </a:rPr>
              <a:t> (</a:t>
            </a:r>
            <a:r>
              <a:rPr lang="ru-RU" sz="1800" dirty="0" err="1">
                <a:effectLst/>
                <a:latin typeface="Times New Roman" panose="02020603050405020304" pitchFamily="18" charset="0"/>
                <a:ea typeface="Times New Roman" panose="02020603050405020304" pitchFamily="18" charset="0"/>
              </a:rPr>
              <a:t>overlapping</a:t>
            </a:r>
            <a:r>
              <a:rPr lang="ru-RU" sz="1800" dirty="0">
                <a:effectLst/>
                <a:latin typeface="Times New Roman" panose="02020603050405020304" pitchFamily="18" charset="0"/>
                <a:ea typeface="Times New Roman" panose="02020603050405020304" pitchFamily="18" charset="0"/>
              </a:rPr>
              <a:t>).</a:t>
            </a:r>
          </a:p>
          <a:p>
            <a:endParaRPr lang="ru-RU" dirty="0">
              <a:latin typeface="Times New Roman" panose="02020603050405020304" pitchFamily="18" charset="0"/>
            </a:endParaRPr>
          </a:p>
          <a:p>
            <a:r>
              <a:rPr lang="ru-RU" sz="1800" dirty="0">
                <a:effectLst/>
                <a:latin typeface="Times New Roman" panose="02020603050405020304" pitchFamily="18" charset="0"/>
                <a:ea typeface="Times New Roman" panose="02020603050405020304" pitchFamily="18" charset="0"/>
              </a:rPr>
              <a:t>В результате применения различных методов кластерного анализа могут быть получены </a:t>
            </a:r>
            <a:r>
              <a:rPr lang="ru-RU" sz="1800" i="1" dirty="0">
                <a:effectLst/>
                <a:latin typeface="Times New Roman" panose="02020603050405020304" pitchFamily="18" charset="0"/>
                <a:ea typeface="Times New Roman" panose="02020603050405020304" pitchFamily="18" charset="0"/>
              </a:rPr>
              <a:t>кластеры</a:t>
            </a:r>
            <a:r>
              <a:rPr lang="ru-RU" sz="1800" dirty="0">
                <a:effectLst/>
                <a:latin typeface="Times New Roman" panose="02020603050405020304" pitchFamily="18" charset="0"/>
                <a:ea typeface="Times New Roman" panose="02020603050405020304" pitchFamily="18" charset="0"/>
              </a:rPr>
              <a:t> различной формы. Например, возможны </a:t>
            </a:r>
            <a:r>
              <a:rPr lang="ru-RU" sz="1800" i="1" dirty="0">
                <a:effectLst/>
                <a:latin typeface="Times New Roman" panose="02020603050405020304" pitchFamily="18" charset="0"/>
                <a:ea typeface="Times New Roman" panose="02020603050405020304" pitchFamily="18" charset="0"/>
              </a:rPr>
              <a:t>кластеры</a:t>
            </a:r>
            <a:r>
              <a:rPr lang="ru-RU" sz="1800" dirty="0">
                <a:effectLst/>
                <a:latin typeface="Times New Roman" panose="02020603050405020304" pitchFamily="18" charset="0"/>
                <a:ea typeface="Times New Roman" panose="02020603050405020304" pitchFamily="18" charset="0"/>
              </a:rPr>
              <a:t> "цепочного" типа, когда </a:t>
            </a:r>
            <a:r>
              <a:rPr lang="ru-RU" sz="1800" i="1" dirty="0">
                <a:effectLst/>
                <a:latin typeface="Times New Roman" panose="02020603050405020304" pitchFamily="18" charset="0"/>
                <a:ea typeface="Times New Roman" panose="02020603050405020304" pitchFamily="18" charset="0"/>
              </a:rPr>
              <a:t>кластеры</a:t>
            </a:r>
            <a:r>
              <a:rPr lang="ru-RU" sz="1800" dirty="0">
                <a:effectLst/>
                <a:latin typeface="Times New Roman" panose="02020603050405020304" pitchFamily="18" charset="0"/>
                <a:ea typeface="Times New Roman" panose="02020603050405020304" pitchFamily="18" charset="0"/>
              </a:rPr>
              <a:t> представлены длинными "цепочками", </a:t>
            </a:r>
            <a:r>
              <a:rPr lang="ru-RU" sz="1800" i="1" dirty="0">
                <a:effectLst/>
                <a:latin typeface="Times New Roman" panose="02020603050405020304" pitchFamily="18" charset="0"/>
                <a:ea typeface="Times New Roman" panose="02020603050405020304" pitchFamily="18" charset="0"/>
              </a:rPr>
              <a:t>кластеры</a:t>
            </a:r>
            <a:r>
              <a:rPr lang="ru-RU" sz="1800" dirty="0">
                <a:effectLst/>
                <a:latin typeface="Times New Roman" panose="02020603050405020304" pitchFamily="18" charset="0"/>
                <a:ea typeface="Times New Roman" panose="02020603050405020304" pitchFamily="18" charset="0"/>
              </a:rPr>
              <a:t> удлиненной формы и т.д., а некоторые методы могут создавать </a:t>
            </a:r>
            <a:r>
              <a:rPr lang="ru-RU" sz="1800" i="1" dirty="0">
                <a:effectLst/>
                <a:latin typeface="Times New Roman" panose="02020603050405020304" pitchFamily="18" charset="0"/>
                <a:ea typeface="Times New Roman" panose="02020603050405020304" pitchFamily="18" charset="0"/>
              </a:rPr>
              <a:t>кластеры</a:t>
            </a:r>
            <a:r>
              <a:rPr lang="ru-RU" sz="1800" dirty="0">
                <a:effectLst/>
                <a:latin typeface="Times New Roman" panose="02020603050405020304" pitchFamily="18" charset="0"/>
                <a:ea typeface="Times New Roman" panose="02020603050405020304" pitchFamily="18" charset="0"/>
              </a:rPr>
              <a:t> произвольной формы.</a:t>
            </a:r>
            <a:endParaRPr lang="LID4096" dirty="0"/>
          </a:p>
        </p:txBody>
      </p:sp>
    </p:spTree>
    <p:extLst>
      <p:ext uri="{BB962C8B-B14F-4D97-AF65-F5344CB8AC3E}">
        <p14:creationId xmlns:p14="http://schemas.microsoft.com/office/powerpoint/2010/main" val="2308043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4D89C8-A311-1D29-98B9-798903BFADF8}"/>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05811E96-1DFF-94F5-53E7-A7B19BB6A932}"/>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3100" b="0" kern="1200">
                <a:solidFill>
                  <a:srgbClr val="FFFFFF"/>
                </a:solidFill>
                <a:effectLst/>
                <a:latin typeface="+mj-lt"/>
                <a:ea typeface="+mj-ea"/>
                <a:cs typeface="+mj-cs"/>
              </a:rPr>
              <a:t>Пример решения задачи кластеризации</a:t>
            </a:r>
            <a:endParaRPr lang="en-US" sz="3100" kern="1200">
              <a:solidFill>
                <a:srgbClr val="FFFFFF"/>
              </a:solidFill>
              <a:latin typeface="+mj-lt"/>
              <a:ea typeface="+mj-ea"/>
              <a:cs typeface="+mj-cs"/>
            </a:endParaRPr>
          </a:p>
        </p:txBody>
      </p:sp>
      <p:pic>
        <p:nvPicPr>
          <p:cNvPr id="4" name="Picture 3">
            <a:extLst>
              <a:ext uri="{FF2B5EF4-FFF2-40B4-BE49-F238E27FC236}">
                <a16:creationId xmlns:a16="http://schemas.microsoft.com/office/drawing/2014/main" id="{76154145-210D-C0F8-4AFB-2FC24B06F812}"/>
              </a:ext>
            </a:extLst>
          </p:cNvPr>
          <p:cNvPicPr>
            <a:picLocks noChangeAspect="1"/>
          </p:cNvPicPr>
          <p:nvPr/>
        </p:nvPicPr>
        <p:blipFill>
          <a:blip r:embed="rId3"/>
          <a:stretch>
            <a:fillRect/>
          </a:stretch>
        </p:blipFill>
        <p:spPr>
          <a:xfrm>
            <a:off x="4502428" y="1261276"/>
            <a:ext cx="7225748" cy="4335448"/>
          </a:xfrm>
          <a:prstGeom prst="rect">
            <a:avLst/>
          </a:prstGeom>
        </p:spPr>
      </p:pic>
    </p:spTree>
    <p:extLst>
      <p:ext uri="{BB962C8B-B14F-4D97-AF65-F5344CB8AC3E}">
        <p14:creationId xmlns:p14="http://schemas.microsoft.com/office/powerpoint/2010/main" val="4075123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8792D8-644F-114C-1945-BA2F5B543593}"/>
              </a:ext>
            </a:extLst>
          </p:cNvPr>
          <p:cNvSpPr>
            <a:spLocks noGrp="1"/>
          </p:cNvSpPr>
          <p:nvPr>
            <p:ph type="title"/>
          </p:nvPr>
        </p:nvSpPr>
        <p:spPr>
          <a:xfrm>
            <a:off x="838200" y="365125"/>
            <a:ext cx="10515600" cy="942365"/>
          </a:xfrm>
        </p:spPr>
        <p:txBody>
          <a:bodyPr>
            <a:normAutofit/>
          </a:bodyPr>
          <a:lstStyle/>
          <a:p>
            <a:r>
              <a:rPr lang="ru-RU" sz="4600" dirty="0"/>
              <a:t>Методы решения задачи кластеризации</a:t>
            </a:r>
            <a:endParaRPr lang="LID4096" sz="4600" dirty="0"/>
          </a:p>
        </p:txBody>
      </p:sp>
      <p:sp>
        <p:nvSpPr>
          <p:cNvPr id="17"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24C1E5A-1CA7-423A-E474-A279CC7F6098}"/>
              </a:ext>
            </a:extLst>
          </p:cNvPr>
          <p:cNvSpPr>
            <a:spLocks/>
          </p:cNvSpPr>
          <p:nvPr/>
        </p:nvSpPr>
        <p:spPr>
          <a:xfrm>
            <a:off x="690879" y="2423137"/>
            <a:ext cx="4930608" cy="4069737"/>
          </a:xfrm>
          <a:prstGeom prst="rect">
            <a:avLst/>
          </a:prstGeom>
        </p:spPr>
        <p:txBody>
          <a:bodyPr/>
          <a:lstStyle/>
          <a:p>
            <a:pPr marL="342900" marR="0" lvl="0" indent="-342900">
              <a:spcBef>
                <a:spcPts val="0"/>
              </a:spcBef>
              <a:spcAft>
                <a:spcPts val="0"/>
              </a:spcAft>
              <a:buSzPts val="1000"/>
              <a:buFont typeface="Symbol" panose="05050102010706020507" pitchFamily="18" charset="2"/>
              <a:buChar char=""/>
              <a:tabLst>
                <a:tab pos="457200" algn="l"/>
              </a:tabLst>
            </a:pPr>
            <a:r>
              <a:rPr lang="ru-RU" sz="1100" dirty="0">
                <a:solidFill>
                  <a:srgbClr val="000000"/>
                </a:solidFill>
                <a:effectLst/>
                <a:latin typeface="Verdana" panose="020B0604030504040204" pitchFamily="34" charset="0"/>
                <a:ea typeface="Times New Roman" panose="02020603050405020304" pitchFamily="18" charset="0"/>
              </a:rPr>
              <a:t>Алгоритмы, основанные на разделении данных (</a:t>
            </a:r>
            <a:r>
              <a:rPr lang="ru-RU" sz="1100" dirty="0" err="1">
                <a:solidFill>
                  <a:srgbClr val="000000"/>
                </a:solidFill>
                <a:effectLst/>
                <a:latin typeface="Verdana" panose="020B0604030504040204" pitchFamily="34" charset="0"/>
                <a:ea typeface="Times New Roman" panose="02020603050405020304" pitchFamily="18" charset="0"/>
              </a:rPr>
              <a:t>Partitioning</a:t>
            </a:r>
            <a:r>
              <a:rPr lang="ru-RU" sz="1100" dirty="0">
                <a:solidFill>
                  <a:srgbClr val="000000"/>
                </a:solidFill>
                <a:effectLst/>
                <a:latin typeface="Verdana" panose="020B0604030504040204" pitchFamily="34" charset="0"/>
                <a:ea typeface="Times New Roman" panose="02020603050405020304" pitchFamily="18" charset="0"/>
              </a:rPr>
              <a:t> </a:t>
            </a:r>
            <a:r>
              <a:rPr lang="ru-RU" sz="1100" dirty="0" err="1">
                <a:solidFill>
                  <a:srgbClr val="000000"/>
                </a:solidFill>
                <a:effectLst/>
                <a:latin typeface="Verdana" panose="020B0604030504040204" pitchFamily="34" charset="0"/>
                <a:ea typeface="Times New Roman" panose="02020603050405020304" pitchFamily="18" charset="0"/>
              </a:rPr>
              <a:t>algorithms</a:t>
            </a:r>
            <a:r>
              <a:rPr lang="ru-RU" sz="1100" dirty="0">
                <a:solidFill>
                  <a:srgbClr val="000000"/>
                </a:solidFill>
                <a:effectLst/>
                <a:latin typeface="Verdana" panose="020B0604030504040204" pitchFamily="34" charset="0"/>
                <a:ea typeface="Times New Roman" panose="02020603050405020304" pitchFamily="18" charset="0"/>
              </a:rPr>
              <a:t>), в т.ч. итеративные: </a:t>
            </a:r>
            <a:endParaRPr lang="ru-RU" sz="1100" dirty="0">
              <a:solidFill>
                <a:srgbClr val="000000"/>
              </a:solidFill>
              <a:effectLst/>
              <a:latin typeface="Times New Roman" panose="02020603050405020304" pitchFamily="18" charset="0"/>
              <a:ea typeface="Times New Roman" panose="02020603050405020304" pitchFamily="18" charset="0"/>
            </a:endParaRPr>
          </a:p>
          <a:p>
            <a:pPr marL="742950" marR="0" lvl="1" indent="-285750">
              <a:spcBef>
                <a:spcPts val="0"/>
              </a:spcBef>
              <a:spcAft>
                <a:spcPts val="0"/>
              </a:spcAft>
              <a:buSzPts val="1000"/>
              <a:buFont typeface="Courier New" panose="02070309020205020404" pitchFamily="49" charset="0"/>
              <a:buChar char="o"/>
              <a:tabLst>
                <a:tab pos="914400" algn="l"/>
              </a:tabLst>
            </a:pPr>
            <a:r>
              <a:rPr lang="ru-RU" sz="1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разделение объектов на k кластеров; </a:t>
            </a:r>
            <a:endParaRPr lang="ru-RU"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spcBef>
                <a:spcPts val="0"/>
              </a:spcBef>
              <a:spcAft>
                <a:spcPts val="0"/>
              </a:spcAft>
              <a:buSzPts val="1000"/>
              <a:buFont typeface="Courier New" panose="02070309020205020404" pitchFamily="49" charset="0"/>
              <a:buChar char="o"/>
              <a:tabLst>
                <a:tab pos="914400" algn="l"/>
              </a:tabLst>
            </a:pPr>
            <a:r>
              <a:rPr lang="ru-RU" sz="1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итеративное перераспределение объектов для улучшения </a:t>
            </a:r>
            <a:r>
              <a:rPr lang="ru-RU" sz="11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кластеризации</a:t>
            </a:r>
            <a:r>
              <a:rPr lang="ru-RU" sz="1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endParaRPr lang="ru-RU"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100" dirty="0">
                <a:solidFill>
                  <a:srgbClr val="000000"/>
                </a:solidFill>
                <a:effectLst/>
                <a:latin typeface="Verdana" panose="020B0604030504040204" pitchFamily="34" charset="0"/>
                <a:ea typeface="Times New Roman" panose="02020603050405020304" pitchFamily="18" charset="0"/>
              </a:rPr>
              <a:t>Иерархические алгоритмы (</a:t>
            </a:r>
            <a:r>
              <a:rPr lang="ru-RU" sz="1100" dirty="0" err="1">
                <a:solidFill>
                  <a:srgbClr val="000000"/>
                </a:solidFill>
                <a:effectLst/>
                <a:latin typeface="Verdana" panose="020B0604030504040204" pitchFamily="34" charset="0"/>
                <a:ea typeface="Times New Roman" panose="02020603050405020304" pitchFamily="18" charset="0"/>
              </a:rPr>
              <a:t>Hierarchy</a:t>
            </a:r>
            <a:r>
              <a:rPr lang="ru-RU" sz="1100" dirty="0">
                <a:solidFill>
                  <a:srgbClr val="000000"/>
                </a:solidFill>
                <a:effectLst/>
                <a:latin typeface="Verdana" panose="020B0604030504040204" pitchFamily="34" charset="0"/>
                <a:ea typeface="Times New Roman" panose="02020603050405020304" pitchFamily="18" charset="0"/>
              </a:rPr>
              <a:t> </a:t>
            </a:r>
            <a:r>
              <a:rPr lang="ru-RU" sz="1100" dirty="0" err="1">
                <a:solidFill>
                  <a:srgbClr val="000000"/>
                </a:solidFill>
                <a:effectLst/>
                <a:latin typeface="Verdana" panose="020B0604030504040204" pitchFamily="34" charset="0"/>
                <a:ea typeface="Times New Roman" panose="02020603050405020304" pitchFamily="18" charset="0"/>
              </a:rPr>
              <a:t>algorithms</a:t>
            </a:r>
            <a:r>
              <a:rPr lang="ru-RU" sz="1100" dirty="0">
                <a:solidFill>
                  <a:srgbClr val="000000"/>
                </a:solidFill>
                <a:effectLst/>
                <a:latin typeface="Verdana" panose="020B0604030504040204" pitchFamily="34" charset="0"/>
                <a:ea typeface="Times New Roman" panose="02020603050405020304" pitchFamily="18" charset="0"/>
              </a:rPr>
              <a:t>): </a:t>
            </a:r>
            <a:endParaRPr lang="ru-RU" sz="1100" dirty="0">
              <a:solidFill>
                <a:srgbClr val="000000"/>
              </a:solidFill>
              <a:effectLst/>
              <a:latin typeface="Times New Roman" panose="02020603050405020304" pitchFamily="18" charset="0"/>
              <a:ea typeface="Times New Roman" panose="02020603050405020304" pitchFamily="18" charset="0"/>
            </a:endParaRPr>
          </a:p>
          <a:p>
            <a:pPr marL="742950" marR="0" lvl="1" indent="-285750">
              <a:spcBef>
                <a:spcPts val="0"/>
              </a:spcBef>
              <a:spcAft>
                <a:spcPts val="0"/>
              </a:spcAft>
              <a:buSzPts val="1000"/>
              <a:buFont typeface="Courier New" panose="02070309020205020404" pitchFamily="49" charset="0"/>
              <a:buChar char="o"/>
              <a:tabLst>
                <a:tab pos="914400" algn="l"/>
              </a:tabLst>
            </a:pPr>
            <a:r>
              <a:rPr lang="ru-RU" sz="1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агломерация: каждый объект первоначально является </a:t>
            </a:r>
            <a:r>
              <a:rPr lang="ru-RU" sz="11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кластером</a:t>
            </a:r>
            <a:r>
              <a:rPr lang="ru-RU" sz="1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r>
              <a:rPr lang="ru-RU" sz="11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кластеры</a:t>
            </a:r>
            <a:r>
              <a:rPr lang="ru-RU" sz="1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соединяясь друг с другом, формируют больший </a:t>
            </a:r>
            <a:r>
              <a:rPr lang="ru-RU" sz="11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кластер</a:t>
            </a:r>
            <a:r>
              <a:rPr lang="ru-RU" sz="1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и т.д.</a:t>
            </a:r>
            <a:endParaRPr lang="ru-RU"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100" dirty="0">
                <a:solidFill>
                  <a:srgbClr val="000000"/>
                </a:solidFill>
                <a:effectLst/>
                <a:latin typeface="Verdana" panose="020B0604030504040204" pitchFamily="34" charset="0"/>
                <a:ea typeface="Times New Roman" panose="02020603050405020304" pitchFamily="18" charset="0"/>
              </a:rPr>
              <a:t>Методы, основанные на концентрации объектов (</a:t>
            </a:r>
            <a:r>
              <a:rPr lang="ru-RU" sz="1100" dirty="0" err="1">
                <a:solidFill>
                  <a:srgbClr val="000000"/>
                </a:solidFill>
                <a:effectLst/>
                <a:latin typeface="Verdana" panose="020B0604030504040204" pitchFamily="34" charset="0"/>
                <a:ea typeface="Times New Roman" panose="02020603050405020304" pitchFamily="18" charset="0"/>
              </a:rPr>
              <a:t>Density-based</a:t>
            </a:r>
            <a:r>
              <a:rPr lang="ru-RU" sz="1100" dirty="0">
                <a:solidFill>
                  <a:srgbClr val="000000"/>
                </a:solidFill>
                <a:effectLst/>
                <a:latin typeface="Verdana" panose="020B0604030504040204" pitchFamily="34" charset="0"/>
                <a:ea typeface="Times New Roman" panose="02020603050405020304" pitchFamily="18" charset="0"/>
              </a:rPr>
              <a:t> </a:t>
            </a:r>
            <a:r>
              <a:rPr lang="ru-RU" sz="1100" dirty="0" err="1">
                <a:solidFill>
                  <a:srgbClr val="000000"/>
                </a:solidFill>
                <a:effectLst/>
                <a:latin typeface="Verdana" panose="020B0604030504040204" pitchFamily="34" charset="0"/>
                <a:ea typeface="Times New Roman" panose="02020603050405020304" pitchFamily="18" charset="0"/>
              </a:rPr>
              <a:t>methods</a:t>
            </a:r>
            <a:r>
              <a:rPr lang="ru-RU" sz="1100" dirty="0">
                <a:solidFill>
                  <a:srgbClr val="000000"/>
                </a:solidFill>
                <a:effectLst/>
                <a:latin typeface="Verdana" panose="020B0604030504040204" pitchFamily="34" charset="0"/>
                <a:ea typeface="Times New Roman" panose="02020603050405020304" pitchFamily="18" charset="0"/>
              </a:rPr>
              <a:t>): </a:t>
            </a:r>
            <a:endParaRPr lang="ru-RU" sz="1100" dirty="0">
              <a:solidFill>
                <a:srgbClr val="000000"/>
              </a:solidFill>
              <a:effectLst/>
              <a:latin typeface="Times New Roman" panose="02020603050405020304" pitchFamily="18" charset="0"/>
              <a:ea typeface="Times New Roman" panose="02020603050405020304" pitchFamily="18" charset="0"/>
            </a:endParaRPr>
          </a:p>
          <a:p>
            <a:pPr marL="742950" marR="0" lvl="1" indent="-285750">
              <a:spcBef>
                <a:spcPts val="0"/>
              </a:spcBef>
              <a:spcAft>
                <a:spcPts val="0"/>
              </a:spcAft>
              <a:buSzPts val="1000"/>
              <a:buFont typeface="Courier New" panose="02070309020205020404" pitchFamily="49" charset="0"/>
              <a:buChar char="o"/>
              <a:tabLst>
                <a:tab pos="914400" algn="l"/>
              </a:tabLst>
            </a:pPr>
            <a:r>
              <a:rPr lang="ru-RU" sz="1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основаны на возможности соединения объектов; </a:t>
            </a:r>
            <a:endParaRPr lang="ru-RU"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spcBef>
                <a:spcPts val="0"/>
              </a:spcBef>
              <a:spcAft>
                <a:spcPts val="0"/>
              </a:spcAft>
              <a:buSzPts val="1000"/>
              <a:buFont typeface="Courier New" panose="02070309020205020404" pitchFamily="49" charset="0"/>
              <a:buChar char="o"/>
              <a:tabLst>
                <a:tab pos="914400" algn="l"/>
              </a:tabLst>
            </a:pPr>
            <a:r>
              <a:rPr lang="ru-RU" sz="1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игнорируют шумы, нахождение </a:t>
            </a:r>
            <a:r>
              <a:rPr lang="ru-RU" sz="11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кластеров</a:t>
            </a:r>
            <a:r>
              <a:rPr lang="ru-RU" sz="1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произвольной формы.</a:t>
            </a:r>
            <a:endParaRPr lang="ru-RU"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100" dirty="0" err="1">
                <a:solidFill>
                  <a:srgbClr val="000000"/>
                </a:solidFill>
                <a:effectLst/>
                <a:latin typeface="Verdana" panose="020B0604030504040204" pitchFamily="34" charset="0"/>
                <a:ea typeface="Times New Roman" panose="02020603050405020304" pitchFamily="18" charset="0"/>
              </a:rPr>
              <a:t>Грид</a:t>
            </a:r>
            <a:r>
              <a:rPr lang="ru-RU" sz="1100" dirty="0">
                <a:solidFill>
                  <a:srgbClr val="000000"/>
                </a:solidFill>
                <a:effectLst/>
                <a:latin typeface="Verdana" panose="020B0604030504040204" pitchFamily="34" charset="0"/>
                <a:ea typeface="Times New Roman" panose="02020603050405020304" pitchFamily="18" charset="0"/>
              </a:rPr>
              <a:t>-методы (Grid-</a:t>
            </a:r>
            <a:r>
              <a:rPr lang="ru-RU" sz="1100" dirty="0" err="1">
                <a:solidFill>
                  <a:srgbClr val="000000"/>
                </a:solidFill>
                <a:effectLst/>
                <a:latin typeface="Verdana" panose="020B0604030504040204" pitchFamily="34" charset="0"/>
                <a:ea typeface="Times New Roman" panose="02020603050405020304" pitchFamily="18" charset="0"/>
              </a:rPr>
              <a:t>based</a:t>
            </a:r>
            <a:r>
              <a:rPr lang="ru-RU" sz="1100" dirty="0">
                <a:solidFill>
                  <a:srgbClr val="000000"/>
                </a:solidFill>
                <a:effectLst/>
                <a:latin typeface="Verdana" panose="020B0604030504040204" pitchFamily="34" charset="0"/>
                <a:ea typeface="Times New Roman" panose="02020603050405020304" pitchFamily="18" charset="0"/>
              </a:rPr>
              <a:t> </a:t>
            </a:r>
            <a:r>
              <a:rPr lang="ru-RU" sz="1100" dirty="0" err="1">
                <a:solidFill>
                  <a:srgbClr val="000000"/>
                </a:solidFill>
                <a:effectLst/>
                <a:latin typeface="Verdana" panose="020B0604030504040204" pitchFamily="34" charset="0"/>
                <a:ea typeface="Times New Roman" panose="02020603050405020304" pitchFamily="18" charset="0"/>
              </a:rPr>
              <a:t>methods</a:t>
            </a:r>
            <a:r>
              <a:rPr lang="ru-RU" sz="1100" dirty="0">
                <a:solidFill>
                  <a:srgbClr val="000000"/>
                </a:solidFill>
                <a:effectLst/>
                <a:latin typeface="Verdana" panose="020B0604030504040204" pitchFamily="34" charset="0"/>
                <a:ea typeface="Times New Roman" panose="02020603050405020304" pitchFamily="18" charset="0"/>
              </a:rPr>
              <a:t>): </a:t>
            </a:r>
            <a:endParaRPr lang="ru-RU" sz="1100" dirty="0">
              <a:solidFill>
                <a:srgbClr val="000000"/>
              </a:solidFill>
              <a:effectLst/>
              <a:latin typeface="Times New Roman" panose="02020603050405020304" pitchFamily="18" charset="0"/>
              <a:ea typeface="Times New Roman" panose="02020603050405020304" pitchFamily="18" charset="0"/>
            </a:endParaRPr>
          </a:p>
          <a:p>
            <a:pPr marL="742950" marR="0" lvl="1" indent="-285750">
              <a:spcBef>
                <a:spcPts val="0"/>
              </a:spcBef>
              <a:spcAft>
                <a:spcPts val="0"/>
              </a:spcAft>
              <a:buSzPts val="1000"/>
              <a:buFont typeface="Courier New" panose="02070309020205020404" pitchFamily="49" charset="0"/>
              <a:buChar char="o"/>
              <a:tabLst>
                <a:tab pos="914400" algn="l"/>
              </a:tabLst>
            </a:pPr>
            <a:r>
              <a:rPr lang="ru-RU" sz="1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квантование объектов в </a:t>
            </a:r>
            <a:r>
              <a:rPr lang="ru-RU" sz="11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грид</a:t>
            </a:r>
            <a:r>
              <a:rPr lang="ru-RU" sz="1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-структуры.</a:t>
            </a:r>
            <a:endParaRPr lang="ru-RU"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100" dirty="0">
                <a:solidFill>
                  <a:srgbClr val="000000"/>
                </a:solidFill>
                <a:effectLst/>
                <a:latin typeface="Verdana" panose="020B0604030504040204" pitchFamily="34" charset="0"/>
                <a:ea typeface="Times New Roman" panose="02020603050405020304" pitchFamily="18" charset="0"/>
              </a:rPr>
              <a:t>Модельные методы (Model-</a:t>
            </a:r>
            <a:r>
              <a:rPr lang="ru-RU" sz="1100" dirty="0" err="1">
                <a:solidFill>
                  <a:srgbClr val="000000"/>
                </a:solidFill>
                <a:effectLst/>
                <a:latin typeface="Verdana" panose="020B0604030504040204" pitchFamily="34" charset="0"/>
                <a:ea typeface="Times New Roman" panose="02020603050405020304" pitchFamily="18" charset="0"/>
              </a:rPr>
              <a:t>based</a:t>
            </a:r>
            <a:r>
              <a:rPr lang="ru-RU" sz="1100" dirty="0">
                <a:solidFill>
                  <a:srgbClr val="000000"/>
                </a:solidFill>
                <a:effectLst/>
                <a:latin typeface="Verdana" panose="020B0604030504040204" pitchFamily="34" charset="0"/>
                <a:ea typeface="Times New Roman" panose="02020603050405020304" pitchFamily="18" charset="0"/>
              </a:rPr>
              <a:t>): </a:t>
            </a:r>
            <a:endParaRPr lang="ru-RU" sz="1100" dirty="0">
              <a:solidFill>
                <a:srgbClr val="000000"/>
              </a:solidFill>
              <a:effectLst/>
              <a:latin typeface="Times New Roman" panose="02020603050405020304" pitchFamily="18" charset="0"/>
              <a:ea typeface="Times New Roman" panose="02020603050405020304" pitchFamily="18" charset="0"/>
            </a:endParaRPr>
          </a:p>
          <a:p>
            <a:pPr marL="742950" marR="0" lvl="1" indent="-285750">
              <a:spcBef>
                <a:spcPts val="0"/>
              </a:spcBef>
              <a:spcAft>
                <a:spcPts val="0"/>
              </a:spcAft>
              <a:buSzPts val="1000"/>
              <a:buFont typeface="Courier New" panose="02070309020205020404" pitchFamily="49" charset="0"/>
              <a:buChar char="o"/>
              <a:tabLst>
                <a:tab pos="914400" algn="l"/>
              </a:tabLst>
            </a:pPr>
            <a:r>
              <a:rPr lang="ru-RU" sz="1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использование модели для нахождения </a:t>
            </a:r>
            <a:r>
              <a:rPr lang="ru-RU" sz="11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кластеров</a:t>
            </a:r>
            <a:r>
              <a:rPr lang="ru-RU" sz="1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наиболее соответствующих данным.</a:t>
            </a:r>
            <a:endParaRPr lang="ru-RU" sz="1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600"/>
              </a:spcAft>
            </a:pPr>
            <a:endParaRPr lang="LID4096" dirty="0"/>
          </a:p>
        </p:txBody>
      </p:sp>
      <p:pic>
        <p:nvPicPr>
          <p:cNvPr id="9" name="Picture 8">
            <a:extLst>
              <a:ext uri="{FF2B5EF4-FFF2-40B4-BE49-F238E27FC236}">
                <a16:creationId xmlns:a16="http://schemas.microsoft.com/office/drawing/2014/main" id="{315389BB-CC55-5354-F6DD-9666A25832A2}"/>
              </a:ext>
            </a:extLst>
          </p:cNvPr>
          <p:cNvPicPr>
            <a:picLocks noChangeAspect="1"/>
          </p:cNvPicPr>
          <p:nvPr/>
        </p:nvPicPr>
        <p:blipFill>
          <a:blip r:embed="rId2"/>
          <a:stretch>
            <a:fillRect/>
          </a:stretch>
        </p:blipFill>
        <p:spPr>
          <a:xfrm>
            <a:off x="5621487" y="2099345"/>
            <a:ext cx="6022796" cy="4632447"/>
          </a:xfrm>
          <a:prstGeom prst="rect">
            <a:avLst/>
          </a:prstGeom>
        </p:spPr>
      </p:pic>
    </p:spTree>
    <p:extLst>
      <p:ext uri="{BB962C8B-B14F-4D97-AF65-F5344CB8AC3E}">
        <p14:creationId xmlns:p14="http://schemas.microsoft.com/office/powerpoint/2010/main" val="1852604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F8E505-F5F3-0222-61B5-C9F909FAB33D}"/>
              </a:ext>
            </a:extLst>
          </p:cNvPr>
          <p:cNvSpPr>
            <a:spLocks noGrp="1"/>
          </p:cNvSpPr>
          <p:nvPr>
            <p:ph type="title"/>
          </p:nvPr>
        </p:nvSpPr>
        <p:spPr>
          <a:xfrm>
            <a:off x="572493" y="238539"/>
            <a:ext cx="11018520" cy="1434415"/>
          </a:xfrm>
        </p:spPr>
        <p:txBody>
          <a:bodyPr anchor="b">
            <a:normAutofit/>
          </a:bodyPr>
          <a:lstStyle/>
          <a:p>
            <a:r>
              <a:rPr lang="ru-RU" sz="5400" b="1" dirty="0">
                <a:effectLst/>
                <a:latin typeface="Verdana" panose="020B0604030504040204" pitchFamily="34" charset="0"/>
              </a:rPr>
              <a:t>Процесс кластеризации</a:t>
            </a:r>
            <a:endParaRPr lang="LID4096" sz="5400" dirty="0"/>
          </a:p>
        </p:txBody>
      </p:sp>
      <p:sp>
        <p:nvSpPr>
          <p:cNvPr id="18"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E5900BE-7CD3-A9AF-C8CA-717FDC800D24}"/>
              </a:ext>
            </a:extLst>
          </p:cNvPr>
          <p:cNvSpPr>
            <a:spLocks noGrp="1"/>
          </p:cNvSpPr>
          <p:nvPr>
            <p:ph idx="1"/>
          </p:nvPr>
        </p:nvSpPr>
        <p:spPr>
          <a:xfrm>
            <a:off x="572493" y="2071316"/>
            <a:ext cx="6713552" cy="4119172"/>
          </a:xfrm>
        </p:spPr>
        <p:txBody>
          <a:bodyPr anchor="t">
            <a:normAutofit/>
          </a:bodyPr>
          <a:lstStyle/>
          <a:p>
            <a:pPr marL="0" marR="0" indent="0">
              <a:buNone/>
            </a:pPr>
            <a:r>
              <a:rPr lang="ru-RU" sz="1800" dirty="0">
                <a:effectLst/>
                <a:latin typeface="Times New Roman" panose="02020603050405020304" pitchFamily="18" charset="0"/>
                <a:ea typeface="Times New Roman" panose="02020603050405020304" pitchFamily="18" charset="0"/>
              </a:rPr>
              <a:t>Процесс </a:t>
            </a:r>
            <a:r>
              <a:rPr lang="ru-RU" sz="1800" i="1" dirty="0">
                <a:effectLst/>
                <a:latin typeface="Times New Roman" panose="02020603050405020304" pitchFamily="18" charset="0"/>
                <a:ea typeface="Times New Roman" panose="02020603050405020304" pitchFamily="18" charset="0"/>
              </a:rPr>
              <a:t>кластеризации</a:t>
            </a:r>
            <a:r>
              <a:rPr lang="ru-RU" sz="1800" dirty="0">
                <a:effectLst/>
                <a:latin typeface="Times New Roman" panose="02020603050405020304" pitchFamily="18" charset="0"/>
                <a:ea typeface="Times New Roman" panose="02020603050405020304" pitchFamily="18" charset="0"/>
              </a:rPr>
              <a:t> зависит от выбранного метода и почти всегда является итеративным. Он может стать увлекательным процессом и включать множество экспериментов по выбору разнообразных параметров, например, меры расстояния, типа стандартизации переменных, количества </a:t>
            </a:r>
            <a:r>
              <a:rPr lang="ru-RU" sz="1800" i="1" dirty="0">
                <a:effectLst/>
                <a:latin typeface="Times New Roman" panose="02020603050405020304" pitchFamily="18" charset="0"/>
                <a:ea typeface="Times New Roman" panose="02020603050405020304" pitchFamily="18" charset="0"/>
              </a:rPr>
              <a:t>кластеров</a:t>
            </a:r>
            <a:r>
              <a:rPr lang="ru-RU" sz="1800" dirty="0">
                <a:effectLst/>
                <a:latin typeface="Times New Roman" panose="02020603050405020304" pitchFamily="18" charset="0"/>
                <a:ea typeface="Times New Roman" panose="02020603050405020304" pitchFamily="18" charset="0"/>
              </a:rPr>
              <a:t> и т.д. Однако эксперименты не должны быть самоцелью - ведь конечной целью </a:t>
            </a:r>
            <a:r>
              <a:rPr lang="ru-RU" sz="1800" i="1" dirty="0">
                <a:effectLst/>
                <a:latin typeface="Times New Roman" panose="02020603050405020304" pitchFamily="18" charset="0"/>
                <a:ea typeface="Times New Roman" panose="02020603050405020304" pitchFamily="18" charset="0"/>
              </a:rPr>
              <a:t>кластеризации</a:t>
            </a:r>
            <a:r>
              <a:rPr lang="ru-RU" sz="1800" dirty="0">
                <a:effectLst/>
                <a:latin typeface="Times New Roman" panose="02020603050405020304" pitchFamily="18" charset="0"/>
                <a:ea typeface="Times New Roman" panose="02020603050405020304" pitchFamily="18" charset="0"/>
              </a:rPr>
              <a:t> является получение содержательных сведений о структуре исследуемых данных. </a:t>
            </a:r>
          </a:p>
          <a:p>
            <a:pPr marL="0" marR="0" indent="0">
              <a:buNone/>
            </a:pPr>
            <a:endParaRPr lang="ru-RU" sz="1800" dirty="0">
              <a:latin typeface="Times New Roman" panose="02020603050405020304" pitchFamily="18" charset="0"/>
              <a:ea typeface="Times New Roman" panose="02020603050405020304" pitchFamily="18" charset="0"/>
            </a:endParaRPr>
          </a:p>
          <a:p>
            <a:pPr marL="0" marR="0" indent="0">
              <a:buNone/>
            </a:pPr>
            <a:r>
              <a:rPr lang="ru-RU" sz="1800" dirty="0">
                <a:effectLst/>
                <a:latin typeface="Times New Roman" panose="02020603050405020304" pitchFamily="18" charset="0"/>
                <a:ea typeface="Times New Roman" panose="02020603050405020304" pitchFamily="18" charset="0"/>
              </a:rPr>
              <a:t>Полученные результаты требуют дальнейшей интерпретации, исследования и изучения свойств и характеристик объектов для возможности точного описания сформированных </a:t>
            </a:r>
            <a:r>
              <a:rPr lang="ru-RU" sz="1800" i="1" dirty="0">
                <a:effectLst/>
                <a:latin typeface="Times New Roman" panose="02020603050405020304" pitchFamily="18" charset="0"/>
                <a:ea typeface="Times New Roman" panose="02020603050405020304" pitchFamily="18" charset="0"/>
              </a:rPr>
              <a:t>кластеров</a:t>
            </a:r>
            <a:r>
              <a:rPr lang="ru-RU" sz="1800" dirty="0">
                <a:effectLst/>
                <a:latin typeface="Times New Roman" panose="02020603050405020304" pitchFamily="18" charset="0"/>
                <a:ea typeface="Times New Roman" panose="02020603050405020304" pitchFamily="18" charset="0"/>
              </a:rPr>
              <a:t>.</a:t>
            </a:r>
            <a:endParaRPr lang="LID4096" sz="1500" dirty="0"/>
          </a:p>
        </p:txBody>
      </p:sp>
      <p:pic>
        <p:nvPicPr>
          <p:cNvPr id="5" name="Picture 4" descr="Лампочка на желтом фоне с нарисованными световыми лучами и шнуром">
            <a:extLst>
              <a:ext uri="{FF2B5EF4-FFF2-40B4-BE49-F238E27FC236}">
                <a16:creationId xmlns:a16="http://schemas.microsoft.com/office/drawing/2014/main" id="{6A9A59CF-DC4A-4495-43A6-D0168E3C3A75}"/>
              </a:ext>
            </a:extLst>
          </p:cNvPr>
          <p:cNvPicPr>
            <a:picLocks noChangeAspect="1"/>
          </p:cNvPicPr>
          <p:nvPr/>
        </p:nvPicPr>
        <p:blipFill rotWithShape="1">
          <a:blip r:embed="rId3"/>
          <a:srcRect l="40835" r="-3" b="-3"/>
          <a:stretch/>
        </p:blipFill>
        <p:spPr>
          <a:xfrm>
            <a:off x="7675658" y="2093976"/>
            <a:ext cx="3941064" cy="4096512"/>
          </a:xfrm>
          <a:prstGeom prst="rect">
            <a:avLst/>
          </a:prstGeom>
        </p:spPr>
      </p:pic>
    </p:spTree>
    <p:extLst>
      <p:ext uri="{BB962C8B-B14F-4D97-AF65-F5344CB8AC3E}">
        <p14:creationId xmlns:p14="http://schemas.microsoft.com/office/powerpoint/2010/main" val="1289490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A4FC48-9E09-2A6F-B030-5BC855DB7BDA}"/>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BCCE9A6-0297-ACD6-0B9B-A3E27113F2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2022C2-BDF6-8F21-8BC2-E24DCDB5692A}"/>
              </a:ext>
            </a:extLst>
          </p:cNvPr>
          <p:cNvSpPr>
            <a:spLocks noGrp="1"/>
          </p:cNvSpPr>
          <p:nvPr>
            <p:ph type="title"/>
          </p:nvPr>
        </p:nvSpPr>
        <p:spPr>
          <a:xfrm>
            <a:off x="838200" y="365125"/>
            <a:ext cx="10515600" cy="1325563"/>
          </a:xfrm>
        </p:spPr>
        <p:txBody>
          <a:bodyPr>
            <a:normAutofit/>
          </a:bodyPr>
          <a:lstStyle/>
          <a:p>
            <a:r>
              <a:rPr lang="ru-RU" sz="2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Оценка качества кластеризации</a:t>
            </a:r>
            <a:endParaRPr lang="LID4096" sz="2800" b="1" dirty="0"/>
          </a:p>
        </p:txBody>
      </p:sp>
      <p:sp>
        <p:nvSpPr>
          <p:cNvPr id="17" name="sketch line">
            <a:extLst>
              <a:ext uri="{FF2B5EF4-FFF2-40B4-BE49-F238E27FC236}">
                <a16:creationId xmlns:a16="http://schemas.microsoft.com/office/drawing/2014/main" id="{84A0C205-C724-B6D9-50C3-0B8491AF2B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C0A58E9-5972-EA6C-A2E0-9A192B6D7F86}"/>
              </a:ext>
            </a:extLst>
          </p:cNvPr>
          <p:cNvSpPr txBox="1"/>
          <p:nvPr/>
        </p:nvSpPr>
        <p:spPr>
          <a:xfrm>
            <a:off x="732870" y="2396255"/>
            <a:ext cx="10424160" cy="2862322"/>
          </a:xfrm>
          <a:prstGeom prst="rect">
            <a:avLst/>
          </a:prstGeom>
          <a:noFill/>
        </p:spPr>
        <p:txBody>
          <a:bodyPr wrap="square">
            <a:spAutoFit/>
          </a:bodyPr>
          <a:lstStyle/>
          <a:p>
            <a:pPr marL="0" marR="0"/>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Оценка качества </a:t>
            </a:r>
            <a:r>
              <a:rPr lang="ru-RU" sz="18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кластеризации</a:t>
            </a:r>
            <a:r>
              <a:rPr lang="ru-RU"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может быть проведена на основе следующих процедур:</a:t>
            </a:r>
          </a:p>
          <a:p>
            <a:pPr marL="342900" marR="0" lvl="0" indent="-342900">
              <a:spcBef>
                <a:spcPts val="0"/>
              </a:spcBef>
              <a:spcAft>
                <a:spcPts val="0"/>
              </a:spcAft>
              <a:buSzPts val="1000"/>
              <a:buFont typeface="Symbol" panose="05050102010706020507" pitchFamily="18" charset="2"/>
              <a:buChar char=""/>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ручная проверка; </a:t>
            </a:r>
            <a:endParaRPr lang="ru-RU" sz="2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установление контрольных точек и проверка на полученных </a:t>
            </a:r>
            <a:r>
              <a:rPr lang="ru-RU" sz="1800" i="1" dirty="0">
                <a:solidFill>
                  <a:srgbClr val="000000"/>
                </a:solidFill>
                <a:effectLst/>
                <a:latin typeface="Verdana" panose="020B0604030504040204" pitchFamily="34" charset="0"/>
                <a:ea typeface="Times New Roman" panose="02020603050405020304" pitchFamily="18" charset="0"/>
              </a:rPr>
              <a:t>кластерах</a:t>
            </a:r>
            <a:r>
              <a:rPr lang="ru-RU" sz="1800" dirty="0">
                <a:solidFill>
                  <a:srgbClr val="000000"/>
                </a:solidFill>
                <a:effectLst/>
                <a:latin typeface="Verdana" panose="020B0604030504040204" pitchFamily="34" charset="0"/>
                <a:ea typeface="Times New Roman" panose="02020603050405020304" pitchFamily="18" charset="0"/>
              </a:rPr>
              <a:t>; </a:t>
            </a:r>
            <a:endParaRPr lang="ru-RU" sz="2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определение стабильности </a:t>
            </a:r>
            <a:r>
              <a:rPr lang="ru-RU" sz="1800" i="1" dirty="0">
                <a:solidFill>
                  <a:srgbClr val="000000"/>
                </a:solidFill>
                <a:effectLst/>
                <a:latin typeface="Verdana" panose="020B0604030504040204" pitchFamily="34" charset="0"/>
                <a:ea typeface="Times New Roman" panose="02020603050405020304" pitchFamily="18" charset="0"/>
              </a:rPr>
              <a:t>кластеризации</a:t>
            </a:r>
            <a:r>
              <a:rPr lang="ru-RU" sz="1800" dirty="0">
                <a:solidFill>
                  <a:srgbClr val="000000"/>
                </a:solidFill>
                <a:effectLst/>
                <a:latin typeface="Verdana" panose="020B0604030504040204" pitchFamily="34" charset="0"/>
                <a:ea typeface="Times New Roman" panose="02020603050405020304" pitchFamily="18" charset="0"/>
              </a:rPr>
              <a:t> путем добавления в модель новых переменных; </a:t>
            </a:r>
            <a:endParaRPr lang="ru-RU" sz="2800" dirty="0">
              <a:solidFill>
                <a:srgbClr val="000000"/>
              </a:solidFill>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800" dirty="0">
                <a:solidFill>
                  <a:srgbClr val="000000"/>
                </a:solidFill>
                <a:effectLst/>
                <a:latin typeface="Verdana" panose="020B0604030504040204" pitchFamily="34" charset="0"/>
                <a:ea typeface="Times New Roman" panose="02020603050405020304" pitchFamily="18" charset="0"/>
              </a:rPr>
              <a:t>создание и сравнение </a:t>
            </a:r>
            <a:r>
              <a:rPr lang="ru-RU" sz="1800" i="1" dirty="0">
                <a:solidFill>
                  <a:srgbClr val="000000"/>
                </a:solidFill>
                <a:effectLst/>
                <a:latin typeface="Verdana" panose="020B0604030504040204" pitchFamily="34" charset="0"/>
                <a:ea typeface="Times New Roman" panose="02020603050405020304" pitchFamily="18" charset="0"/>
              </a:rPr>
              <a:t>кластеров</a:t>
            </a:r>
            <a:r>
              <a:rPr lang="ru-RU" sz="1800" dirty="0">
                <a:solidFill>
                  <a:srgbClr val="000000"/>
                </a:solidFill>
                <a:effectLst/>
                <a:latin typeface="Verdana" panose="020B0604030504040204" pitchFamily="34" charset="0"/>
                <a:ea typeface="Times New Roman" panose="02020603050405020304" pitchFamily="18" charset="0"/>
              </a:rPr>
              <a:t> с использованием различных методов. Разные методы </a:t>
            </a:r>
            <a:r>
              <a:rPr lang="ru-RU" sz="1800" i="1" dirty="0">
                <a:solidFill>
                  <a:srgbClr val="000000"/>
                </a:solidFill>
                <a:effectLst/>
                <a:latin typeface="Verdana" panose="020B0604030504040204" pitchFamily="34" charset="0"/>
                <a:ea typeface="Times New Roman" panose="02020603050405020304" pitchFamily="18" charset="0"/>
              </a:rPr>
              <a:t>кластеризации</a:t>
            </a:r>
            <a:r>
              <a:rPr lang="ru-RU" sz="1800" dirty="0">
                <a:solidFill>
                  <a:srgbClr val="000000"/>
                </a:solidFill>
                <a:effectLst/>
                <a:latin typeface="Verdana" panose="020B0604030504040204" pitchFamily="34" charset="0"/>
                <a:ea typeface="Times New Roman" panose="02020603050405020304" pitchFamily="18" charset="0"/>
              </a:rPr>
              <a:t> могут создавать разные </a:t>
            </a:r>
            <a:r>
              <a:rPr lang="ru-RU" sz="1800" i="1" dirty="0">
                <a:solidFill>
                  <a:srgbClr val="000000"/>
                </a:solidFill>
                <a:effectLst/>
                <a:latin typeface="Verdana" panose="020B0604030504040204" pitchFamily="34" charset="0"/>
                <a:ea typeface="Times New Roman" panose="02020603050405020304" pitchFamily="18" charset="0"/>
              </a:rPr>
              <a:t>кластеры</a:t>
            </a:r>
            <a:r>
              <a:rPr lang="ru-RU" sz="1800" dirty="0">
                <a:solidFill>
                  <a:srgbClr val="000000"/>
                </a:solidFill>
                <a:effectLst/>
                <a:latin typeface="Verdana" panose="020B0604030504040204" pitchFamily="34" charset="0"/>
                <a:ea typeface="Times New Roman" panose="02020603050405020304" pitchFamily="18" charset="0"/>
              </a:rPr>
              <a:t>, и это является нормальным явлением. Однако создание схожих </a:t>
            </a:r>
            <a:r>
              <a:rPr lang="ru-RU" sz="1800" i="1" dirty="0">
                <a:solidFill>
                  <a:srgbClr val="000000"/>
                </a:solidFill>
                <a:effectLst/>
                <a:latin typeface="Verdana" panose="020B0604030504040204" pitchFamily="34" charset="0"/>
                <a:ea typeface="Times New Roman" panose="02020603050405020304" pitchFamily="18" charset="0"/>
              </a:rPr>
              <a:t>кластеров</a:t>
            </a:r>
            <a:r>
              <a:rPr lang="ru-RU" sz="1800" dirty="0">
                <a:solidFill>
                  <a:srgbClr val="000000"/>
                </a:solidFill>
                <a:effectLst/>
                <a:latin typeface="Verdana" panose="020B0604030504040204" pitchFamily="34" charset="0"/>
                <a:ea typeface="Times New Roman" panose="02020603050405020304" pitchFamily="18" charset="0"/>
              </a:rPr>
              <a:t> различными методами указывает на правильность </a:t>
            </a:r>
            <a:r>
              <a:rPr lang="ru-RU" sz="1800" i="1" dirty="0">
                <a:solidFill>
                  <a:srgbClr val="000000"/>
                </a:solidFill>
                <a:effectLst/>
                <a:latin typeface="Verdana" panose="020B0604030504040204" pitchFamily="34" charset="0"/>
                <a:ea typeface="Times New Roman" panose="02020603050405020304" pitchFamily="18" charset="0"/>
              </a:rPr>
              <a:t>кластеризации</a:t>
            </a:r>
            <a:r>
              <a:rPr lang="ru-RU" sz="1800" dirty="0">
                <a:solidFill>
                  <a:srgbClr val="000000"/>
                </a:solidFill>
                <a:effectLst/>
                <a:latin typeface="Verdana" panose="020B0604030504040204" pitchFamily="34" charset="0"/>
                <a:ea typeface="Times New Roman" panose="02020603050405020304" pitchFamily="18" charset="0"/>
              </a:rPr>
              <a:t>.</a:t>
            </a:r>
            <a:endParaRPr lang="ru-RU" sz="2800" dirty="0">
              <a:solidFill>
                <a:srgbClr val="000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203304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FC8A32-1250-D7DE-EF9D-A935AB9F6D04}"/>
              </a:ext>
            </a:extLst>
          </p:cNvPr>
          <p:cNvSpPr>
            <a:spLocks noGrp="1"/>
          </p:cNvSpPr>
          <p:nvPr>
            <p:ph type="title"/>
          </p:nvPr>
        </p:nvSpPr>
        <p:spPr>
          <a:xfrm>
            <a:off x="793662" y="386930"/>
            <a:ext cx="10066122" cy="1298448"/>
          </a:xfrm>
        </p:spPr>
        <p:txBody>
          <a:bodyPr anchor="b">
            <a:normAutofit/>
          </a:bodyPr>
          <a:lstStyle/>
          <a:p>
            <a:r>
              <a:rPr lang="ru-RU" sz="4800"/>
              <a:t>Задача прогнозирования</a:t>
            </a:r>
            <a:endParaRPr lang="LID4096" sz="4800"/>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967D77C-B2F4-C9FD-129C-7B70F35A861D}"/>
              </a:ext>
            </a:extLst>
          </p:cNvPr>
          <p:cNvSpPr>
            <a:spLocks noGrp="1"/>
          </p:cNvSpPr>
          <p:nvPr>
            <p:ph idx="1"/>
          </p:nvPr>
        </p:nvSpPr>
        <p:spPr>
          <a:xfrm>
            <a:off x="793661" y="2599509"/>
            <a:ext cx="4530898" cy="3639450"/>
          </a:xfrm>
        </p:spPr>
        <p:txBody>
          <a:bodyPr anchor="ctr">
            <a:normAutofit/>
          </a:bodyPr>
          <a:lstStyle/>
          <a:p>
            <a:pPr marL="0" indent="0">
              <a:buNone/>
            </a:pPr>
            <a:r>
              <a:rPr lang="ru-RU" sz="1700"/>
              <a:t>Цель прогнозирования – это предсказание будущих событий</a:t>
            </a:r>
          </a:p>
          <a:p>
            <a:pPr marL="0" indent="0">
              <a:buNone/>
            </a:pPr>
            <a:endParaRPr lang="ru-RU" sz="1700"/>
          </a:p>
          <a:p>
            <a:pPr marL="0" indent="0">
              <a:buNone/>
            </a:pPr>
            <a:r>
              <a:rPr lang="ru-RU" sz="1700"/>
              <a:t>Прогнозирование направлено на определение тенденций динамики конкретного объекта или события на основе анализа его состояния в прошлом и настоящем. </a:t>
            </a:r>
          </a:p>
          <a:p>
            <a:pPr marL="0" indent="0">
              <a:buNone/>
            </a:pPr>
            <a:r>
              <a:rPr lang="ru-RU" sz="1700"/>
              <a:t>Следовательно, решение задачи прогнозирования требует некоторой обучающей выборки данных. При решении задачи прогнозирования устанавливается функциональная зависимость между независимыми и зависимыми переменными. </a:t>
            </a:r>
            <a:endParaRPr lang="LID4096" sz="1700"/>
          </a:p>
        </p:txBody>
      </p:sp>
      <p:pic>
        <p:nvPicPr>
          <p:cNvPr id="4" name="Picture 3" descr="A diagram of a graph&#10;&#10;Description automatically generated with medium confidence">
            <a:extLst>
              <a:ext uri="{FF2B5EF4-FFF2-40B4-BE49-F238E27FC236}">
                <a16:creationId xmlns:a16="http://schemas.microsoft.com/office/drawing/2014/main" id="{0531F7A9-8EF3-D711-56D0-5A38B5A11DA0}"/>
              </a:ext>
            </a:extLst>
          </p:cNvPr>
          <p:cNvPicPr>
            <a:picLocks noChangeAspect="1"/>
          </p:cNvPicPr>
          <p:nvPr/>
        </p:nvPicPr>
        <p:blipFill>
          <a:blip r:embed="rId3"/>
          <a:stretch>
            <a:fillRect/>
          </a:stretch>
        </p:blipFill>
        <p:spPr>
          <a:xfrm>
            <a:off x="5911532" y="3169689"/>
            <a:ext cx="5150277" cy="2343375"/>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3440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FC8A32-1250-D7DE-EF9D-A935AB9F6D04}"/>
              </a:ext>
            </a:extLst>
          </p:cNvPr>
          <p:cNvSpPr>
            <a:spLocks noGrp="1"/>
          </p:cNvSpPr>
          <p:nvPr>
            <p:ph type="title"/>
          </p:nvPr>
        </p:nvSpPr>
        <p:spPr>
          <a:xfrm>
            <a:off x="793662" y="386930"/>
            <a:ext cx="10066122" cy="1298448"/>
          </a:xfrm>
        </p:spPr>
        <p:txBody>
          <a:bodyPr anchor="b">
            <a:normAutofit fontScale="90000"/>
          </a:bodyPr>
          <a:lstStyle/>
          <a:p>
            <a:r>
              <a:rPr lang="ru-RU" sz="4800" dirty="0"/>
              <a:t>Сравнение задач прогнозирования и классификации</a:t>
            </a:r>
            <a:endParaRPr lang="LID4096" sz="4800" dirty="0"/>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967D77C-B2F4-C9FD-129C-7B70F35A861D}"/>
              </a:ext>
            </a:extLst>
          </p:cNvPr>
          <p:cNvSpPr>
            <a:spLocks noGrp="1"/>
          </p:cNvSpPr>
          <p:nvPr>
            <p:ph idx="1"/>
          </p:nvPr>
        </p:nvSpPr>
        <p:spPr>
          <a:xfrm>
            <a:off x="793661" y="2599509"/>
            <a:ext cx="10252120" cy="3639450"/>
          </a:xfrm>
        </p:spPr>
        <p:txBody>
          <a:bodyPr anchor="ctr">
            <a:normAutofit/>
          </a:bodyPr>
          <a:lstStyle/>
          <a:p>
            <a:pPr marL="0" indent="0">
              <a:buNone/>
            </a:pPr>
            <a:r>
              <a:rPr lang="ru-RU" sz="1800" dirty="0">
                <a:effectLst/>
                <a:latin typeface="Times New Roman" panose="02020603050405020304" pitchFamily="18" charset="0"/>
                <a:ea typeface="Times New Roman" panose="02020603050405020304" pitchFamily="18" charset="0"/>
              </a:rPr>
              <a:t>Многие методы Data Mining используются для решения задач классификации и </a:t>
            </a:r>
            <a:r>
              <a:rPr lang="ru-RU" sz="1800" i="1" dirty="0">
                <a:effectLst/>
                <a:latin typeface="Times New Roman" panose="02020603050405020304" pitchFamily="18" charset="0"/>
                <a:ea typeface="Times New Roman" panose="02020603050405020304" pitchFamily="18" charset="0"/>
              </a:rPr>
              <a:t>прогнозирования</a:t>
            </a:r>
            <a:r>
              <a:rPr lang="ru-RU" sz="1800" dirty="0">
                <a:effectLst/>
                <a:latin typeface="Times New Roman" panose="02020603050405020304" pitchFamily="18" charset="0"/>
                <a:ea typeface="Times New Roman" panose="02020603050405020304" pitchFamily="18" charset="0"/>
              </a:rPr>
              <a:t>. Это, например, линейная регрессия, нейронные сети, деревья решений (которые иногда так и называют - деревья </a:t>
            </a:r>
            <a:r>
              <a:rPr lang="ru-RU" sz="1800" i="1" dirty="0">
                <a:effectLst/>
                <a:latin typeface="Times New Roman" panose="02020603050405020304" pitchFamily="18" charset="0"/>
                <a:ea typeface="Times New Roman" panose="02020603050405020304" pitchFamily="18" charset="0"/>
              </a:rPr>
              <a:t>прогнозирования</a:t>
            </a:r>
            <a:r>
              <a:rPr lang="ru-RU" sz="1800" dirty="0">
                <a:effectLst/>
                <a:latin typeface="Times New Roman" panose="02020603050405020304" pitchFamily="18" charset="0"/>
                <a:ea typeface="Times New Roman" panose="02020603050405020304" pitchFamily="18" charset="0"/>
              </a:rPr>
              <a:t> и классификации).</a:t>
            </a:r>
            <a:endParaRPr lang="ru-RU" sz="1700" dirty="0"/>
          </a:p>
          <a:p>
            <a:pPr marL="0" indent="0">
              <a:buNone/>
            </a:pPr>
            <a:endParaRPr lang="ru-RU" sz="1700" dirty="0"/>
          </a:p>
          <a:p>
            <a:pPr marL="0" indent="0">
              <a:buNone/>
            </a:pPr>
            <a:r>
              <a:rPr lang="ru-RU" sz="1700" b="1" dirty="0"/>
              <a:t>Сходство</a:t>
            </a:r>
            <a:r>
              <a:rPr lang="ru-RU" sz="1700" dirty="0"/>
              <a:t>: </a:t>
            </a:r>
            <a:r>
              <a:rPr lang="ru-RU" sz="1800" dirty="0">
                <a:effectLst/>
                <a:latin typeface="Times New Roman" panose="02020603050405020304" pitchFamily="18" charset="0"/>
                <a:ea typeface="Times New Roman" panose="02020603050405020304" pitchFamily="18" charset="0"/>
              </a:rPr>
              <a:t>При решении обеих задач используется двухэтапный процесс построения модели на основе обучающего набора и ее использования для предсказания неизвестных значений зависимой переменной.</a:t>
            </a:r>
          </a:p>
          <a:p>
            <a:pPr marL="0" indent="0">
              <a:buNone/>
            </a:pPr>
            <a:r>
              <a:rPr lang="ru-RU" sz="1700" dirty="0"/>
              <a:t> </a:t>
            </a:r>
          </a:p>
          <a:p>
            <a:pPr marL="0" indent="0">
              <a:buNone/>
            </a:pPr>
            <a:r>
              <a:rPr lang="ru-RU" sz="1800" b="1" dirty="0">
                <a:effectLst/>
                <a:latin typeface="Times New Roman" panose="02020603050405020304" pitchFamily="18" charset="0"/>
                <a:ea typeface="Times New Roman" panose="02020603050405020304" pitchFamily="18" charset="0"/>
              </a:rPr>
              <a:t>Различие</a:t>
            </a:r>
            <a:r>
              <a:rPr lang="ru-RU" sz="1800" dirty="0">
                <a:effectLst/>
                <a:latin typeface="Times New Roman" panose="02020603050405020304" pitchFamily="18" charset="0"/>
                <a:ea typeface="Times New Roman" panose="02020603050405020304" pitchFamily="18" charset="0"/>
              </a:rPr>
              <a:t>: в задаче классификации предсказывается </a:t>
            </a:r>
            <a:r>
              <a:rPr lang="ru-RU" sz="1800" i="1" dirty="0">
                <a:effectLst/>
                <a:latin typeface="Times New Roman" panose="02020603050405020304" pitchFamily="18" charset="0"/>
                <a:ea typeface="Times New Roman" panose="02020603050405020304" pitchFamily="18" charset="0"/>
              </a:rPr>
              <a:t>класс</a:t>
            </a:r>
            <a:r>
              <a:rPr lang="ru-RU" sz="1800" dirty="0">
                <a:effectLst/>
                <a:latin typeface="Times New Roman" panose="02020603050405020304" pitchFamily="18" charset="0"/>
                <a:ea typeface="Times New Roman" panose="02020603050405020304" pitchFamily="18" charset="0"/>
              </a:rPr>
              <a:t> зависимой переменной (номинальная переменная), а во второй - </a:t>
            </a:r>
            <a:r>
              <a:rPr lang="ru-RU" sz="1800" i="1" dirty="0">
                <a:effectLst/>
                <a:latin typeface="Times New Roman" panose="02020603050405020304" pitchFamily="18" charset="0"/>
                <a:ea typeface="Times New Roman" panose="02020603050405020304" pitchFamily="18" charset="0"/>
              </a:rPr>
              <a:t>числовые</a:t>
            </a:r>
            <a:r>
              <a:rPr lang="ru-RU" sz="1800" dirty="0">
                <a:effectLst/>
                <a:latin typeface="Times New Roman" panose="02020603050405020304" pitchFamily="18" charset="0"/>
                <a:ea typeface="Times New Roman" panose="02020603050405020304" pitchFamily="18" charset="0"/>
              </a:rPr>
              <a:t> значения зависимой переменной, пропущенные или неизвестные (относящиеся к будущему).</a:t>
            </a:r>
            <a:r>
              <a:rPr lang="ru-RU" sz="1700" dirty="0"/>
              <a:t> </a:t>
            </a:r>
            <a:endParaRPr lang="LID4096" sz="1700" dirty="0"/>
          </a:p>
        </p:txBody>
      </p:sp>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7190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EBD93E0-B9A7-6C75-ECCB-BA74F4A87657}"/>
              </a:ext>
            </a:extLst>
          </p:cNvPr>
          <p:cNvSpPr>
            <a:spLocks noGrp="1"/>
          </p:cNvSpPr>
          <p:nvPr>
            <p:ph type="title"/>
          </p:nvPr>
        </p:nvSpPr>
        <p:spPr>
          <a:xfrm>
            <a:off x="425824" y="609597"/>
            <a:ext cx="10780656" cy="640083"/>
          </a:xfrm>
        </p:spPr>
        <p:txBody>
          <a:bodyPr>
            <a:normAutofit fontScale="90000"/>
          </a:bodyPr>
          <a:lstStyle/>
          <a:p>
            <a:r>
              <a:rPr lang="ru-RU" dirty="0">
                <a:effectLst/>
                <a:latin typeface="Verdana" panose="020B0604030504040204" pitchFamily="34" charset="0"/>
                <a:ea typeface="Times New Roman" panose="02020603050405020304" pitchFamily="18" charset="0"/>
                <a:cs typeface="Times New Roman" panose="02020603050405020304" pitchFamily="18" charset="0"/>
              </a:rPr>
              <a:t>Прогнозирование и временные ряды</a:t>
            </a:r>
            <a:endParaRPr lang="LID4096" dirty="0"/>
          </a:p>
        </p:txBody>
      </p:sp>
      <p:sp>
        <p:nvSpPr>
          <p:cNvPr id="3" name="Content Placeholder 2">
            <a:extLst>
              <a:ext uri="{FF2B5EF4-FFF2-40B4-BE49-F238E27FC236}">
                <a16:creationId xmlns:a16="http://schemas.microsoft.com/office/drawing/2014/main" id="{6863225F-61B1-4F0B-AA5E-5D454D95C983}"/>
              </a:ext>
            </a:extLst>
          </p:cNvPr>
          <p:cNvSpPr>
            <a:spLocks noGrp="1"/>
          </p:cNvSpPr>
          <p:nvPr>
            <p:ph idx="1"/>
          </p:nvPr>
        </p:nvSpPr>
        <p:spPr>
          <a:xfrm>
            <a:off x="684128" y="1503680"/>
            <a:ext cx="4411071" cy="4705733"/>
          </a:xfrm>
        </p:spPr>
        <p:txBody>
          <a:bodyPr>
            <a:normAutofit/>
          </a:bodyPr>
          <a:lstStyle/>
          <a:p>
            <a:pPr marL="0" indent="0">
              <a:buNone/>
            </a:pPr>
            <a:r>
              <a:rPr lang="ru-RU" sz="1100" dirty="0">
                <a:effectLst/>
                <a:latin typeface="Verdana" panose="020B0604030504040204" pitchFamily="34" charset="0"/>
                <a:ea typeface="Verdana" panose="020B0604030504040204" pitchFamily="34" charset="0"/>
              </a:rPr>
              <a:t>Основой анализа временных рядов (Time-Series Data Mining)  для </a:t>
            </a:r>
            <a:r>
              <a:rPr lang="ru-RU" sz="1100" i="1" dirty="0">
                <a:effectLst/>
                <a:latin typeface="Verdana" panose="020B0604030504040204" pitchFamily="34" charset="0"/>
                <a:ea typeface="Verdana" panose="020B0604030504040204" pitchFamily="34" charset="0"/>
              </a:rPr>
              <a:t>прогнозирования</a:t>
            </a:r>
            <a:r>
              <a:rPr lang="ru-RU" sz="1100" dirty="0">
                <a:effectLst/>
                <a:latin typeface="Verdana" panose="020B0604030504040204" pitchFamily="34" charset="0"/>
                <a:ea typeface="Verdana" panose="020B0604030504040204" pitchFamily="34" charset="0"/>
              </a:rPr>
              <a:t> служит историческая информация, хранящаяся в базе данных в виде </a:t>
            </a:r>
            <a:r>
              <a:rPr lang="ru-RU" sz="1100" i="1" dirty="0">
                <a:effectLst/>
                <a:latin typeface="Verdana" panose="020B0604030504040204" pitchFamily="34" charset="0"/>
                <a:ea typeface="Verdana" panose="020B0604030504040204" pitchFamily="34" charset="0"/>
              </a:rPr>
              <a:t>временных рядов</a:t>
            </a:r>
          </a:p>
          <a:p>
            <a:pPr marL="0" indent="0">
              <a:buNone/>
            </a:pPr>
            <a:endParaRPr lang="ru-RU" sz="1100" i="1" dirty="0">
              <a:effectLst/>
              <a:latin typeface="Verdana" panose="020B0604030504040204" pitchFamily="34" charset="0"/>
              <a:ea typeface="Verdana" panose="020B0604030504040204" pitchFamily="34" charset="0"/>
            </a:endParaRPr>
          </a:p>
          <a:p>
            <a:pPr marL="0" indent="0">
              <a:buNone/>
            </a:pPr>
            <a:r>
              <a:rPr lang="ru-RU" sz="1100" b="1" dirty="0">
                <a:effectLst/>
                <a:latin typeface="Verdana" panose="020B0604030504040204" pitchFamily="34" charset="0"/>
                <a:ea typeface="Verdana" panose="020B0604030504040204" pitchFamily="34" charset="0"/>
                <a:cs typeface="Times New Roman" panose="02020603050405020304" pitchFamily="18" charset="0"/>
              </a:rPr>
              <a:t>Временной ряд</a:t>
            </a:r>
            <a:r>
              <a:rPr lang="ru-RU" sz="1100" dirty="0">
                <a:effectLst/>
                <a:latin typeface="Verdana" panose="020B0604030504040204" pitchFamily="34" charset="0"/>
                <a:ea typeface="Verdana" panose="020B0604030504040204" pitchFamily="34" charset="0"/>
                <a:cs typeface="Times New Roman" panose="02020603050405020304" pitchFamily="18" charset="0"/>
              </a:rPr>
              <a:t> - последовательность наблюдаемых значений какого-либо признака, упорядоченных в неслучайные моменты времени.</a:t>
            </a:r>
          </a:p>
          <a:p>
            <a:pPr marL="0" indent="0">
              <a:buNone/>
            </a:pPr>
            <a:endParaRPr lang="ru-RU" sz="1100" dirty="0">
              <a:latin typeface="Verdana" panose="020B0604030504040204" pitchFamily="34" charset="0"/>
              <a:ea typeface="Verdana" panose="020B0604030504040204" pitchFamily="34" charset="0"/>
              <a:cs typeface="Times New Roman" panose="02020603050405020304" pitchFamily="18" charset="0"/>
            </a:endParaRPr>
          </a:p>
          <a:p>
            <a:pPr marL="0" indent="0">
              <a:buNone/>
            </a:pPr>
            <a:r>
              <a:rPr lang="ru-RU" sz="1100" dirty="0">
                <a:effectLst/>
                <a:latin typeface="Verdana" panose="020B0604030504040204" pitchFamily="34" charset="0"/>
                <a:ea typeface="Verdana" panose="020B0604030504040204" pitchFamily="34" charset="0"/>
                <a:cs typeface="Times New Roman" panose="02020603050405020304" pitchFamily="18" charset="0"/>
              </a:rPr>
              <a:t>Отличием анализа </a:t>
            </a:r>
            <a:r>
              <a:rPr lang="ru-RU" sz="1100" i="1" dirty="0">
                <a:effectLst/>
                <a:latin typeface="Verdana" panose="020B0604030504040204" pitchFamily="34" charset="0"/>
                <a:ea typeface="Verdana" panose="020B0604030504040204" pitchFamily="34" charset="0"/>
                <a:cs typeface="Times New Roman" panose="02020603050405020304" pitchFamily="18" charset="0"/>
              </a:rPr>
              <a:t>временных рядов</a:t>
            </a:r>
            <a:r>
              <a:rPr lang="ru-RU" sz="1100" dirty="0">
                <a:effectLst/>
                <a:latin typeface="Verdana" panose="020B0604030504040204" pitchFamily="34" charset="0"/>
                <a:ea typeface="Verdana" panose="020B0604030504040204" pitchFamily="34" charset="0"/>
                <a:cs typeface="Times New Roman" panose="02020603050405020304" pitchFamily="18" charset="0"/>
              </a:rPr>
              <a:t> от анализа случайных выборок является предположение о равных промежутках времени между наблюдениями и их хронологический порядок. Привязка наблюдений ко времени играет здесь ключевую роль, тогда как при анализе случайной выборки она не имеет никакого значения.</a:t>
            </a:r>
          </a:p>
          <a:p>
            <a:pPr marL="0" indent="0">
              <a:buNone/>
            </a:pPr>
            <a:r>
              <a:rPr lang="ru-RU" sz="1100" dirty="0">
                <a:effectLst/>
                <a:latin typeface="Verdana" panose="020B0604030504040204" pitchFamily="34" charset="0"/>
                <a:ea typeface="Verdana" panose="020B0604030504040204" pitchFamily="34" charset="0"/>
                <a:cs typeface="Times New Roman" panose="02020603050405020304" pitchFamily="18" charset="0"/>
              </a:rPr>
              <a:t>Свойства временного ряда:</a:t>
            </a:r>
          </a:p>
          <a:p>
            <a:pPr marL="342900" marR="0" lvl="0" indent="-342900">
              <a:spcBef>
                <a:spcPts val="0"/>
              </a:spcBef>
              <a:spcAft>
                <a:spcPts val="0"/>
              </a:spcAft>
              <a:buSzPts val="1000"/>
              <a:buFont typeface="Symbol" panose="05050102010706020507" pitchFamily="18" charset="2"/>
              <a:buChar char=""/>
              <a:tabLst>
                <a:tab pos="457200" algn="l"/>
              </a:tabLst>
            </a:pPr>
            <a:r>
              <a:rPr lang="ru-RU" sz="1100" dirty="0">
                <a:effectLst/>
                <a:latin typeface="Verdana" panose="020B0604030504040204" pitchFamily="34" charset="0"/>
                <a:ea typeface="Verdana" panose="020B0604030504040204" pitchFamily="34" charset="0"/>
              </a:rPr>
              <a:t>Члены </a:t>
            </a:r>
            <a:r>
              <a:rPr lang="ru-RU" sz="1100" i="1" dirty="0">
                <a:effectLst/>
                <a:latin typeface="Verdana" panose="020B0604030504040204" pitchFamily="34" charset="0"/>
                <a:ea typeface="Verdana" panose="020B0604030504040204" pitchFamily="34" charset="0"/>
              </a:rPr>
              <a:t>временного ряда</a:t>
            </a:r>
            <a:r>
              <a:rPr lang="ru-RU" sz="1100" dirty="0">
                <a:effectLst/>
                <a:latin typeface="Verdana" panose="020B0604030504040204" pitchFamily="34" charset="0"/>
                <a:ea typeface="Verdana" panose="020B0604030504040204" pitchFamily="34" charset="0"/>
              </a:rPr>
              <a:t>, в отличие от элементов случайной выборки, не являются статистически независимыми. </a:t>
            </a:r>
          </a:p>
          <a:p>
            <a:pPr marL="342900" marR="0" lvl="0" indent="-342900">
              <a:spcBef>
                <a:spcPts val="0"/>
              </a:spcBef>
              <a:spcAft>
                <a:spcPts val="0"/>
              </a:spcAft>
              <a:buSzPts val="1000"/>
              <a:buFont typeface="Symbol" panose="05050102010706020507" pitchFamily="18" charset="2"/>
              <a:buChar char=""/>
              <a:tabLst>
                <a:tab pos="457200" algn="l"/>
              </a:tabLst>
            </a:pPr>
            <a:r>
              <a:rPr lang="ru-RU" sz="1100" dirty="0">
                <a:effectLst/>
                <a:latin typeface="Verdana" panose="020B0604030504040204" pitchFamily="34" charset="0"/>
                <a:ea typeface="Verdana" panose="020B0604030504040204" pitchFamily="34" charset="0"/>
              </a:rPr>
              <a:t>Члены </a:t>
            </a:r>
            <a:r>
              <a:rPr lang="ru-RU" sz="1100" i="1" dirty="0">
                <a:effectLst/>
                <a:latin typeface="Verdana" panose="020B0604030504040204" pitchFamily="34" charset="0"/>
                <a:ea typeface="Verdana" panose="020B0604030504040204" pitchFamily="34" charset="0"/>
              </a:rPr>
              <a:t>временного ряда</a:t>
            </a:r>
            <a:r>
              <a:rPr lang="ru-RU" sz="1100" dirty="0">
                <a:effectLst/>
                <a:latin typeface="Verdana" panose="020B0604030504040204" pitchFamily="34" charset="0"/>
                <a:ea typeface="Verdana" panose="020B0604030504040204" pitchFamily="34" charset="0"/>
              </a:rPr>
              <a:t> не являются одинаково распределенными.</a:t>
            </a:r>
          </a:p>
          <a:p>
            <a:pPr marL="0" marR="0" lvl="0" indent="0">
              <a:spcBef>
                <a:spcPts val="0"/>
              </a:spcBef>
              <a:spcAft>
                <a:spcPts val="0"/>
              </a:spcAft>
              <a:buSzPts val="1000"/>
              <a:buNone/>
              <a:tabLst>
                <a:tab pos="457200" algn="l"/>
              </a:tabLst>
            </a:pPr>
            <a:endParaRPr lang="ru-RU" sz="1100" dirty="0">
              <a:latin typeface="Verdana" panose="020B0604030504040204" pitchFamily="34" charset="0"/>
              <a:ea typeface="Verdana" panose="020B0604030504040204" pitchFamily="34" charset="0"/>
            </a:endParaRPr>
          </a:p>
          <a:p>
            <a:pPr marL="0" marR="0" lvl="0" indent="0">
              <a:spcBef>
                <a:spcPts val="0"/>
              </a:spcBef>
              <a:spcAft>
                <a:spcPts val="0"/>
              </a:spcAft>
              <a:buSzPts val="1000"/>
              <a:buNone/>
              <a:tabLst>
                <a:tab pos="457200" algn="l"/>
              </a:tabLst>
            </a:pPr>
            <a:endParaRPr lang="ru-RU" sz="1100" dirty="0">
              <a:effectLst/>
              <a:latin typeface="Verdana" panose="020B0604030504040204" pitchFamily="34" charset="0"/>
              <a:ea typeface="Verdana" panose="020B0604030504040204" pitchFamily="34" charset="0"/>
            </a:endParaRPr>
          </a:p>
          <a:p>
            <a:pPr marL="0" indent="0">
              <a:spcBef>
                <a:spcPts val="0"/>
              </a:spcBef>
              <a:buSzPts val="1000"/>
              <a:buNone/>
              <a:tabLst>
                <a:tab pos="457200" algn="l"/>
              </a:tabLst>
            </a:pPr>
            <a:r>
              <a:rPr lang="ru-RU" sz="1100" dirty="0">
                <a:effectLst/>
                <a:latin typeface="Verdana" panose="020B0604030504040204" pitchFamily="34" charset="0"/>
                <a:ea typeface="Times New Roman" panose="02020603050405020304" pitchFamily="18" charset="0"/>
                <a:cs typeface="Times New Roman" panose="02020603050405020304" pitchFamily="18" charset="0"/>
              </a:rPr>
              <a:t>Типичный пример </a:t>
            </a:r>
            <a:r>
              <a:rPr lang="ru-RU" sz="1100" i="1" dirty="0">
                <a:effectLst/>
                <a:latin typeface="Verdana" panose="020B0604030504040204" pitchFamily="34" charset="0"/>
                <a:ea typeface="Times New Roman" panose="02020603050405020304" pitchFamily="18" charset="0"/>
                <a:cs typeface="Times New Roman" panose="02020603050405020304" pitchFamily="18" charset="0"/>
              </a:rPr>
              <a:t>временного ряда</a:t>
            </a:r>
            <a:r>
              <a:rPr lang="ru-RU" sz="1100" dirty="0">
                <a:effectLst/>
                <a:latin typeface="Verdana" panose="020B0604030504040204" pitchFamily="34" charset="0"/>
                <a:ea typeface="Times New Roman" panose="02020603050405020304" pitchFamily="18" charset="0"/>
                <a:cs typeface="Times New Roman" panose="02020603050405020304" pitchFamily="18" charset="0"/>
              </a:rPr>
              <a:t> - данные биржевых торгов.</a:t>
            </a:r>
          </a:p>
          <a:p>
            <a:pPr marL="0" marR="0" lvl="0" indent="0">
              <a:spcBef>
                <a:spcPts val="0"/>
              </a:spcBef>
              <a:spcAft>
                <a:spcPts val="0"/>
              </a:spcAft>
              <a:buSzPts val="1000"/>
              <a:buNone/>
              <a:tabLst>
                <a:tab pos="457200" algn="l"/>
              </a:tabLst>
            </a:pPr>
            <a:endParaRPr lang="ru-RU" sz="1000" dirty="0">
              <a:effectLst/>
              <a:latin typeface="Verdana" panose="020B0604030504040204" pitchFamily="34" charset="0"/>
              <a:ea typeface="Verdana" panose="020B0604030504040204" pitchFamily="34" charset="0"/>
            </a:endParaRPr>
          </a:p>
          <a:p>
            <a:pPr marL="0" indent="0">
              <a:buNone/>
            </a:pPr>
            <a:endParaRPr lang="ru-RU" sz="1000" dirty="0">
              <a:effectLst/>
              <a:latin typeface="Verdana" panose="020B0604030504040204" pitchFamily="34" charset="0"/>
              <a:ea typeface="Times New Roman" panose="02020603050405020304" pitchFamily="18" charset="0"/>
              <a:cs typeface="Times New Roman" panose="02020603050405020304" pitchFamily="18" charset="0"/>
            </a:endParaRPr>
          </a:p>
          <a:p>
            <a:pPr marL="0" indent="0">
              <a:buNone/>
            </a:pPr>
            <a:endParaRPr lang="LID4096" sz="1000" dirty="0"/>
          </a:p>
        </p:txBody>
      </p:sp>
      <p:pic>
        <p:nvPicPr>
          <p:cNvPr id="5" name="Picture 4" descr="A graph with lines and numbers&#10;&#10;Description automatically generated">
            <a:extLst>
              <a:ext uri="{FF2B5EF4-FFF2-40B4-BE49-F238E27FC236}">
                <a16:creationId xmlns:a16="http://schemas.microsoft.com/office/drawing/2014/main" id="{26AAB393-BDB6-B89A-424C-1E0455A889D5}"/>
              </a:ext>
            </a:extLst>
          </p:cNvPr>
          <p:cNvPicPr>
            <a:picLocks noChangeAspect="1"/>
          </p:cNvPicPr>
          <p:nvPr/>
        </p:nvPicPr>
        <p:blipFill>
          <a:blip r:embed="rId3"/>
          <a:stretch>
            <a:fillRect/>
          </a:stretch>
        </p:blipFill>
        <p:spPr>
          <a:xfrm>
            <a:off x="5521023" y="2428241"/>
            <a:ext cx="5986850" cy="2724016"/>
          </a:xfrm>
          <a:prstGeom prst="rect">
            <a:avLst/>
          </a:prstGeom>
        </p:spPr>
      </p:pic>
      <p:sp>
        <p:nvSpPr>
          <p:cNvPr id="49" name="Freeform: Shape 48">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963768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24" name="Rectangle 23">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Rectangle 27">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245010-7EFA-E254-FB50-8A9421E688AC}"/>
              </a:ext>
            </a:extLst>
          </p:cNvPr>
          <p:cNvSpPr>
            <a:spLocks noGrp="1"/>
          </p:cNvSpPr>
          <p:nvPr>
            <p:ph type="title"/>
          </p:nvPr>
        </p:nvSpPr>
        <p:spPr>
          <a:xfrm>
            <a:off x="1043631" y="873940"/>
            <a:ext cx="4928291" cy="1035781"/>
          </a:xfrm>
        </p:spPr>
        <p:txBody>
          <a:bodyPr anchor="ctr">
            <a:normAutofit/>
          </a:bodyPr>
          <a:lstStyle/>
          <a:p>
            <a:r>
              <a:rPr lang="ru-RU" sz="3300" b="1">
                <a:effectLst/>
                <a:latin typeface="Verdana" panose="020B0604030504040204" pitchFamily="34" charset="0"/>
              </a:rPr>
              <a:t>Тренд, сезонность и цикл</a:t>
            </a:r>
            <a:endParaRPr lang="LID4096" sz="3300"/>
          </a:p>
        </p:txBody>
      </p:sp>
      <p:sp>
        <p:nvSpPr>
          <p:cNvPr id="3" name="Content Placeholder 2">
            <a:extLst>
              <a:ext uri="{FF2B5EF4-FFF2-40B4-BE49-F238E27FC236}">
                <a16:creationId xmlns:a16="http://schemas.microsoft.com/office/drawing/2014/main" id="{935D0CCE-C280-2541-EB9F-6B544D9BD591}"/>
              </a:ext>
            </a:extLst>
          </p:cNvPr>
          <p:cNvSpPr>
            <a:spLocks noGrp="1"/>
          </p:cNvSpPr>
          <p:nvPr>
            <p:ph idx="1"/>
          </p:nvPr>
        </p:nvSpPr>
        <p:spPr>
          <a:xfrm>
            <a:off x="463692" y="2524721"/>
            <a:ext cx="5865987" cy="3677123"/>
          </a:xfrm>
        </p:spPr>
        <p:txBody>
          <a:bodyPr anchor="ctr">
            <a:normAutofit/>
          </a:bodyPr>
          <a:lstStyle/>
          <a:p>
            <a:pPr marL="0" marR="0" indent="0">
              <a:buNone/>
            </a:pPr>
            <a:r>
              <a:rPr lang="ru-RU" sz="1100" dirty="0">
                <a:effectLst/>
                <a:latin typeface="Verdana" panose="020B0604030504040204" pitchFamily="34" charset="0"/>
                <a:ea typeface="Times New Roman" panose="02020603050405020304" pitchFamily="18" charset="0"/>
                <a:cs typeface="Times New Roman" panose="02020603050405020304" pitchFamily="18" charset="0"/>
              </a:rPr>
              <a:t>Основными составляющими </a:t>
            </a:r>
            <a:r>
              <a:rPr lang="ru-RU" sz="1100" i="1" dirty="0">
                <a:effectLst/>
                <a:latin typeface="Verdana" panose="020B0604030504040204" pitchFamily="34" charset="0"/>
                <a:ea typeface="Times New Roman" panose="02020603050405020304" pitchFamily="18" charset="0"/>
                <a:cs typeface="Times New Roman" panose="02020603050405020304" pitchFamily="18" charset="0"/>
              </a:rPr>
              <a:t>временного ряда</a:t>
            </a:r>
            <a:r>
              <a:rPr lang="ru-RU" sz="1100" dirty="0">
                <a:effectLst/>
                <a:latin typeface="Verdana" panose="020B0604030504040204" pitchFamily="34" charset="0"/>
                <a:ea typeface="Times New Roman" panose="02020603050405020304" pitchFamily="18" charset="0"/>
                <a:cs typeface="Times New Roman" panose="02020603050405020304" pitchFamily="18" charset="0"/>
              </a:rPr>
              <a:t> являются </a:t>
            </a:r>
            <a:r>
              <a:rPr lang="ru-RU" sz="1100" i="1" dirty="0">
                <a:effectLst/>
                <a:latin typeface="Verdana" panose="020B0604030504040204" pitchFamily="34" charset="0"/>
                <a:ea typeface="Times New Roman" panose="02020603050405020304" pitchFamily="18" charset="0"/>
                <a:cs typeface="Times New Roman" panose="02020603050405020304" pitchFamily="18" charset="0"/>
              </a:rPr>
              <a:t>тренд</a:t>
            </a:r>
            <a:r>
              <a:rPr lang="ru-RU" sz="1100" dirty="0">
                <a:effectLst/>
                <a:latin typeface="Verdana" panose="020B0604030504040204" pitchFamily="34" charset="0"/>
                <a:ea typeface="Times New Roman" panose="02020603050405020304" pitchFamily="18" charset="0"/>
                <a:cs typeface="Times New Roman" panose="02020603050405020304" pitchFamily="18" charset="0"/>
              </a:rPr>
              <a:t> и </a:t>
            </a:r>
            <a:r>
              <a:rPr lang="ru-RU" sz="1100" i="1" dirty="0">
                <a:effectLst/>
                <a:latin typeface="Verdana" panose="020B0604030504040204" pitchFamily="34" charset="0"/>
                <a:ea typeface="Times New Roman" panose="02020603050405020304" pitchFamily="18" charset="0"/>
                <a:cs typeface="Times New Roman" panose="02020603050405020304" pitchFamily="18" charset="0"/>
              </a:rPr>
              <a:t>сезонная компонента</a:t>
            </a:r>
            <a:r>
              <a:rPr lang="ru-RU" sz="1100" dirty="0">
                <a:effectLst/>
                <a:latin typeface="Verdana" panose="020B0604030504040204" pitchFamily="34" charset="0"/>
                <a:ea typeface="Times New Roman" panose="02020603050405020304" pitchFamily="18" charset="0"/>
                <a:cs typeface="Times New Roman" panose="02020603050405020304" pitchFamily="18" charset="0"/>
              </a:rPr>
              <a:t>. Составляющие этих рядов могут представлять собой либо </a:t>
            </a:r>
            <a:r>
              <a:rPr lang="ru-RU" sz="1100" i="1" dirty="0">
                <a:effectLst/>
                <a:latin typeface="Verdana" panose="020B0604030504040204" pitchFamily="34" charset="0"/>
                <a:ea typeface="Times New Roman" panose="02020603050405020304" pitchFamily="18" charset="0"/>
                <a:cs typeface="Times New Roman" panose="02020603050405020304" pitchFamily="18" charset="0"/>
              </a:rPr>
              <a:t>тренд</a:t>
            </a:r>
            <a:r>
              <a:rPr lang="ru-RU" sz="1100" dirty="0">
                <a:effectLst/>
                <a:latin typeface="Verdana" panose="020B0604030504040204" pitchFamily="34" charset="0"/>
                <a:ea typeface="Times New Roman" panose="02020603050405020304" pitchFamily="18" charset="0"/>
                <a:cs typeface="Times New Roman" panose="02020603050405020304" pitchFamily="18" charset="0"/>
              </a:rPr>
              <a:t>, либо </a:t>
            </a:r>
            <a:r>
              <a:rPr lang="ru-RU" sz="1100" i="1" dirty="0">
                <a:effectLst/>
                <a:latin typeface="Verdana" panose="020B0604030504040204" pitchFamily="34" charset="0"/>
                <a:ea typeface="Times New Roman" panose="02020603050405020304" pitchFamily="18" charset="0"/>
                <a:cs typeface="Times New Roman" panose="02020603050405020304" pitchFamily="18" charset="0"/>
              </a:rPr>
              <a:t>сезонную компоненту</a:t>
            </a:r>
            <a:r>
              <a:rPr lang="ru-RU" sz="1100" dirty="0">
                <a:effectLst/>
                <a:latin typeface="Verdana" panose="020B0604030504040204" pitchFamily="34" charset="0"/>
                <a:ea typeface="Times New Roman" panose="02020603050405020304" pitchFamily="18" charset="0"/>
                <a:cs typeface="Times New Roman" panose="02020603050405020304" pitchFamily="18" charset="0"/>
              </a:rPr>
              <a:t>. </a:t>
            </a:r>
          </a:p>
          <a:p>
            <a:pPr marL="0" marR="0" indent="0">
              <a:buNone/>
            </a:pPr>
            <a:endParaRPr lang="ru-RU" sz="1100" dirty="0">
              <a:effectLst/>
              <a:latin typeface="Verdana" panose="020B0604030504040204" pitchFamily="34" charset="0"/>
              <a:ea typeface="Times New Roman" panose="02020603050405020304" pitchFamily="18" charset="0"/>
              <a:cs typeface="Times New Roman" panose="02020603050405020304" pitchFamily="18" charset="0"/>
            </a:endParaRPr>
          </a:p>
          <a:p>
            <a:pPr marL="0" marR="0" indent="0">
              <a:buNone/>
            </a:pPr>
            <a:r>
              <a:rPr lang="ru-RU" sz="1100" i="1" dirty="0">
                <a:effectLst/>
                <a:latin typeface="Verdana" panose="020B0604030504040204" pitchFamily="34" charset="0"/>
                <a:ea typeface="Times New Roman" panose="02020603050405020304" pitchFamily="18" charset="0"/>
                <a:cs typeface="Times New Roman" panose="02020603050405020304" pitchFamily="18" charset="0"/>
              </a:rPr>
              <a:t>Тренд</a:t>
            </a:r>
            <a:r>
              <a:rPr lang="ru-RU" sz="1100" dirty="0">
                <a:effectLst/>
                <a:latin typeface="Verdana" panose="020B0604030504040204" pitchFamily="34" charset="0"/>
                <a:ea typeface="Times New Roman" panose="02020603050405020304" pitchFamily="18" charset="0"/>
                <a:cs typeface="Times New Roman" panose="02020603050405020304" pitchFamily="18" charset="0"/>
              </a:rPr>
              <a:t> является систематической компонентой </a:t>
            </a:r>
            <a:r>
              <a:rPr lang="ru-RU" sz="1100" i="1" dirty="0">
                <a:effectLst/>
                <a:latin typeface="Verdana" panose="020B0604030504040204" pitchFamily="34" charset="0"/>
                <a:ea typeface="Times New Roman" panose="02020603050405020304" pitchFamily="18" charset="0"/>
                <a:cs typeface="Times New Roman" panose="02020603050405020304" pitchFamily="18" charset="0"/>
              </a:rPr>
              <a:t>временного ряда</a:t>
            </a:r>
            <a:r>
              <a:rPr lang="ru-RU" sz="1100" dirty="0">
                <a:effectLst/>
                <a:latin typeface="Verdana" panose="020B0604030504040204" pitchFamily="34" charset="0"/>
                <a:ea typeface="Times New Roman" panose="02020603050405020304" pitchFamily="18" charset="0"/>
                <a:cs typeface="Times New Roman" panose="02020603050405020304" pitchFamily="18" charset="0"/>
              </a:rPr>
              <a:t>, которая может изменяться во времени.</a:t>
            </a:r>
          </a:p>
          <a:p>
            <a:pPr marL="0" indent="0">
              <a:buNone/>
            </a:pPr>
            <a:r>
              <a:rPr lang="ru-RU" sz="1100" b="1" i="1" dirty="0">
                <a:effectLst/>
                <a:latin typeface="Verdana" panose="020B0604030504040204" pitchFamily="34" charset="0"/>
                <a:ea typeface="Verdana" panose="020B0604030504040204" pitchFamily="34" charset="0"/>
              </a:rPr>
              <a:t>Трендом</a:t>
            </a:r>
            <a:r>
              <a:rPr lang="ru-RU" sz="1100" dirty="0">
                <a:effectLst/>
                <a:latin typeface="Verdana" panose="020B0604030504040204" pitchFamily="34" charset="0"/>
                <a:ea typeface="Verdana" panose="020B0604030504040204" pitchFamily="34" charset="0"/>
              </a:rPr>
              <a:t> называют неслучайную функцию, которая формируется под действием общих или долговременных тенденций, влияющих на </a:t>
            </a:r>
            <a:r>
              <a:rPr lang="ru-RU" sz="1100" i="1" dirty="0">
                <a:effectLst/>
                <a:latin typeface="Verdana" panose="020B0604030504040204" pitchFamily="34" charset="0"/>
                <a:ea typeface="Verdana" panose="020B0604030504040204" pitchFamily="34" charset="0"/>
              </a:rPr>
              <a:t>временной ряд</a:t>
            </a:r>
            <a:r>
              <a:rPr lang="ru-RU" sz="1100" dirty="0">
                <a:effectLst/>
                <a:latin typeface="Verdana" panose="020B0604030504040204" pitchFamily="34" charset="0"/>
                <a:ea typeface="Verdana" panose="020B0604030504040204" pitchFamily="34" charset="0"/>
              </a:rPr>
              <a:t>.</a:t>
            </a:r>
          </a:p>
          <a:p>
            <a:pPr marL="0" indent="0">
              <a:buNone/>
            </a:pPr>
            <a:endParaRPr lang="ru-RU" sz="1100" dirty="0">
              <a:latin typeface="Verdana" panose="020B0604030504040204" pitchFamily="34" charset="0"/>
              <a:ea typeface="Verdana" panose="020B0604030504040204" pitchFamily="34" charset="0"/>
            </a:endParaRPr>
          </a:p>
          <a:p>
            <a:pPr marL="0" marR="0" indent="0">
              <a:buNone/>
            </a:pPr>
            <a:r>
              <a:rPr lang="ru-RU" sz="1100" b="1" dirty="0">
                <a:effectLst/>
                <a:latin typeface="Verdana" panose="020B0604030504040204" pitchFamily="34" charset="0"/>
                <a:ea typeface="Times New Roman" panose="02020603050405020304" pitchFamily="18" charset="0"/>
                <a:cs typeface="Times New Roman" panose="02020603050405020304" pitchFamily="18" charset="0"/>
              </a:rPr>
              <a:t>Сезонная</a:t>
            </a:r>
            <a:r>
              <a:rPr lang="ru-RU" sz="1100" dirty="0">
                <a:effectLst/>
                <a:latin typeface="Verdana" panose="020B0604030504040204" pitchFamily="34" charset="0"/>
                <a:ea typeface="Times New Roman" panose="02020603050405020304" pitchFamily="18" charset="0"/>
                <a:cs typeface="Times New Roman" panose="02020603050405020304" pitchFamily="18" charset="0"/>
              </a:rPr>
              <a:t> составляющая </a:t>
            </a:r>
            <a:r>
              <a:rPr lang="ru-RU" sz="1100" i="1" dirty="0">
                <a:effectLst/>
                <a:latin typeface="Verdana" panose="020B0604030504040204" pitchFamily="34" charset="0"/>
                <a:ea typeface="Times New Roman" panose="02020603050405020304" pitchFamily="18" charset="0"/>
                <a:cs typeface="Times New Roman" panose="02020603050405020304" pitchFamily="18" charset="0"/>
              </a:rPr>
              <a:t>временного ряда</a:t>
            </a:r>
            <a:r>
              <a:rPr lang="ru-RU" sz="1100" dirty="0">
                <a:effectLst/>
                <a:latin typeface="Verdana" panose="020B0604030504040204" pitchFamily="34" charset="0"/>
                <a:ea typeface="Times New Roman" panose="02020603050405020304" pitchFamily="18" charset="0"/>
                <a:cs typeface="Times New Roman" panose="02020603050405020304" pitchFamily="18" charset="0"/>
              </a:rPr>
              <a:t> является периодически повторяющейся компонентой </a:t>
            </a:r>
            <a:r>
              <a:rPr lang="ru-RU" sz="1100" i="1" dirty="0">
                <a:effectLst/>
                <a:latin typeface="Verdana" panose="020B0604030504040204" pitchFamily="34" charset="0"/>
                <a:ea typeface="Times New Roman" panose="02020603050405020304" pitchFamily="18" charset="0"/>
                <a:cs typeface="Times New Roman" panose="02020603050405020304" pitchFamily="18" charset="0"/>
              </a:rPr>
              <a:t>временного ряда</a:t>
            </a:r>
            <a:r>
              <a:rPr lang="ru-RU" sz="1100" dirty="0">
                <a:effectLst/>
                <a:latin typeface="Verdana" panose="020B0604030504040204" pitchFamily="34" charset="0"/>
                <a:ea typeface="Times New Roman" panose="02020603050405020304" pitchFamily="18" charset="0"/>
                <a:cs typeface="Times New Roman" panose="02020603050405020304" pitchFamily="18" charset="0"/>
              </a:rPr>
              <a:t>.</a:t>
            </a:r>
          </a:p>
          <a:p>
            <a:pPr marL="0" marR="0" indent="0">
              <a:buNone/>
            </a:pPr>
            <a:r>
              <a:rPr lang="ru-RU" sz="1100" dirty="0">
                <a:effectLst/>
                <a:latin typeface="Verdana" panose="020B0604030504040204" pitchFamily="34" charset="0"/>
                <a:ea typeface="Times New Roman" panose="02020603050405020304" pitchFamily="18" charset="0"/>
                <a:cs typeface="Times New Roman" panose="02020603050405020304" pitchFamily="18" charset="0"/>
              </a:rPr>
              <a:t>Свойство сезонности означает, что через примерно равные промежутки времени форма кривой, которая описывает поведение зависимой переменной, повторяет свои характерные очертания.</a:t>
            </a:r>
          </a:p>
          <a:p>
            <a:pPr marL="0" indent="0">
              <a:buNone/>
            </a:pPr>
            <a:endParaRPr lang="LID4096" sz="1100" dirty="0">
              <a:latin typeface="Verdana" panose="020B0604030504040204" pitchFamily="34" charset="0"/>
              <a:ea typeface="Verdana" panose="020B0604030504040204" pitchFamily="34" charset="0"/>
            </a:endParaRPr>
          </a:p>
        </p:txBody>
      </p:sp>
      <p:sp>
        <p:nvSpPr>
          <p:cNvPr id="30" name="Rectangle 29">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aph with a line graph&#10;&#10;Description automatically generated">
            <a:extLst>
              <a:ext uri="{FF2B5EF4-FFF2-40B4-BE49-F238E27FC236}">
                <a16:creationId xmlns:a16="http://schemas.microsoft.com/office/drawing/2014/main" id="{ABBA148C-FB17-E4CF-0C27-AA583DBE1B5A}"/>
              </a:ext>
            </a:extLst>
          </p:cNvPr>
          <p:cNvPicPr>
            <a:picLocks noChangeAspect="1"/>
          </p:cNvPicPr>
          <p:nvPr/>
        </p:nvPicPr>
        <p:blipFill>
          <a:blip r:embed="rId3"/>
          <a:stretch>
            <a:fillRect/>
          </a:stretch>
        </p:blipFill>
        <p:spPr>
          <a:xfrm>
            <a:off x="6841066" y="860696"/>
            <a:ext cx="4305905" cy="2279596"/>
          </a:xfrm>
          <a:prstGeom prst="rect">
            <a:avLst/>
          </a:prstGeom>
        </p:spPr>
      </p:pic>
      <p:sp>
        <p:nvSpPr>
          <p:cNvPr id="32" name="Rectangle 31">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312F6CD-81F0-4113-8251-7CD37F3772FE}"/>
              </a:ext>
            </a:extLst>
          </p:cNvPr>
          <p:cNvPicPr>
            <a:picLocks noChangeAspect="1"/>
          </p:cNvPicPr>
          <p:nvPr/>
        </p:nvPicPr>
        <p:blipFill>
          <a:blip r:embed="rId4"/>
          <a:stretch>
            <a:fillRect/>
          </a:stretch>
        </p:blipFill>
        <p:spPr>
          <a:xfrm>
            <a:off x="6841066" y="4275568"/>
            <a:ext cx="4305905" cy="1173359"/>
          </a:xfrm>
          <a:prstGeom prst="rect">
            <a:avLst/>
          </a:prstGeom>
        </p:spPr>
      </p:pic>
      <p:cxnSp>
        <p:nvCxnSpPr>
          <p:cNvPr id="34" name="Straight Connector 33">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3707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35A04CF-97D4-4FF7-B359-C546B1F62E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DE7243B-5109-444B-8FAF-7437C66BC0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21332" cy="6858000"/>
          </a:xfrm>
          <a:custGeom>
            <a:avLst/>
            <a:gdLst>
              <a:gd name="connsiteX0" fmla="*/ 4421332 w 4421332"/>
              <a:gd name="connsiteY0" fmla="*/ 0 h 6858000"/>
              <a:gd name="connsiteX1" fmla="*/ 69075 w 4421332"/>
              <a:gd name="connsiteY1" fmla="*/ 0 h 6858000"/>
              <a:gd name="connsiteX2" fmla="*/ 35131 w 4421332"/>
              <a:gd name="connsiteY2" fmla="*/ 267128 h 6858000"/>
              <a:gd name="connsiteX3" fmla="*/ 0 w 4421332"/>
              <a:gd name="connsiteY3" fmla="*/ 962845 h 6858000"/>
              <a:gd name="connsiteX4" fmla="*/ 3276103 w 4421332"/>
              <a:gd name="connsiteY4" fmla="*/ 6782205 h 6858000"/>
              <a:gd name="connsiteX5" fmla="*/ 3407923 w 4421332"/>
              <a:gd name="connsiteY5" fmla="*/ 6858000 h 6858000"/>
              <a:gd name="connsiteX6" fmla="*/ 4421332 w 4421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1332" h="6858000">
                <a:moveTo>
                  <a:pt x="4421332" y="0"/>
                </a:moveTo>
                <a:lnTo>
                  <a:pt x="69075" y="0"/>
                </a:lnTo>
                <a:lnTo>
                  <a:pt x="35131" y="267128"/>
                </a:lnTo>
                <a:cubicBezTo>
                  <a:pt x="11901" y="495874"/>
                  <a:pt x="0" y="727970"/>
                  <a:pt x="0" y="962845"/>
                </a:cubicBezTo>
                <a:cubicBezTo>
                  <a:pt x="0" y="3429034"/>
                  <a:pt x="1312002" y="5588789"/>
                  <a:pt x="3276103" y="6782205"/>
                </a:cubicBezTo>
                <a:lnTo>
                  <a:pt x="3407923" y="6858000"/>
                </a:lnTo>
                <a:lnTo>
                  <a:pt x="442133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4C5D6221-DA7B-4611-AA26-7D8E349FD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232227" cy="6858000"/>
          </a:xfrm>
          <a:custGeom>
            <a:avLst/>
            <a:gdLst>
              <a:gd name="connsiteX0" fmla="*/ 0 w 4232227"/>
              <a:gd name="connsiteY0" fmla="*/ 0 h 6858000"/>
              <a:gd name="connsiteX1" fmla="*/ 4161853 w 4232227"/>
              <a:gd name="connsiteY1" fmla="*/ 0 h 6858000"/>
              <a:gd name="connsiteX2" fmla="*/ 4197953 w 4232227"/>
              <a:gd name="connsiteY2" fmla="*/ 284091 h 6858000"/>
              <a:gd name="connsiteX3" fmla="*/ 4232227 w 4232227"/>
              <a:gd name="connsiteY3" fmla="*/ 962844 h 6858000"/>
              <a:gd name="connsiteX4" fmla="*/ 758007 w 4232227"/>
              <a:gd name="connsiteY4" fmla="*/ 6800152 h 6858000"/>
              <a:gd name="connsiteX5" fmla="*/ 645060 w 4232227"/>
              <a:gd name="connsiteY5" fmla="*/ 6858000 h 6858000"/>
              <a:gd name="connsiteX6" fmla="*/ 0 w 423222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2227" h="6858000">
                <a:moveTo>
                  <a:pt x="0" y="0"/>
                </a:moveTo>
                <a:lnTo>
                  <a:pt x="4161853" y="0"/>
                </a:lnTo>
                <a:lnTo>
                  <a:pt x="4197953" y="284091"/>
                </a:lnTo>
                <a:cubicBezTo>
                  <a:pt x="4220617" y="507260"/>
                  <a:pt x="4232227" y="733696"/>
                  <a:pt x="4232227" y="962844"/>
                </a:cubicBezTo>
                <a:cubicBezTo>
                  <a:pt x="4232227" y="3483472"/>
                  <a:pt x="2827409" y="5675986"/>
                  <a:pt x="758007" y="6800152"/>
                </a:cubicBezTo>
                <a:lnTo>
                  <a:pt x="645060" y="6858000"/>
                </a:lnTo>
                <a:lnTo>
                  <a:pt x="0" y="6858000"/>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A898BA9-CD80-034B-FAE6-FEB5FC00694B}"/>
              </a:ext>
            </a:extLst>
          </p:cNvPr>
          <p:cNvSpPr>
            <a:spLocks noGrp="1"/>
          </p:cNvSpPr>
          <p:nvPr>
            <p:ph type="title"/>
          </p:nvPr>
        </p:nvSpPr>
        <p:spPr>
          <a:xfrm>
            <a:off x="804672" y="1412489"/>
            <a:ext cx="2871095" cy="2156621"/>
          </a:xfrm>
        </p:spPr>
        <p:txBody>
          <a:bodyPr vert="horz" lIns="91440" tIns="45720" rIns="91440" bIns="45720" rtlCol="0" anchor="t">
            <a:normAutofit/>
          </a:bodyPr>
          <a:lstStyle/>
          <a:p>
            <a:r>
              <a:rPr lang="en-US" sz="2800" kern="1200">
                <a:solidFill>
                  <a:srgbClr val="FFFFFF"/>
                </a:solidFill>
                <a:latin typeface="+mj-lt"/>
                <a:ea typeface="+mj-ea"/>
                <a:cs typeface="+mj-cs"/>
              </a:rPr>
              <a:t>Процесс прогнозирования</a:t>
            </a:r>
          </a:p>
        </p:txBody>
      </p:sp>
      <p:sp>
        <p:nvSpPr>
          <p:cNvPr id="3" name="Content Placeholder 2">
            <a:extLst>
              <a:ext uri="{FF2B5EF4-FFF2-40B4-BE49-F238E27FC236}">
                <a16:creationId xmlns:a16="http://schemas.microsoft.com/office/drawing/2014/main" id="{0995C770-EDF9-A8D9-D5B5-FF3A9A118B0D}"/>
              </a:ext>
            </a:extLst>
          </p:cNvPr>
          <p:cNvSpPr>
            <a:spLocks noGrp="1"/>
          </p:cNvSpPr>
          <p:nvPr>
            <p:ph idx="1"/>
          </p:nvPr>
        </p:nvSpPr>
        <p:spPr>
          <a:xfrm>
            <a:off x="4572000" y="264160"/>
            <a:ext cx="3553073" cy="6106159"/>
          </a:xfrm>
        </p:spPr>
        <p:txBody>
          <a:bodyPr vert="horz" lIns="91440" tIns="45720" rIns="91440" bIns="45720" rtlCol="0">
            <a:noAutofit/>
          </a:bodyPr>
          <a:lstStyle/>
          <a:p>
            <a:pPr marL="0" marR="0" indent="0">
              <a:buNone/>
            </a:pPr>
            <a:r>
              <a:rPr lang="en-US" sz="1800" dirty="0" err="1">
                <a:effectLst/>
              </a:rPr>
              <a:t>Перед</a:t>
            </a:r>
            <a:r>
              <a:rPr lang="en-US" sz="1800" dirty="0">
                <a:effectLst/>
              </a:rPr>
              <a:t> </a:t>
            </a:r>
            <a:r>
              <a:rPr lang="en-US" sz="1800" dirty="0" err="1">
                <a:effectLst/>
              </a:rPr>
              <a:t>началом</a:t>
            </a:r>
            <a:r>
              <a:rPr lang="en-US" sz="1800" dirty="0">
                <a:effectLst/>
              </a:rPr>
              <a:t> </a:t>
            </a:r>
            <a:r>
              <a:rPr lang="en-US" sz="1800" i="1" dirty="0" err="1">
                <a:effectLst/>
              </a:rPr>
              <a:t>прогнозирования</a:t>
            </a:r>
            <a:r>
              <a:rPr lang="en-US" sz="1800" dirty="0">
                <a:effectLst/>
              </a:rPr>
              <a:t> </a:t>
            </a:r>
            <a:r>
              <a:rPr lang="en-US" sz="1800" dirty="0" err="1">
                <a:effectLst/>
              </a:rPr>
              <a:t>необходимо</a:t>
            </a:r>
            <a:r>
              <a:rPr lang="en-US" sz="1800" dirty="0">
                <a:effectLst/>
              </a:rPr>
              <a:t> </a:t>
            </a:r>
            <a:r>
              <a:rPr lang="en-US" sz="1800" dirty="0" err="1">
                <a:effectLst/>
              </a:rPr>
              <a:t>ответить</a:t>
            </a:r>
            <a:r>
              <a:rPr lang="en-US" sz="1800" dirty="0">
                <a:effectLst/>
              </a:rPr>
              <a:t> </a:t>
            </a:r>
            <a:r>
              <a:rPr lang="en-US" sz="1800" dirty="0" err="1">
                <a:effectLst/>
              </a:rPr>
              <a:t>на</a:t>
            </a:r>
            <a:r>
              <a:rPr lang="en-US" sz="1800" dirty="0">
                <a:effectLst/>
              </a:rPr>
              <a:t> </a:t>
            </a:r>
            <a:r>
              <a:rPr lang="en-US" sz="1800" dirty="0" err="1">
                <a:effectLst/>
              </a:rPr>
              <a:t>следующие</a:t>
            </a:r>
            <a:r>
              <a:rPr lang="en-US" sz="1800" dirty="0">
                <a:effectLst/>
              </a:rPr>
              <a:t> </a:t>
            </a:r>
            <a:r>
              <a:rPr lang="en-US" sz="1800" dirty="0" err="1">
                <a:effectLst/>
              </a:rPr>
              <a:t>вопросы</a:t>
            </a:r>
            <a:r>
              <a:rPr lang="en-US" sz="1800" dirty="0">
                <a:effectLst/>
              </a:rPr>
              <a:t>:</a:t>
            </a:r>
          </a:p>
          <a:p>
            <a:pPr marL="0" marR="0"/>
            <a:endParaRPr lang="en-US" sz="1800" dirty="0">
              <a:effectLst/>
            </a:endParaRPr>
          </a:p>
          <a:p>
            <a:pPr marL="342900" marR="0" lvl="0">
              <a:spcBef>
                <a:spcPts val="0"/>
              </a:spcBef>
              <a:spcAft>
                <a:spcPts val="0"/>
              </a:spcAft>
              <a:tabLst>
                <a:tab pos="457200" algn="l"/>
              </a:tabLst>
            </a:pPr>
            <a:r>
              <a:rPr lang="en-US" sz="1800" dirty="0" err="1">
                <a:effectLst/>
              </a:rPr>
              <a:t>Что</a:t>
            </a:r>
            <a:r>
              <a:rPr lang="en-US" sz="1800" dirty="0">
                <a:effectLst/>
              </a:rPr>
              <a:t> </a:t>
            </a:r>
            <a:r>
              <a:rPr lang="en-US" sz="1800" dirty="0" err="1">
                <a:effectLst/>
              </a:rPr>
              <a:t>нужно</a:t>
            </a:r>
            <a:r>
              <a:rPr lang="en-US" sz="1800" dirty="0">
                <a:effectLst/>
              </a:rPr>
              <a:t> </a:t>
            </a:r>
            <a:r>
              <a:rPr lang="en-US" sz="1800" dirty="0" err="1">
                <a:effectLst/>
              </a:rPr>
              <a:t>прогнозировать</a:t>
            </a:r>
            <a:r>
              <a:rPr lang="en-US" sz="1800" dirty="0">
                <a:effectLst/>
              </a:rPr>
              <a:t>? – </a:t>
            </a:r>
            <a:r>
              <a:rPr lang="en-US" sz="1800" dirty="0" err="1">
                <a:effectLst/>
              </a:rPr>
              <a:t>Определить</a:t>
            </a:r>
            <a:r>
              <a:rPr lang="en-US" sz="1800" dirty="0">
                <a:effectLst/>
              </a:rPr>
              <a:t> </a:t>
            </a:r>
            <a:r>
              <a:rPr lang="en-US" sz="1800" dirty="0" err="1">
                <a:effectLst/>
              </a:rPr>
              <a:t>переменные</a:t>
            </a:r>
            <a:r>
              <a:rPr lang="en-US" sz="1800" dirty="0">
                <a:effectLst/>
              </a:rPr>
              <a:t>, </a:t>
            </a:r>
            <a:r>
              <a:rPr lang="en-US" sz="1800" dirty="0" err="1">
                <a:effectLst/>
              </a:rPr>
              <a:t>которые</a:t>
            </a:r>
            <a:r>
              <a:rPr lang="en-US" sz="1800" dirty="0">
                <a:effectLst/>
              </a:rPr>
              <a:t> </a:t>
            </a:r>
            <a:r>
              <a:rPr lang="en-US" sz="1800" dirty="0" err="1">
                <a:effectLst/>
              </a:rPr>
              <a:t>будут</a:t>
            </a:r>
            <a:r>
              <a:rPr lang="en-US" sz="1800" dirty="0">
                <a:effectLst/>
              </a:rPr>
              <a:t> </a:t>
            </a:r>
            <a:r>
              <a:rPr lang="en-US" sz="1800" dirty="0" err="1">
                <a:effectLst/>
              </a:rPr>
              <a:t>прогнозироваться</a:t>
            </a:r>
            <a:endParaRPr lang="en-US" sz="1800" dirty="0">
              <a:effectLst/>
            </a:endParaRPr>
          </a:p>
          <a:p>
            <a:pPr marL="342900" marR="0" lvl="0">
              <a:spcBef>
                <a:spcPts val="0"/>
              </a:spcBef>
              <a:spcAft>
                <a:spcPts val="0"/>
              </a:spcAft>
              <a:tabLst>
                <a:tab pos="457200" algn="l"/>
              </a:tabLst>
            </a:pPr>
            <a:endParaRPr lang="en-US" sz="1800" dirty="0">
              <a:effectLst/>
            </a:endParaRPr>
          </a:p>
          <a:p>
            <a:pPr marL="342900" marR="0" lvl="0">
              <a:spcBef>
                <a:spcPts val="0"/>
              </a:spcBef>
              <a:spcAft>
                <a:spcPts val="0"/>
              </a:spcAft>
              <a:tabLst>
                <a:tab pos="457200" algn="l"/>
              </a:tabLst>
            </a:pPr>
            <a:r>
              <a:rPr lang="en-US" sz="1800" dirty="0">
                <a:effectLst/>
              </a:rPr>
              <a:t>В </a:t>
            </a:r>
            <a:r>
              <a:rPr lang="en-US" sz="1800" dirty="0" err="1">
                <a:effectLst/>
              </a:rPr>
              <a:t>каких</a:t>
            </a:r>
            <a:r>
              <a:rPr lang="en-US" sz="1800" dirty="0">
                <a:effectLst/>
              </a:rPr>
              <a:t> </a:t>
            </a:r>
            <a:r>
              <a:rPr lang="en-US" sz="1800" dirty="0" err="1">
                <a:effectLst/>
              </a:rPr>
              <a:t>временные</a:t>
            </a:r>
            <a:r>
              <a:rPr lang="en-US" sz="1800" dirty="0">
                <a:effectLst/>
              </a:rPr>
              <a:t> </a:t>
            </a:r>
            <a:r>
              <a:rPr lang="en-US" sz="1800" dirty="0" err="1">
                <a:effectLst/>
              </a:rPr>
              <a:t>элементы</a:t>
            </a:r>
            <a:r>
              <a:rPr lang="en-US" sz="1800" dirty="0">
                <a:effectLst/>
              </a:rPr>
              <a:t> (</a:t>
            </a:r>
            <a:r>
              <a:rPr lang="en-US" sz="1800" dirty="0" err="1">
                <a:effectLst/>
              </a:rPr>
              <a:t>параметры</a:t>
            </a:r>
            <a:r>
              <a:rPr lang="en-US" sz="1800" dirty="0">
                <a:effectLst/>
              </a:rPr>
              <a:t>)? – </a:t>
            </a:r>
            <a:r>
              <a:rPr lang="en-US" sz="1800" dirty="0" err="1">
                <a:effectLst/>
              </a:rPr>
              <a:t>определить</a:t>
            </a:r>
            <a:r>
              <a:rPr lang="en-US" sz="1800" dirty="0">
                <a:effectLst/>
              </a:rPr>
              <a:t> </a:t>
            </a:r>
            <a:r>
              <a:rPr lang="en-US" sz="1800" dirty="0" err="1">
                <a:effectLst/>
              </a:rPr>
              <a:t>параметры</a:t>
            </a:r>
            <a:r>
              <a:rPr lang="en-US" sz="1800" dirty="0">
                <a:effectLst/>
              </a:rPr>
              <a:t>:</a:t>
            </a:r>
          </a:p>
          <a:p>
            <a:pPr marL="342900" marR="0" lvl="0">
              <a:spcBef>
                <a:spcPts val="0"/>
              </a:spcBef>
              <a:spcAft>
                <a:spcPts val="0"/>
              </a:spcAft>
              <a:tabLst>
                <a:tab pos="457200" algn="l"/>
              </a:tabLst>
            </a:pPr>
            <a:endParaRPr lang="en-US" sz="1800" dirty="0">
              <a:effectLst/>
            </a:endParaRPr>
          </a:p>
          <a:p>
            <a:pPr marL="800100" lvl="1">
              <a:spcBef>
                <a:spcPts val="0"/>
              </a:spcBef>
              <a:buSzPts val="1000"/>
              <a:tabLst>
                <a:tab pos="457200" algn="l"/>
              </a:tabLst>
            </a:pPr>
            <a:r>
              <a:rPr lang="en-US" sz="1800" dirty="0" err="1">
                <a:effectLst/>
              </a:rPr>
              <a:t>периода</a:t>
            </a:r>
            <a:r>
              <a:rPr lang="en-US" sz="1800" dirty="0">
                <a:effectLst/>
              </a:rPr>
              <a:t> </a:t>
            </a:r>
            <a:r>
              <a:rPr lang="en-US" sz="1800" i="1" dirty="0" err="1">
                <a:effectLst/>
              </a:rPr>
              <a:t>прогнозирования</a:t>
            </a:r>
            <a:r>
              <a:rPr lang="en-US" sz="1800" dirty="0">
                <a:effectLst/>
              </a:rPr>
              <a:t>; </a:t>
            </a:r>
          </a:p>
          <a:p>
            <a:pPr marL="800100" lvl="1">
              <a:spcBef>
                <a:spcPts val="0"/>
              </a:spcBef>
              <a:buSzPts val="1000"/>
              <a:tabLst>
                <a:tab pos="457200" algn="l"/>
              </a:tabLst>
            </a:pPr>
            <a:r>
              <a:rPr lang="en-US" sz="1800" dirty="0" err="1">
                <a:effectLst/>
              </a:rPr>
              <a:t>горизонта</a:t>
            </a:r>
            <a:r>
              <a:rPr lang="en-US" sz="1800" dirty="0">
                <a:effectLst/>
              </a:rPr>
              <a:t> </a:t>
            </a:r>
            <a:r>
              <a:rPr lang="en-US" sz="1800" i="1" dirty="0" err="1">
                <a:effectLst/>
              </a:rPr>
              <a:t>прогнозирования</a:t>
            </a:r>
            <a:r>
              <a:rPr lang="en-US" sz="1800" dirty="0">
                <a:effectLst/>
              </a:rPr>
              <a:t>; </a:t>
            </a:r>
            <a:endParaRPr lang="en-US" sz="1800" dirty="0"/>
          </a:p>
          <a:p>
            <a:pPr marL="800100" lvl="1">
              <a:spcBef>
                <a:spcPts val="0"/>
              </a:spcBef>
              <a:buSzPts val="1000"/>
              <a:tabLst>
                <a:tab pos="457200" algn="l"/>
              </a:tabLst>
            </a:pPr>
            <a:r>
              <a:rPr lang="en-US" sz="1800" dirty="0" err="1">
                <a:effectLst/>
              </a:rPr>
              <a:t>интервала</a:t>
            </a:r>
            <a:r>
              <a:rPr lang="en-US" sz="1800" dirty="0">
                <a:effectLst/>
              </a:rPr>
              <a:t> </a:t>
            </a:r>
            <a:r>
              <a:rPr lang="en-US" sz="1800" i="1" dirty="0" err="1">
                <a:effectLst/>
              </a:rPr>
              <a:t>прогнозирования</a:t>
            </a:r>
            <a:endParaRPr lang="en-US" sz="1800" i="1" dirty="0">
              <a:effectLst/>
            </a:endParaRPr>
          </a:p>
          <a:p>
            <a:pPr marL="457200" lvl="1">
              <a:spcBef>
                <a:spcPts val="0"/>
              </a:spcBef>
              <a:buSzPts val="1000"/>
              <a:tabLst>
                <a:tab pos="457200" algn="l"/>
              </a:tabLst>
            </a:pPr>
            <a:endParaRPr lang="en-US" sz="1800" dirty="0"/>
          </a:p>
          <a:p>
            <a:pPr marL="342900" marR="0" lvl="0">
              <a:spcBef>
                <a:spcPts val="0"/>
              </a:spcBef>
              <a:spcAft>
                <a:spcPts val="0"/>
              </a:spcAft>
              <a:tabLst>
                <a:tab pos="457200" algn="l"/>
              </a:tabLst>
            </a:pPr>
            <a:r>
              <a:rPr lang="en-US" sz="1800" dirty="0">
                <a:effectLst/>
              </a:rPr>
              <a:t>С </a:t>
            </a:r>
            <a:r>
              <a:rPr lang="en-US" sz="1800" dirty="0" err="1">
                <a:effectLst/>
              </a:rPr>
              <a:t>какой</a:t>
            </a:r>
            <a:r>
              <a:rPr lang="en-US" sz="1800" dirty="0">
                <a:effectLst/>
              </a:rPr>
              <a:t> </a:t>
            </a:r>
            <a:r>
              <a:rPr lang="en-US" sz="1800" dirty="0" err="1">
                <a:effectLst/>
              </a:rPr>
              <a:t>точностью</a:t>
            </a:r>
            <a:r>
              <a:rPr lang="en-US" sz="1800" dirty="0">
                <a:effectLst/>
              </a:rPr>
              <a:t> </a:t>
            </a:r>
            <a:r>
              <a:rPr lang="en-US" sz="1800" dirty="0" err="1">
                <a:effectLst/>
              </a:rPr>
              <a:t>прогноза</a:t>
            </a:r>
            <a:r>
              <a:rPr lang="en-US" sz="1800" dirty="0">
                <a:effectLst/>
              </a:rPr>
              <a:t> - </a:t>
            </a:r>
            <a:r>
              <a:rPr lang="en-US" sz="1800" b="1" dirty="0" err="1"/>
              <a:t>Точность</a:t>
            </a:r>
            <a:r>
              <a:rPr lang="en-US" sz="1800" b="1" dirty="0"/>
              <a:t> </a:t>
            </a:r>
            <a:r>
              <a:rPr lang="en-US" sz="1800" b="1" dirty="0" err="1"/>
              <a:t>прогноза</a:t>
            </a:r>
            <a:r>
              <a:rPr lang="en-US" sz="1800" dirty="0"/>
              <a:t> </a:t>
            </a:r>
            <a:r>
              <a:rPr lang="en-US" sz="1800" dirty="0" err="1"/>
              <a:t>характеризуется</a:t>
            </a:r>
            <a:r>
              <a:rPr lang="en-US" sz="1800" dirty="0"/>
              <a:t> </a:t>
            </a:r>
            <a:r>
              <a:rPr lang="en-US" sz="1800" dirty="0" err="1"/>
              <a:t>ошибкой</a:t>
            </a:r>
            <a:r>
              <a:rPr lang="en-US" sz="1800" dirty="0"/>
              <a:t> </a:t>
            </a:r>
            <a:r>
              <a:rPr lang="en-US" sz="1800" dirty="0" err="1"/>
              <a:t>прогноза</a:t>
            </a:r>
            <a:endParaRPr lang="en-US" sz="1800" dirty="0"/>
          </a:p>
        </p:txBody>
      </p:sp>
      <p:sp>
        <p:nvSpPr>
          <p:cNvPr id="5" name="TextBox 4">
            <a:extLst>
              <a:ext uri="{FF2B5EF4-FFF2-40B4-BE49-F238E27FC236}">
                <a16:creationId xmlns:a16="http://schemas.microsoft.com/office/drawing/2014/main" id="{2DF23A38-AE56-30E4-D752-DE6A87A6E4DC}"/>
              </a:ext>
            </a:extLst>
          </p:cNvPr>
          <p:cNvSpPr txBox="1"/>
          <p:nvPr/>
        </p:nvSpPr>
        <p:spPr>
          <a:xfrm>
            <a:off x="8451604" y="1412489"/>
            <a:ext cx="2926080" cy="4363844"/>
          </a:xfrm>
          <a:prstGeom prst="rect">
            <a:avLst/>
          </a:prstGeom>
        </p:spPr>
        <p:txBody>
          <a:bodyPr vert="horz" lIns="91440" tIns="45720" rIns="91440" bIns="45720" rtlCol="0">
            <a:normAutofit/>
          </a:bodyPr>
          <a:lstStyle/>
          <a:p>
            <a:pPr marL="0" marR="0" indent="-228600">
              <a:lnSpc>
                <a:spcPct val="90000"/>
              </a:lnSpc>
              <a:spcAft>
                <a:spcPts val="600"/>
              </a:spcAft>
              <a:buFont typeface="Arial" panose="020B0604020202020204" pitchFamily="34" charset="0"/>
              <a:buChar char="•"/>
            </a:pPr>
            <a:r>
              <a:rPr lang="en-US" sz="2000" b="1" i="1">
                <a:effectLst/>
              </a:rPr>
              <a:t>Период прогнозирования</a:t>
            </a:r>
            <a:r>
              <a:rPr lang="en-US" sz="2000">
                <a:effectLst/>
              </a:rPr>
              <a:t> - основная единица времени, на которую делается прогноз. </a:t>
            </a:r>
          </a:p>
          <a:p>
            <a:pPr indent="-228600">
              <a:lnSpc>
                <a:spcPct val="90000"/>
              </a:lnSpc>
              <a:spcAft>
                <a:spcPts val="600"/>
              </a:spcAft>
              <a:buFont typeface="Arial" panose="020B0604020202020204" pitchFamily="34" charset="0"/>
              <a:buChar char="•"/>
            </a:pPr>
            <a:r>
              <a:rPr lang="en-US" sz="2000" b="1" i="1">
                <a:effectLst/>
              </a:rPr>
              <a:t>Горизонт прогнозирования</a:t>
            </a:r>
            <a:r>
              <a:rPr lang="en-US" sz="2000">
                <a:effectLst/>
              </a:rPr>
              <a:t> - это число периодов в будущем, которые покрывает прогноз.</a:t>
            </a:r>
          </a:p>
          <a:p>
            <a:pPr indent="-228600">
              <a:lnSpc>
                <a:spcPct val="90000"/>
              </a:lnSpc>
              <a:spcAft>
                <a:spcPts val="600"/>
              </a:spcAft>
              <a:buFont typeface="Arial" panose="020B0604020202020204" pitchFamily="34" charset="0"/>
              <a:buChar char="•"/>
            </a:pPr>
            <a:r>
              <a:rPr lang="en-US" sz="2000" b="1" i="1">
                <a:effectLst/>
              </a:rPr>
              <a:t>Интервал прогнозирования</a:t>
            </a:r>
            <a:r>
              <a:rPr lang="en-US" sz="2000">
                <a:effectLst/>
              </a:rPr>
              <a:t> - частота, с которой делается новый прогноз. </a:t>
            </a:r>
          </a:p>
          <a:p>
            <a:pPr indent="-228600">
              <a:lnSpc>
                <a:spcPct val="90000"/>
              </a:lnSpc>
              <a:spcAft>
                <a:spcPts val="600"/>
              </a:spcAft>
              <a:buFont typeface="Arial" panose="020B0604020202020204" pitchFamily="34" charset="0"/>
              <a:buChar char="•"/>
            </a:pPr>
            <a:endParaRPr lang="en-US" sz="2000">
              <a:effectLst/>
            </a:endParaRPr>
          </a:p>
          <a:p>
            <a:pPr marL="0" marR="0" indent="-228600">
              <a:lnSpc>
                <a:spcPct val="90000"/>
              </a:lnSpc>
              <a:spcAft>
                <a:spcPts val="600"/>
              </a:spcAft>
              <a:buFont typeface="Arial" panose="020B0604020202020204" pitchFamily="34" charset="0"/>
              <a:buChar char="•"/>
            </a:pPr>
            <a:endParaRPr lang="en-US" sz="2000">
              <a:effectLst/>
            </a:endParaRPr>
          </a:p>
        </p:txBody>
      </p:sp>
    </p:spTree>
    <p:extLst>
      <p:ext uri="{BB962C8B-B14F-4D97-AF65-F5344CB8AC3E}">
        <p14:creationId xmlns:p14="http://schemas.microsoft.com/office/powerpoint/2010/main" val="1198817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ABF865-7233-7298-2411-01D92146412C}"/>
              </a:ext>
            </a:extLst>
          </p:cNvPr>
          <p:cNvSpPr>
            <a:spLocks noGrp="1"/>
          </p:cNvSpPr>
          <p:nvPr>
            <p:ph type="title"/>
          </p:nvPr>
        </p:nvSpPr>
        <p:spPr>
          <a:xfrm>
            <a:off x="808638" y="386930"/>
            <a:ext cx="9236700" cy="1188950"/>
          </a:xfrm>
        </p:spPr>
        <p:txBody>
          <a:bodyPr anchor="b">
            <a:normAutofit/>
          </a:bodyPr>
          <a:lstStyle/>
          <a:p>
            <a:r>
              <a:rPr lang="ru-RU" sz="5400"/>
              <a:t>Ошибка прогноза</a:t>
            </a:r>
            <a:endParaRPr lang="LID4096" sz="5400"/>
          </a:p>
        </p:txBody>
      </p:sp>
      <p:grpSp>
        <p:nvGrpSpPr>
          <p:cNvPr id="22" name="Group 21">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5" name="Rectangle 24">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D554788-816B-FADB-B726-EE64BFA09FBA}"/>
              </a:ext>
            </a:extLst>
          </p:cNvPr>
          <p:cNvSpPr>
            <a:spLocks noGrp="1"/>
          </p:cNvSpPr>
          <p:nvPr>
            <p:ph idx="1"/>
          </p:nvPr>
        </p:nvSpPr>
        <p:spPr>
          <a:xfrm>
            <a:off x="793660" y="2599509"/>
            <a:ext cx="10143668" cy="3435531"/>
          </a:xfrm>
        </p:spPr>
        <p:txBody>
          <a:bodyPr anchor="ctr">
            <a:normAutofit/>
          </a:bodyPr>
          <a:lstStyle/>
          <a:p>
            <a:pPr marL="342900" marR="0" lvl="0" indent="-342900">
              <a:spcBef>
                <a:spcPts val="0"/>
              </a:spcBef>
              <a:spcAft>
                <a:spcPts val="0"/>
              </a:spcAft>
              <a:buSzPts val="1000"/>
              <a:buFont typeface="Symbol" panose="05050102010706020507" pitchFamily="18" charset="2"/>
              <a:buChar char=""/>
              <a:tabLst>
                <a:tab pos="457200" algn="l"/>
              </a:tabLst>
            </a:pPr>
            <a:r>
              <a:rPr lang="ru-RU" sz="1700" b="1">
                <a:effectLst/>
                <a:latin typeface="Verdana" panose="020B0604030504040204" pitchFamily="34" charset="0"/>
                <a:ea typeface="Times New Roman" panose="02020603050405020304" pitchFamily="18" charset="0"/>
              </a:rPr>
              <a:t>Средняя ошибка (СО).</a:t>
            </a:r>
            <a:r>
              <a:rPr lang="ru-RU" sz="1700">
                <a:effectLst/>
                <a:latin typeface="Verdana" panose="020B0604030504040204" pitchFamily="34" charset="0"/>
                <a:ea typeface="Times New Roman" panose="02020603050405020304" pitchFamily="18" charset="0"/>
              </a:rPr>
              <a:t> Она вычисляется простым усреднением ошибок на каждом шаге. Недостаток этого вида ошибки - положительные и отрицательные ошибки аннулируют друг друга. </a:t>
            </a:r>
            <a:endParaRPr lang="ru-RU" sz="170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700" b="1">
                <a:effectLst/>
                <a:latin typeface="Verdana" panose="020B0604030504040204" pitchFamily="34" charset="0"/>
                <a:ea typeface="Times New Roman" panose="02020603050405020304" pitchFamily="18" charset="0"/>
              </a:rPr>
              <a:t>Средняя абсолютная ошибка (САО)</a:t>
            </a:r>
            <a:r>
              <a:rPr lang="ru-RU" sz="1700">
                <a:effectLst/>
                <a:latin typeface="Verdana" panose="020B0604030504040204" pitchFamily="34" charset="0"/>
                <a:ea typeface="Times New Roman" panose="02020603050405020304" pitchFamily="18" charset="0"/>
              </a:rPr>
              <a:t>. Она рассчитывается как среднее абсолютных ошибок. Если она равна нулю, то мы имеем совершенный прогноз. В сравнении со средней квадратической ошибкой, эта мера "не придает слишком большого значения" выбросам. </a:t>
            </a:r>
            <a:endParaRPr lang="ru-RU" sz="170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700" b="1">
                <a:effectLst/>
                <a:latin typeface="Verdana" panose="020B0604030504040204" pitchFamily="34" charset="0"/>
                <a:ea typeface="Times New Roman" panose="02020603050405020304" pitchFamily="18" charset="0"/>
              </a:rPr>
              <a:t>Сумма квадратов ошибок (SSE)</a:t>
            </a:r>
            <a:r>
              <a:rPr lang="ru-RU" sz="1700">
                <a:effectLst/>
                <a:latin typeface="Verdana" panose="020B0604030504040204" pitchFamily="34" charset="0"/>
                <a:ea typeface="Times New Roman" panose="02020603050405020304" pitchFamily="18" charset="0"/>
              </a:rPr>
              <a:t>, среднеквадратическая ошибка. Она вычисляется как сумма (или среднее) квадратов ошибок. Это наиболее часто используемая оценка точности прогноза. </a:t>
            </a:r>
            <a:endParaRPr lang="ru-RU" sz="170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ru-RU" sz="1700" b="1">
                <a:effectLst/>
                <a:latin typeface="Verdana" panose="020B0604030504040204" pitchFamily="34" charset="0"/>
                <a:ea typeface="Times New Roman" panose="02020603050405020304" pitchFamily="18" charset="0"/>
              </a:rPr>
              <a:t>Относительная ошибка (ОО).</a:t>
            </a:r>
            <a:r>
              <a:rPr lang="ru-RU" sz="1700">
                <a:effectLst/>
                <a:latin typeface="Verdana" panose="020B0604030504040204" pitchFamily="34" charset="0"/>
                <a:ea typeface="Times New Roman" panose="02020603050405020304" pitchFamily="18" charset="0"/>
              </a:rPr>
              <a:t> Предыдущие меры использовали действительные значения ошибок. Относительная ошибка выражает качество подгонки в терминах относительных ошибок. </a:t>
            </a:r>
            <a:endParaRPr lang="ru-RU" sz="1700">
              <a:effectLst/>
              <a:latin typeface="Times New Roman" panose="02020603050405020304" pitchFamily="18" charset="0"/>
              <a:ea typeface="Times New Roman" panose="02020603050405020304" pitchFamily="18" charset="0"/>
            </a:endParaRPr>
          </a:p>
          <a:p>
            <a:pPr marL="0" indent="0">
              <a:buNone/>
            </a:pPr>
            <a:endParaRPr lang="LID4096" sz="1700"/>
          </a:p>
        </p:txBody>
      </p:sp>
      <p:pic>
        <p:nvPicPr>
          <p:cNvPr id="6" name="Picture 5">
            <a:extLst>
              <a:ext uri="{FF2B5EF4-FFF2-40B4-BE49-F238E27FC236}">
                <a16:creationId xmlns:a16="http://schemas.microsoft.com/office/drawing/2014/main" id="{D7375863-24CA-D4A6-0FFE-E40F94A7D1CC}"/>
              </a:ext>
            </a:extLst>
          </p:cNvPr>
          <p:cNvPicPr>
            <a:picLocks noChangeAspect="1"/>
          </p:cNvPicPr>
          <p:nvPr/>
        </p:nvPicPr>
        <p:blipFill>
          <a:blip r:embed="rId3"/>
          <a:stretch>
            <a:fillRect/>
          </a:stretch>
        </p:blipFill>
        <p:spPr>
          <a:xfrm>
            <a:off x="8530831" y="90906"/>
            <a:ext cx="2323146" cy="1856757"/>
          </a:xfrm>
          <a:prstGeom prst="rect">
            <a:avLst/>
          </a:prstGeom>
        </p:spPr>
      </p:pic>
    </p:spTree>
    <p:extLst>
      <p:ext uri="{BB962C8B-B14F-4D97-AF65-F5344CB8AC3E}">
        <p14:creationId xmlns:p14="http://schemas.microsoft.com/office/powerpoint/2010/main" val="4060014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C7CFDA-4557-8B9C-BF0A-47AFD38A1B65}"/>
              </a:ext>
            </a:extLst>
          </p:cNvPr>
          <p:cNvSpPr>
            <a:spLocks noGrp="1"/>
          </p:cNvSpPr>
          <p:nvPr>
            <p:ph type="title"/>
          </p:nvPr>
        </p:nvSpPr>
        <p:spPr>
          <a:xfrm>
            <a:off x="7239014" y="525982"/>
            <a:ext cx="4282983" cy="1200361"/>
          </a:xfrm>
        </p:spPr>
        <p:txBody>
          <a:bodyPr anchor="b">
            <a:normAutofit/>
          </a:bodyPr>
          <a:lstStyle/>
          <a:p>
            <a:r>
              <a:rPr lang="ru-RU" sz="3600"/>
              <a:t>Виды прогнозов</a:t>
            </a:r>
            <a:endParaRPr lang="LID4096" sz="3600"/>
          </a:p>
        </p:txBody>
      </p:sp>
      <p:sp>
        <p:nvSpPr>
          <p:cNvPr id="23" name="Rectangle 22">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artoon of people pointing at a graph&#10;&#10;Description automatically generated">
            <a:extLst>
              <a:ext uri="{FF2B5EF4-FFF2-40B4-BE49-F238E27FC236}">
                <a16:creationId xmlns:a16="http://schemas.microsoft.com/office/drawing/2014/main" id="{E9351597-BFDC-92E2-F0BE-B32AC18F4CDE}"/>
              </a:ext>
            </a:extLst>
          </p:cNvPr>
          <p:cNvPicPr>
            <a:picLocks noChangeAspect="1"/>
          </p:cNvPicPr>
          <p:nvPr/>
        </p:nvPicPr>
        <p:blipFill>
          <a:blip r:embed="rId3"/>
          <a:stretch>
            <a:fillRect/>
          </a:stretch>
        </p:blipFill>
        <p:spPr>
          <a:xfrm>
            <a:off x="576244" y="1511600"/>
            <a:ext cx="5628018" cy="3601930"/>
          </a:xfrm>
          <a:prstGeom prst="rect">
            <a:avLst/>
          </a:prstGeom>
        </p:spPr>
      </p:pic>
      <p:sp>
        <p:nvSpPr>
          <p:cNvPr id="15" name="Rectangle 14">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F9EB267-D787-E584-7A01-EFD0F1E923F3}"/>
              </a:ext>
            </a:extLst>
          </p:cNvPr>
          <p:cNvSpPr>
            <a:spLocks noGrp="1"/>
          </p:cNvSpPr>
          <p:nvPr>
            <p:ph idx="1"/>
          </p:nvPr>
        </p:nvSpPr>
        <p:spPr>
          <a:xfrm>
            <a:off x="7239012" y="2031101"/>
            <a:ext cx="4282984" cy="3511943"/>
          </a:xfrm>
        </p:spPr>
        <p:txBody>
          <a:bodyPr anchor="ctr">
            <a:normAutofit/>
          </a:bodyPr>
          <a:lstStyle/>
          <a:p>
            <a:pPr marL="0" marR="0"/>
            <a:r>
              <a:rPr lang="ru-RU" sz="1400">
                <a:effectLst/>
                <a:latin typeface="Verdana" panose="020B0604030504040204" pitchFamily="34" charset="0"/>
                <a:ea typeface="Times New Roman" panose="02020603050405020304" pitchFamily="18" charset="0"/>
                <a:cs typeface="Times New Roman" panose="02020603050405020304" pitchFamily="18" charset="0"/>
              </a:rPr>
              <a:t>К</a:t>
            </a:r>
            <a:r>
              <a:rPr lang="ru-RU" sz="1400" b="1">
                <a:effectLst/>
                <a:latin typeface="Verdana" panose="020B0604030504040204" pitchFamily="34" charset="0"/>
                <a:ea typeface="Times New Roman" panose="02020603050405020304" pitchFamily="18" charset="0"/>
                <a:cs typeface="Times New Roman" panose="02020603050405020304" pitchFamily="18" charset="0"/>
              </a:rPr>
              <a:t>раткосрочный прогноз</a:t>
            </a:r>
            <a:r>
              <a:rPr lang="ru-RU" sz="1400">
                <a:effectLst/>
                <a:latin typeface="Verdana" panose="020B0604030504040204" pitchFamily="34" charset="0"/>
                <a:ea typeface="Times New Roman" panose="02020603050405020304" pitchFamily="18" charset="0"/>
                <a:cs typeface="Times New Roman" panose="02020603050405020304" pitchFamily="18" charset="0"/>
              </a:rPr>
              <a:t> представляет собой прогноз на несколько шагов вперед, т.е. осуществляется построение прогноза не более чем на 3% от объема наблюдений или на 1-3 шага вперед. </a:t>
            </a:r>
          </a:p>
          <a:p>
            <a:pPr marL="0" marR="0"/>
            <a:r>
              <a:rPr lang="ru-RU" sz="1400" b="1">
                <a:effectLst/>
                <a:latin typeface="Verdana" panose="020B0604030504040204" pitchFamily="34" charset="0"/>
                <a:ea typeface="Times New Roman" panose="02020603050405020304" pitchFamily="18" charset="0"/>
                <a:cs typeface="Times New Roman" panose="02020603050405020304" pitchFamily="18" charset="0"/>
              </a:rPr>
              <a:t>Среднесрочный прогноз</a:t>
            </a:r>
            <a:r>
              <a:rPr lang="ru-RU" sz="1400">
                <a:effectLst/>
                <a:latin typeface="Verdana" panose="020B0604030504040204" pitchFamily="34" charset="0"/>
                <a:ea typeface="Times New Roman" panose="02020603050405020304" pitchFamily="18" charset="0"/>
                <a:cs typeface="Times New Roman" panose="02020603050405020304" pitchFamily="18" charset="0"/>
              </a:rPr>
              <a:t> - это прогноз на 3-5% от объема наблюдений, но не более 7-12 шагов вперед; также под этим типом прогноза понимают прогноз на один или половину сезонного цикла. Для построения краткосрочных и среднесрочных прогнозов вполне подходят статистические методы.</a:t>
            </a:r>
          </a:p>
          <a:p>
            <a:pPr marL="0" marR="0"/>
            <a:r>
              <a:rPr lang="ru-RU" sz="1400" b="1">
                <a:effectLst/>
                <a:latin typeface="Verdana" panose="020B0604030504040204" pitchFamily="34" charset="0"/>
                <a:ea typeface="Times New Roman" panose="02020603050405020304" pitchFamily="18" charset="0"/>
                <a:cs typeface="Times New Roman" panose="02020603050405020304" pitchFamily="18" charset="0"/>
              </a:rPr>
              <a:t>Долгосрочный прогноз</a:t>
            </a:r>
            <a:r>
              <a:rPr lang="ru-RU" sz="1400">
                <a:effectLst/>
                <a:latin typeface="Verdana" panose="020B0604030504040204" pitchFamily="34" charset="0"/>
                <a:ea typeface="Times New Roman" panose="02020603050405020304" pitchFamily="18" charset="0"/>
                <a:cs typeface="Times New Roman" panose="02020603050405020304" pitchFamily="18" charset="0"/>
              </a:rPr>
              <a:t> - это прогноз более чем на 5% от объема наблюдений.</a:t>
            </a:r>
          </a:p>
          <a:p>
            <a:pPr marL="0" indent="0">
              <a:buNone/>
            </a:pPr>
            <a:endParaRPr lang="LID4096" sz="1400"/>
          </a:p>
        </p:txBody>
      </p:sp>
      <p:sp>
        <p:nvSpPr>
          <p:cNvPr id="17" name="Rectangle 16">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682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825DC6-14E4-2F4B-DA7D-92A662F5B79E}"/>
              </a:ext>
            </a:extLst>
          </p:cNvPr>
          <p:cNvSpPr>
            <a:spLocks noGrp="1"/>
          </p:cNvSpPr>
          <p:nvPr>
            <p:ph type="title"/>
          </p:nvPr>
        </p:nvSpPr>
        <p:spPr>
          <a:xfrm>
            <a:off x="793662" y="386930"/>
            <a:ext cx="10066122" cy="1298448"/>
          </a:xfrm>
        </p:spPr>
        <p:txBody>
          <a:bodyPr anchor="b">
            <a:normAutofit/>
          </a:bodyPr>
          <a:lstStyle/>
          <a:p>
            <a:r>
              <a:rPr lang="ru-RU" sz="4800" dirty="0"/>
              <a:t>Методы прогнозирования</a:t>
            </a:r>
            <a:endParaRPr lang="LID4096" sz="4800" dirty="0"/>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651153E-278C-B483-1897-FB93AEB8E347}"/>
              </a:ext>
            </a:extLst>
          </p:cNvPr>
          <p:cNvSpPr>
            <a:spLocks noGrp="1"/>
          </p:cNvSpPr>
          <p:nvPr>
            <p:ph idx="1"/>
          </p:nvPr>
        </p:nvSpPr>
        <p:spPr>
          <a:xfrm>
            <a:off x="793661" y="2599509"/>
            <a:ext cx="4530898" cy="3639450"/>
          </a:xfrm>
        </p:spPr>
        <p:txBody>
          <a:bodyPr anchor="ctr">
            <a:normAutofit/>
          </a:bodyPr>
          <a:lstStyle/>
          <a:p>
            <a:pPr marL="0" indent="0">
              <a:buNone/>
            </a:pPr>
            <a:r>
              <a:rPr lang="ru-RU" sz="2000" dirty="0">
                <a:effectLst/>
                <a:latin typeface="Verdana" panose="020B0604030504040204" pitchFamily="34" charset="0"/>
                <a:ea typeface="Times New Roman" panose="02020603050405020304" pitchFamily="18" charset="0"/>
                <a:cs typeface="Times New Roman" panose="02020603050405020304" pitchFamily="18" charset="0"/>
              </a:rPr>
              <a:t>Самые распространенные методы Data Mining, используемые для </a:t>
            </a:r>
            <a:r>
              <a:rPr lang="ru-RU" sz="2000" i="1" dirty="0">
                <a:effectLst/>
                <a:latin typeface="Verdana" panose="020B0604030504040204" pitchFamily="34" charset="0"/>
                <a:ea typeface="Times New Roman" panose="02020603050405020304" pitchFamily="18" charset="0"/>
                <a:cs typeface="Times New Roman" panose="02020603050405020304" pitchFamily="18" charset="0"/>
              </a:rPr>
              <a:t>прогнозирования:</a:t>
            </a:r>
          </a:p>
          <a:p>
            <a:pPr marL="0" indent="0">
              <a:buNone/>
            </a:pPr>
            <a:endParaRPr lang="ru-RU" sz="2000" i="1" dirty="0">
              <a:effectLst/>
              <a:latin typeface="Verdana" panose="020B0604030504040204" pitchFamily="34" charset="0"/>
              <a:ea typeface="Times New Roman" panose="02020603050405020304" pitchFamily="18" charset="0"/>
              <a:cs typeface="Times New Roman" panose="02020603050405020304" pitchFamily="18" charset="0"/>
            </a:endParaRPr>
          </a:p>
          <a:p>
            <a:r>
              <a:rPr lang="ru-RU" sz="2000" dirty="0">
                <a:effectLst/>
                <a:latin typeface="Verdana" panose="020B0604030504040204" pitchFamily="34" charset="0"/>
                <a:ea typeface="Times New Roman" panose="02020603050405020304" pitchFamily="18" charset="0"/>
                <a:cs typeface="Times New Roman" panose="02020603050405020304" pitchFamily="18" charset="0"/>
              </a:rPr>
              <a:t>нейронные сети и </a:t>
            </a:r>
          </a:p>
          <a:p>
            <a:r>
              <a:rPr lang="ru-RU" sz="2000" dirty="0">
                <a:effectLst/>
                <a:latin typeface="Verdana" panose="020B0604030504040204" pitchFamily="34" charset="0"/>
                <a:ea typeface="Times New Roman" panose="02020603050405020304" pitchFamily="18" charset="0"/>
                <a:cs typeface="Times New Roman" panose="02020603050405020304" pitchFamily="18" charset="0"/>
              </a:rPr>
              <a:t>линейная регрессия</a:t>
            </a:r>
            <a:endParaRPr lang="LID4096" sz="2000" dirty="0"/>
          </a:p>
        </p:txBody>
      </p:sp>
      <p:pic>
        <p:nvPicPr>
          <p:cNvPr id="4" name="Picture 3">
            <a:extLst>
              <a:ext uri="{FF2B5EF4-FFF2-40B4-BE49-F238E27FC236}">
                <a16:creationId xmlns:a16="http://schemas.microsoft.com/office/drawing/2014/main" id="{F2D793E9-62F8-444C-56BC-734E2852D161}"/>
              </a:ext>
            </a:extLst>
          </p:cNvPr>
          <p:cNvPicPr>
            <a:picLocks noChangeAspect="1"/>
          </p:cNvPicPr>
          <p:nvPr/>
        </p:nvPicPr>
        <p:blipFill rotWithShape="1">
          <a:blip r:embed="rId3"/>
          <a:srcRect l="27246" r="9878" b="1"/>
          <a:stretch/>
        </p:blipFill>
        <p:spPr>
          <a:xfrm>
            <a:off x="5911532" y="2484255"/>
            <a:ext cx="5150277" cy="3714244"/>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76307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E84B64-B11B-8893-A227-0523A2F912CF}"/>
              </a:ext>
            </a:extLst>
          </p:cNvPr>
          <p:cNvSpPr>
            <a:spLocks noGrp="1"/>
          </p:cNvSpPr>
          <p:nvPr>
            <p:ph type="title"/>
          </p:nvPr>
        </p:nvSpPr>
        <p:spPr>
          <a:xfrm>
            <a:off x="589560" y="856180"/>
            <a:ext cx="4560584" cy="1128068"/>
          </a:xfrm>
        </p:spPr>
        <p:txBody>
          <a:bodyPr anchor="ctr">
            <a:normAutofit/>
          </a:bodyPr>
          <a:lstStyle/>
          <a:p>
            <a:r>
              <a:rPr lang="ru-RU" sz="3700" b="1">
                <a:effectLst/>
                <a:latin typeface="Verdana" panose="020B0604030504040204" pitchFamily="34" charset="0"/>
              </a:rPr>
              <a:t>Задача визуализации</a:t>
            </a:r>
            <a:endParaRPr lang="LID4096" sz="3700"/>
          </a:p>
        </p:txBody>
      </p:sp>
      <p:grpSp>
        <p:nvGrpSpPr>
          <p:cNvPr id="11" name="Group 1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E29FDE8-E00C-31EB-C7FB-A7992C291BA8}"/>
              </a:ext>
            </a:extLst>
          </p:cNvPr>
          <p:cNvSpPr>
            <a:spLocks noGrp="1"/>
          </p:cNvSpPr>
          <p:nvPr>
            <p:ph idx="1"/>
          </p:nvPr>
        </p:nvSpPr>
        <p:spPr>
          <a:xfrm>
            <a:off x="590719" y="2330505"/>
            <a:ext cx="4559425" cy="3979585"/>
          </a:xfrm>
        </p:spPr>
        <p:txBody>
          <a:bodyPr anchor="ctr">
            <a:normAutofit/>
          </a:bodyPr>
          <a:lstStyle/>
          <a:p>
            <a:pPr marL="0" indent="0">
              <a:buNone/>
            </a:pPr>
            <a:r>
              <a:rPr lang="ru-RU" sz="1400" b="1" i="1">
                <a:effectLst/>
                <a:latin typeface="Verdana" panose="020B0604030504040204" pitchFamily="34" charset="0"/>
                <a:ea typeface="Verdana" panose="020B0604030504040204" pitchFamily="34" charset="0"/>
                <a:cs typeface="Times New Roman" panose="02020603050405020304" pitchFamily="18" charset="0"/>
              </a:rPr>
              <a:t>Визуализация</a:t>
            </a:r>
            <a:r>
              <a:rPr lang="ru-RU" sz="1400">
                <a:effectLst/>
                <a:latin typeface="Verdana" panose="020B0604030504040204" pitchFamily="34" charset="0"/>
                <a:ea typeface="Verdana" panose="020B0604030504040204" pitchFamily="34" charset="0"/>
                <a:cs typeface="Times New Roman" panose="02020603050405020304" pitchFamily="18" charset="0"/>
              </a:rPr>
              <a:t> - это инструментарий, который позволяет увидеть конечный результат вычислений, организовать управление вычислительным процессом и даже вернуться назад к исходным данным, чтобы определить наиболее рациональное направление дальнейшего движения. </a:t>
            </a:r>
          </a:p>
          <a:p>
            <a:pPr marL="0" marR="0" indent="0">
              <a:buNone/>
            </a:pPr>
            <a:endParaRPr lang="ru-RU" sz="1400">
              <a:effectLst/>
              <a:latin typeface="Verdana" panose="020B0604030504040204" pitchFamily="34" charset="0"/>
              <a:ea typeface="Verdana" panose="020B0604030504040204" pitchFamily="34" charset="0"/>
              <a:cs typeface="Times New Roman" panose="02020603050405020304" pitchFamily="18" charset="0"/>
            </a:endParaRPr>
          </a:p>
          <a:p>
            <a:pPr marL="0" marR="0" indent="0">
              <a:buNone/>
            </a:pPr>
            <a:r>
              <a:rPr lang="ru-RU" sz="1400">
                <a:effectLst/>
                <a:latin typeface="Verdana" panose="020B0604030504040204" pitchFamily="34" charset="0"/>
                <a:ea typeface="Verdana" panose="020B0604030504040204" pitchFamily="34" charset="0"/>
                <a:cs typeface="Times New Roman" panose="02020603050405020304" pitchFamily="18" charset="0"/>
              </a:rPr>
              <a:t>Возможности </a:t>
            </a:r>
            <a:r>
              <a:rPr lang="ru-RU" sz="1400" i="1">
                <a:effectLst/>
                <a:latin typeface="Verdana" panose="020B0604030504040204" pitchFamily="34" charset="0"/>
                <a:ea typeface="Verdana" panose="020B0604030504040204" pitchFamily="34" charset="0"/>
                <a:cs typeface="Times New Roman" panose="02020603050405020304" pitchFamily="18" charset="0"/>
              </a:rPr>
              <a:t>визуализации</a:t>
            </a:r>
            <a:r>
              <a:rPr lang="ru-RU" sz="1400">
                <a:effectLst/>
                <a:latin typeface="Verdana" panose="020B0604030504040204" pitchFamily="34" charset="0"/>
                <a:ea typeface="Verdana" panose="020B0604030504040204" pitchFamily="34" charset="0"/>
                <a:cs typeface="Times New Roman" panose="02020603050405020304" pitchFamily="18" charset="0"/>
              </a:rPr>
              <a:t>:</a:t>
            </a:r>
          </a:p>
          <a:p>
            <a:pPr marL="342900" marR="0" lvl="0" indent="-342900">
              <a:spcBef>
                <a:spcPts val="0"/>
              </a:spcBef>
              <a:spcAft>
                <a:spcPts val="0"/>
              </a:spcAft>
              <a:buSzPts val="1000"/>
              <a:buFont typeface="Symbol" panose="05050102010706020507" pitchFamily="18" charset="2"/>
              <a:buChar char=""/>
              <a:tabLst>
                <a:tab pos="457200" algn="l"/>
              </a:tabLst>
            </a:pPr>
            <a:r>
              <a:rPr lang="ru-RU" sz="1400">
                <a:effectLst/>
                <a:latin typeface="Verdana" panose="020B0604030504040204" pitchFamily="34" charset="0"/>
                <a:ea typeface="Verdana" panose="020B0604030504040204" pitchFamily="34" charset="0"/>
              </a:rPr>
              <a:t>поддержка интерактивного и согласованного исследования; </a:t>
            </a:r>
          </a:p>
          <a:p>
            <a:pPr marL="342900" marR="0" lvl="0" indent="-342900">
              <a:spcBef>
                <a:spcPts val="0"/>
              </a:spcBef>
              <a:spcAft>
                <a:spcPts val="0"/>
              </a:spcAft>
              <a:buSzPts val="1000"/>
              <a:buFont typeface="Symbol" panose="05050102010706020507" pitchFamily="18" charset="2"/>
              <a:buChar char=""/>
              <a:tabLst>
                <a:tab pos="457200" algn="l"/>
              </a:tabLst>
            </a:pPr>
            <a:r>
              <a:rPr lang="ru-RU" sz="1400">
                <a:effectLst/>
                <a:latin typeface="Verdana" panose="020B0604030504040204" pitchFamily="34" charset="0"/>
                <a:ea typeface="Verdana" panose="020B0604030504040204" pitchFamily="34" charset="0"/>
              </a:rPr>
              <a:t>помощь в представлении результатов; </a:t>
            </a:r>
          </a:p>
          <a:p>
            <a:pPr marL="342900" marR="0" lvl="0" indent="-342900">
              <a:spcBef>
                <a:spcPts val="0"/>
              </a:spcBef>
              <a:spcAft>
                <a:spcPts val="0"/>
              </a:spcAft>
              <a:buSzPts val="1000"/>
              <a:buFont typeface="Symbol" panose="05050102010706020507" pitchFamily="18" charset="2"/>
              <a:buChar char=""/>
              <a:tabLst>
                <a:tab pos="457200" algn="l"/>
              </a:tabLst>
            </a:pPr>
            <a:r>
              <a:rPr lang="ru-RU" sz="1400">
                <a:effectLst/>
                <a:latin typeface="Verdana" panose="020B0604030504040204" pitchFamily="34" charset="0"/>
                <a:ea typeface="Verdana" panose="020B0604030504040204" pitchFamily="34" charset="0"/>
              </a:rPr>
              <a:t>использование глаз (зрения), чтобы создавать зрительные образы и осмысливать их.</a:t>
            </a:r>
          </a:p>
          <a:p>
            <a:pPr marL="0" indent="0">
              <a:buNone/>
            </a:pPr>
            <a:endParaRPr lang="LID4096" sz="1400"/>
          </a:p>
        </p:txBody>
      </p:sp>
      <p:sp>
        <p:nvSpPr>
          <p:cNvPr id="17" name="Rectangle 1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10;&#10;Description automatically generated">
            <a:extLst>
              <a:ext uri="{FF2B5EF4-FFF2-40B4-BE49-F238E27FC236}">
                <a16:creationId xmlns:a16="http://schemas.microsoft.com/office/drawing/2014/main" id="{35BE70B9-DABC-771F-C14E-84066AD8E084}"/>
              </a:ext>
            </a:extLst>
          </p:cNvPr>
          <p:cNvPicPr>
            <a:picLocks noChangeAspect="1"/>
          </p:cNvPicPr>
          <p:nvPr/>
        </p:nvPicPr>
        <p:blipFill rotWithShape="1">
          <a:blip r:embed="rId3"/>
          <a:srcRect l="17474" r="-2" b="-2"/>
          <a:stretch/>
        </p:blipFill>
        <p:spPr>
          <a:xfrm>
            <a:off x="5977788" y="799352"/>
            <a:ext cx="5425410" cy="5259296"/>
          </a:xfrm>
          <a:prstGeom prst="rect">
            <a:avLst/>
          </a:prstGeom>
        </p:spPr>
      </p:pic>
    </p:spTree>
    <p:extLst>
      <p:ext uri="{BB962C8B-B14F-4D97-AF65-F5344CB8AC3E}">
        <p14:creationId xmlns:p14="http://schemas.microsoft.com/office/powerpoint/2010/main" val="12189587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7E70FC5-1855-47AB-8CE1-CB3C873A8988}">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560E646-30AD-4BA0-97EA-A7A07DF549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0CB38EC-895A-4F8F-8F75-E263501ABB5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0</TotalTime>
  <Words>3976</Words>
  <Application>Microsoft Office PowerPoint</Application>
  <PresentationFormat>Widescreen</PresentationFormat>
  <Paragraphs>262</Paragraphs>
  <Slides>19</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Calibri</vt:lpstr>
      <vt:lpstr>Calibri Light</vt:lpstr>
      <vt:lpstr>Courier New</vt:lpstr>
      <vt:lpstr>Lora</vt:lpstr>
      <vt:lpstr>Symbol</vt:lpstr>
      <vt:lpstr>Times New Roman</vt:lpstr>
      <vt:lpstr>Verdana</vt:lpstr>
      <vt:lpstr>Office Theme</vt:lpstr>
      <vt:lpstr>Интеллектуальный анализ данных  Data Mining</vt:lpstr>
      <vt:lpstr>PowerPoint Presentation</vt:lpstr>
      <vt:lpstr>Задачи Data Mining. Кластеризация</vt:lpstr>
      <vt:lpstr>Задача кластеризации</vt:lpstr>
      <vt:lpstr>Сравнение задач классификации и кластеризации</vt:lpstr>
      <vt:lpstr>Задача кластеризации</vt:lpstr>
      <vt:lpstr>Пример решения задачи кластеризации</vt:lpstr>
      <vt:lpstr>Методы решения задачи кластеризации</vt:lpstr>
      <vt:lpstr>Процесс кластеризации</vt:lpstr>
      <vt:lpstr>Оценка качества кластеризации</vt:lpstr>
      <vt:lpstr>Задача прогнозирования</vt:lpstr>
      <vt:lpstr>Сравнение задач прогнозирования и классификации</vt:lpstr>
      <vt:lpstr>Прогнозирование и временные ряды</vt:lpstr>
      <vt:lpstr>Тренд, сезонность и цикл</vt:lpstr>
      <vt:lpstr>Процесс прогнозирования</vt:lpstr>
      <vt:lpstr>Ошибка прогноза</vt:lpstr>
      <vt:lpstr>Виды прогнозов</vt:lpstr>
      <vt:lpstr>Методы прогнозирования</vt:lpstr>
      <vt:lpstr>Задача визуализации</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Lorem Ipsum</dc:title>
  <dc:creator>Petrushina Tatiana</dc:creator>
  <cp:lastModifiedBy>Petrushina Tatiana</cp:lastModifiedBy>
  <cp:revision>51</cp:revision>
  <dcterms:created xsi:type="dcterms:W3CDTF">2024-02-25T14:48:52Z</dcterms:created>
  <dcterms:modified xsi:type="dcterms:W3CDTF">2025-04-23T05:45:05Z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